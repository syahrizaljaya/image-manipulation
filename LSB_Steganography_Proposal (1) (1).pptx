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7" name="Google Shape;88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7" name="Google Shape;9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32688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591056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2249424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2907792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3566160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224528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882896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541264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199632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858000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516368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174736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8833104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74320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932688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1591056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2249424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2907792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3566160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4224528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4882896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541264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199632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858000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516368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8174736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8833104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274320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932688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1591056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2249424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2907792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3566160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224528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4882896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5541264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199632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858000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7516368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8174736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833104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274320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932688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591056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249424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2907792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566160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224528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882896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541264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199632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858000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7516368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8174736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833104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274320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932688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591056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249424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2907792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566160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224528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882896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541264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199632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858000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7516368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8174736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833104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74320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932688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1591056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2249424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2907792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3566160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224528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882896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541264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199632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858000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7516368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8174736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8833104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40080" y="731520"/>
            <a:ext cx="7863840" cy="3840480"/>
          </a:xfrm>
          <a:prstGeom prst="rect">
            <a:avLst/>
          </a:prstGeom>
          <a:solidFill>
            <a:srgbClr val="0F2840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RESEARCH PROPOSAL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914400" y="1234440"/>
            <a:ext cx="7315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of Digital Image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Steganography Using the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Least Significant Bit (LSB) Method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200400" y="2971800"/>
            <a:ext cx="2743200" cy="36576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For Python-Based Secret Message Hiding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914400" y="35204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Department of Informatics / Computer Science  ·  [Author Name]  ·  [Institution]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14400" y="38221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[City], [Year]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Outline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12–20 Minute Academic Proposal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11480" y="1234440"/>
            <a:ext cx="4114800" cy="7772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11480" y="1234440"/>
            <a:ext cx="411480" cy="77724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29768" y="1435608"/>
            <a:ext cx="3749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914400" y="128930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Background &amp; Motivation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14400" y="16002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Why steganography? Why LSB?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800600" y="1234440"/>
            <a:ext cx="4114800" cy="7772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800600" y="1234440"/>
            <a:ext cx="41148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4818888" y="1435608"/>
            <a:ext cx="3749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303520" y="128930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Problem Statement &amp; Objectives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303520" y="16002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Research questions and goals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11480" y="2167128"/>
            <a:ext cx="4114800" cy="7772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11480" y="2167128"/>
            <a:ext cx="411480" cy="77724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29768" y="2368296"/>
            <a:ext cx="3749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914400" y="222199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Literature Review &amp; Survey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14400" y="253288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Prior work, methods, research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800600" y="2167128"/>
            <a:ext cx="4114800" cy="7772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800600" y="2167128"/>
            <a:ext cx="41148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818888" y="2368296"/>
            <a:ext cx="3749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303520" y="222199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Spatial vs. Frequency Domain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303520" y="253288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LSB, DCT, DWT comparison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11480" y="3099816"/>
            <a:ext cx="4114800" cy="7772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11480" y="3099816"/>
            <a:ext cx="411480" cy="77724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29768" y="3300984"/>
            <a:ext cx="3749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914400" y="31546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914400" y="346557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Encoder / Decoder architecture &amp; flowchart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800600" y="3099816"/>
            <a:ext cx="4114800" cy="7772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800600" y="3099816"/>
            <a:ext cx="41148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4818888" y="3300984"/>
            <a:ext cx="3749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303520" y="31546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Methodology &amp;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303520" y="346557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Python, PIL/Pillow, NumPy workflow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11480" y="4032504"/>
            <a:ext cx="4114800" cy="7772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11480" y="4032504"/>
            <a:ext cx="411480" cy="77724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29768" y="4233672"/>
            <a:ext cx="3749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914400" y="4087368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Testing &amp; Evaluation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914400" y="439826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PSNR, MSE, steganalysis, robustness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800600" y="4032504"/>
            <a:ext cx="4114800" cy="7772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800600" y="4032504"/>
            <a:ext cx="41148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818888" y="4233672"/>
            <a:ext cx="3749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303520" y="4087368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Expected Results &amp; Limitations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5303520" y="439826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Outcomes, challenges, future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Speaker Notes: Briefly introduce each section. Total presentation ~15 min + Q&amp;A.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Background &amp; Motivation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Why Steganography? Why LSB?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11480" y="12344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 Security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11480" y="1554480"/>
            <a:ext cx="4160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Information transmitted over public networks faces eavesdropping, theft, and manipulation.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Cryptography alone is detectable — an encrypted message signals that something secret exists.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Steganography hides the existence of the message itself, not just its content.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11480" y="3154680"/>
            <a:ext cx="4160520" cy="86868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548640" y="321868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Distinction (Cheddad et al., 2010)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48640" y="3456432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Cryptography: hides message content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Steganography: hides message existence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Combined = layered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846320" y="123444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Why LSB Method?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846320" y="1554480"/>
            <a:ext cx="38862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4846320" y="1554480"/>
            <a:ext cx="54864" cy="73152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4983480" y="1645920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High Capacity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983480" y="190195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Embeds data in every pixel channel — no visible limit for 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846320" y="2359152"/>
            <a:ext cx="38862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846320" y="2359152"/>
            <a:ext cx="54864" cy="7315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4983480" y="2450592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Imperceptibility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983480" y="2706624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Bit change ≤ 1/255 intensity — below human visual threshold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846320" y="3163824"/>
            <a:ext cx="38862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4846320" y="3163824"/>
            <a:ext cx="54864" cy="73152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4983480" y="3255264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Simplicity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983480" y="3511296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Ideal as an educational foundation for steganography research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846320" y="3968496"/>
            <a:ext cx="38862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4846320" y="3968496"/>
            <a:ext cx="54864" cy="7315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4983480" y="4059936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Python-Native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983480" y="4315968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PIL/Pillow &amp; NumPy provide direct pixel-level access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Speaker Notes: Emphasize that combining steganography + cryptography is the modern gold standard. LSB is chosen here for implementation clarity and educational depth.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 &amp; Research Objectives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Three Core Research Questions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11480" y="1234440"/>
            <a:ext cx="8321040" cy="102412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11480" y="1234440"/>
            <a:ext cx="640080" cy="1024128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429768" y="1554480"/>
            <a:ext cx="603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143000" y="1307592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Design &amp; Implementation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143000" y="1581912"/>
            <a:ext cx="74066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can an LSB steganography system be designed and built in Python (PIL/Pillow + NumPy) to hide UTF-8 text inside PNG images?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11480" y="2404872"/>
            <a:ext cx="8321040" cy="102412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411480" y="2404872"/>
            <a:ext cx="640080" cy="102412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429768" y="2724912"/>
            <a:ext cx="603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143000" y="2478024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Capacity &amp;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143000" y="2752344"/>
            <a:ext cx="74066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is the maximum text capacity embeddable without visually detectable degradation, measured via PSNR and MSE?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11480" y="3575304"/>
            <a:ext cx="8321040" cy="102412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411480" y="3575304"/>
            <a:ext cx="640080" cy="1024128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429768" y="3895344"/>
            <a:ext cx="603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1143000" y="3648456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Robustness &amp; Steganalysis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143000" y="3922776"/>
            <a:ext cx="74066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robust is the system against JPEG compression, and can LSB histogram analysis reveal hidden messages?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548640" y="4700016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 Objective: Implement and evaluate an LSB steganography system in Python using standardized quality metrics.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 — Steganography: Definition &amp; History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Cox et al. (2007); Wayner (2009); Gonzalez &amp; Woods (2018)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11480" y="123444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Definition (Cox et al., 2007)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11480" y="15087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Steganography (Greek: steganos = hidden, graphein = to write) is the science of concealing secret information within a carrier medium (cover object) such that its existence is imperceptible to unauthorized parties. A complete system involves three components: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11480" y="2121408"/>
            <a:ext cx="265176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411480" y="2121408"/>
            <a:ext cx="54864" cy="658368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548640" y="221284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Cover Object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48640" y="246888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Original carrier medium (e.g., PNG image)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246120" y="2121408"/>
            <a:ext cx="265176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3246120" y="2121408"/>
            <a:ext cx="54864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3383280" y="221284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Secret Message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383280" y="246888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Information to be hidden (e.g., UTF-8 text)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080760" y="2121408"/>
            <a:ext cx="265176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6080760" y="2121408"/>
            <a:ext cx="54864" cy="658368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6217920" y="221284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Stego Object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217895" y="2391155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Cover + embedded message; visually identical to cover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11480" y="28803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Historical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11480" y="3246120"/>
            <a:ext cx="164592" cy="164592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" name="Google Shape;244;p7"/>
          <p:cNvCxnSpPr/>
          <p:nvPr/>
        </p:nvCxnSpPr>
        <p:spPr>
          <a:xfrm>
            <a:off x="493776" y="3410712"/>
            <a:ext cx="0" cy="137160"/>
          </a:xfrm>
          <a:prstGeom prst="straightConnector1">
            <a:avLst/>
          </a:prstGeom>
          <a:noFill/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7"/>
          <p:cNvSpPr/>
          <p:nvPr/>
        </p:nvSpPr>
        <p:spPr>
          <a:xfrm>
            <a:off x="667512" y="321868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Ancient Greece: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2194560" y="3218688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Messages tattooed on shaved slave heads, concealed by regrown hair (Herodotus)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11480" y="3547872"/>
            <a:ext cx="164592" cy="164592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" name="Google Shape;248;p7"/>
          <p:cNvCxnSpPr/>
          <p:nvPr/>
        </p:nvCxnSpPr>
        <p:spPr>
          <a:xfrm>
            <a:off x="493776" y="3712464"/>
            <a:ext cx="0" cy="137160"/>
          </a:xfrm>
          <a:prstGeom prst="straightConnector1">
            <a:avLst/>
          </a:prstGeom>
          <a:noFill/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7"/>
          <p:cNvSpPr/>
          <p:nvPr/>
        </p:nvSpPr>
        <p:spPr>
          <a:xfrm>
            <a:off x="667512" y="352044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WWII Era: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2194560" y="352044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Invisible ink and microdot techniques used for military intelligence (Wayner, 2009)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11480" y="3849624"/>
            <a:ext cx="164592" cy="164592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2" name="Google Shape;252;p7"/>
          <p:cNvCxnSpPr/>
          <p:nvPr/>
        </p:nvCxnSpPr>
        <p:spPr>
          <a:xfrm>
            <a:off x="493776" y="4014216"/>
            <a:ext cx="0" cy="137160"/>
          </a:xfrm>
          <a:prstGeom prst="straightConnector1">
            <a:avLst/>
          </a:prstGeom>
          <a:noFill/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7"/>
          <p:cNvSpPr/>
          <p:nvPr/>
        </p:nvSpPr>
        <p:spPr>
          <a:xfrm>
            <a:off x="667512" y="382219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1990s Digital: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2194560" y="3822192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Spatial-domain embedding in digital images — foundation of modern steganography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11480" y="4151376"/>
            <a:ext cx="164592" cy="164592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7"/>
          <p:cNvCxnSpPr/>
          <p:nvPr/>
        </p:nvCxnSpPr>
        <p:spPr>
          <a:xfrm>
            <a:off x="493776" y="4315968"/>
            <a:ext cx="0" cy="137160"/>
          </a:xfrm>
          <a:prstGeom prst="straightConnector1">
            <a:avLst/>
          </a:prstGeom>
          <a:noFill/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7"/>
          <p:cNvSpPr/>
          <p:nvPr/>
        </p:nvSpPr>
        <p:spPr>
          <a:xfrm>
            <a:off x="667512" y="412394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1999 Marvel et al.: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2194560" y="4123944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Spread spectrum image steganography — robust against steganalysis attacks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11480" y="4453128"/>
            <a:ext cx="164592" cy="164592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667512" y="4425696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2000s–Present: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2194560" y="4425696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DCT/DWT frequency-domain methods; deep-learning steganalysis (Pevny et al., 2010)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Survey — Spatial Domain: LSB Method in Depth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Hussain et al. (2018) · Fridrich et al. (2001) · Subhedar &amp; Mankar (2014)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11480" y="12344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How LSB 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11480" y="153619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Original pixel value: 200  →  11001000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11480" y="1801368"/>
            <a:ext cx="420624" cy="384048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411480" y="1856232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11480" y="2185416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2^7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923544" y="1801368"/>
            <a:ext cx="420624" cy="38404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923544" y="1856232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923544" y="2185416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2^6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1435608" y="1801368"/>
            <a:ext cx="420624" cy="38404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1435608" y="1856232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1435608" y="2185416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2^5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1947672" y="1801368"/>
            <a:ext cx="420624" cy="38404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1947672" y="1856232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1947672" y="2185416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2^4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2459736" y="1801368"/>
            <a:ext cx="420624" cy="38404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2459736" y="1856232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459736" y="2185416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2^3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2971800" y="1801368"/>
            <a:ext cx="420624" cy="38404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2971800" y="1856232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2971800" y="2185416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2^2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483864" y="1801368"/>
            <a:ext cx="420624" cy="38404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3483864" y="1856232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483864" y="2185416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2^1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995928" y="1801368"/>
            <a:ext cx="420624" cy="384048"/>
          </a:xfrm>
          <a:prstGeom prst="rect">
            <a:avLst/>
          </a:prstGeom>
          <a:solidFill>
            <a:srgbClr val="FEF9C3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3995928" y="1856232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995928" y="2185416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2^0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1148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← MSB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566160" y="245059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LSB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11480" y="26974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After embedding message bit '1':  →  11001001  (value: 201)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11480" y="2962656"/>
            <a:ext cx="420624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411480" y="3008376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923544" y="2962656"/>
            <a:ext cx="420624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923544" y="3008376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1435608" y="2962656"/>
            <a:ext cx="420624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1435608" y="3008376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1947672" y="2962656"/>
            <a:ext cx="420624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1947672" y="3008376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2459736" y="2962656"/>
            <a:ext cx="420624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2459736" y="3008376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2971800" y="2962656"/>
            <a:ext cx="420624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2971800" y="3008376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483864" y="2962656"/>
            <a:ext cx="420624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3483864" y="3008376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3995928" y="2962656"/>
            <a:ext cx="420624" cy="347472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3995928" y="3008376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411480" y="33832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Change: 200 → 201  =  &lt; 0.4% intensity shift (below human visual threshold)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4846320" y="123444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Findings from Prior Studies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846320" y="1554480"/>
            <a:ext cx="3886200" cy="10515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4846320" y="1554480"/>
            <a:ext cx="54864" cy="105156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4956048" y="160934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Hussain et al. (2018)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956048" y="180136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Comprehensive survey of 80+ spatial-domain techniques. 1-bit LSB achieves PSNR &gt; 51 dB — well above the 40 dB acceptability threshold.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4956048" y="2258568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Excellent imperceptibility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6748272" y="22585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Vulnerable to RS steganalysis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846320" y="2697480"/>
            <a:ext cx="3886200" cy="10515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4846320" y="2697480"/>
            <a:ext cx="54864" cy="105156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4956048" y="275234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Fridrich et al. (2001)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956048" y="294436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Developed RS (Regular-Singular) steganalysis — first statistical attack able to detect LSB embedding reliably even at low fill ratios.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956048" y="3401568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Foundational detection method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6748272" y="34015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Motivates need for randomization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846320" y="3840480"/>
            <a:ext cx="3886200" cy="10515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4846320" y="3840480"/>
            <a:ext cx="54864" cy="105156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4956048" y="389534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Subhedar &amp; Mankar (2014)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956048" y="408736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Survey confirms 1-bit LSB on RGB PNG is the highest-capacity spatial method. Embedding capacity = (W × H × 3) / 8 bytes.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956048" y="4544568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Best capacity-to-complexity ratio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6748272" y="45445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JPEG compression destroys message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Speaker Notes: Emphasize Hussain et al. as the authoritative survey paper. Mention that this research validates their findings via implementation.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Survey — Frequency Domain Methods: DCT &amp; DWT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Kaur &amp; Kumar (2020) · Marvel et al. (1999) · Pevny et al. (2010)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411480" y="1234440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Why study frequency-domain methods?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411480" y="146304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 understand the trade-off space that motivates our choice of LSB for this research.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411480" y="1737360"/>
            <a:ext cx="4023360" cy="25603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548640" y="18105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DCT — Discrete Cosine Transform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48640" y="2066544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(used in JPEG; frequency-domain method)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548640" y="2286000"/>
            <a:ext cx="3749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it works: </a:t>
            </a: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Transforms 8×8 pixel blocks to frequency coefficients. Secret bits are embedded in mid-frequency AC coefficients (Kaur &amp; Kumar, 2020).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Advantages: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Survives JPEG compression (same domain)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More resistant to visual and statistical attacks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Widely used in JPEG steganography tools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Disadvantages: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Lower embedding capacity vs. LSB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Higher computational complexity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Coefficient rounding causes message loss at high compression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4709160" y="1737360"/>
            <a:ext cx="4023360" cy="256032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4846320" y="18105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DWT — Discrete Wavelet Transform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4846320" y="2066544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(frequency sub-band decomposition)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4846320" y="2258563"/>
            <a:ext cx="37491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it works: </a:t>
            </a: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Decomposes image into LL, LH, HL, HH sub-bands. Bits are embedded in high-frequency sub-bands where changes are less perceptible.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Advantages: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Excellent balance of capacity, quality, and robustness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Multi-resolution analysis allows selective embedding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More difficult to detect than LSB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Disadvantages: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Highest computational complexity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Implementation significantly more complex than LSB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Requires specialized library support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FEF9C3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548640" y="4416552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Marvel et al. (1999) — Spread Spectrum: A hybrid approach embedding data across the entire frequency spectrum for maximum robustness, at cost of very low capacity and high complexity. Not suitable for text-heavy applications.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Comparison: LSB vs DCT vs DWT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Synthesized from Hussain et al. (2018); Kaur &amp; Kumar (2020)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274320" y="1234440"/>
            <a:ext cx="1737360" cy="4114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320040" y="126187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Criterion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2011680" y="1234440"/>
            <a:ext cx="1554480" cy="41148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2057400" y="126187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LSB (Spatial)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3566160" y="1234440"/>
            <a:ext cx="1554480" cy="41148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3611880" y="126187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DCT (Frequency)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5120640" y="1234440"/>
            <a:ext cx="1554480" cy="4114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5166360" y="126187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DWT (Frequency)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675120" y="1234440"/>
            <a:ext cx="1554480" cy="4114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6720840" y="126187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Spread Spectrum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274320" y="1664208"/>
            <a:ext cx="1737360" cy="3200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310896" y="1691640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Embedding Domain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2011680" y="1664208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2048256" y="1691640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Spatial (pixels)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3566160" y="1664208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3602736" y="1691640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Frequency (8×8 blocks)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5120640" y="1664208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5157216" y="1691640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Frequency (sub-bands)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6675120" y="1664208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6711696" y="1691640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spectrum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274320" y="1997964"/>
            <a:ext cx="1737360" cy="3200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310896" y="2025396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Embedding Capacity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2011680" y="1997964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2048256" y="2025396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3566160" y="1997964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3602736" y="2025396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5120640" y="1997964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5157216" y="2025396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6675120" y="1997964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6711696" y="2025396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VERY 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274320" y="2331720"/>
            <a:ext cx="1737360" cy="3200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310896" y="2359152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Imperceptibility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2011680" y="2331720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2048256" y="235915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(&gt;51 dB)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3566160" y="2331720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3602736" y="235915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5120640" y="2331720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5157216" y="235915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6675120" y="2331720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6711696" y="235915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274320" y="2665476"/>
            <a:ext cx="1737360" cy="3200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310896" y="2692908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Robustness vs JPEG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2011680" y="2665476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2048256" y="269290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NONE (fails)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3566160" y="2665476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3602736" y="269290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5120640" y="2665476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5157216" y="269290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MEDIUM–HIGH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6675120" y="2665476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6711696" y="269290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VERY 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274320" y="2999232"/>
            <a:ext cx="1737360" cy="3200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310896" y="3026664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Steganalysis Resistance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2011680" y="2999232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2048256" y="3026664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3566160" y="2999232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3602736" y="3026664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5120640" y="2999232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5157216" y="3026664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MEDIUM–HIGH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6675120" y="2999232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6711696" y="3026664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274320" y="3332988"/>
            <a:ext cx="1737360" cy="3200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310896" y="3360420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Computational Complexity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2011680" y="3332988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2048256" y="3360420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VERY 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3566160" y="3332988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3602736" y="3360420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5120640" y="3332988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5157216" y="3360420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6675120" y="3332988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6711696" y="3360420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VERY 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274320" y="3666744"/>
            <a:ext cx="1737360" cy="3200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310896" y="3694176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Implementation Difficulty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2011680" y="3666744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2048256" y="3694176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EASY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3566160" y="3666744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3602736" y="3694176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5120640" y="3666744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5157216" y="3694176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COMPLEX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6675120" y="3666744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6711696" y="3694176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VERY COMPLEX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274320" y="4000500"/>
            <a:ext cx="1737360" cy="3200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310896" y="4027932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Best Use Case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2011680" y="4000500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2048256" y="402793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Lossless PNG, 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3566160" y="4000500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3602736" y="402793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JPEG images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5120640" y="4000500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5157216" y="402793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Mixed-format images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6675120" y="4000500"/>
            <a:ext cx="1554480" cy="320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6711696" y="4027932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Military/critical sec.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274320" y="4334256"/>
            <a:ext cx="1737360" cy="3200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310896" y="4361688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This Research Selects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2011680" y="4334256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2048256" y="436168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YES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3566160" y="4334256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0"/>
          <p:cNvSpPr/>
          <p:nvPr/>
        </p:nvSpPr>
        <p:spPr>
          <a:xfrm>
            <a:off x="3602736" y="436168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5120640" y="4334256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5157216" y="436168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6675120" y="4334256"/>
            <a:ext cx="155448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6711696" y="4361688"/>
            <a:ext cx="1481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274320" y="480060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Conclusion: LSB is selected for its unmatched embedding capacity, minimal implementation complexity, and high imperceptibility on PNG images — making it ideal for this study.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Format Analysis: PNG vs JPEG for LSB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Gonzalez &amp; Woods (2018) — Critical Design Decision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411480" y="1234440"/>
            <a:ext cx="3931920" cy="329184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411480" y="1234440"/>
            <a:ext cx="3931920" cy="41148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502920" y="12801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JPEG — NOT Suitable for LSB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548640" y="1719072"/>
            <a:ext cx="36576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Compression Type: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Lossy (DCT-based)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it fails LSB:</a:t>
            </a:r>
            <a:b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DCT quantization actively modifies pixel values during save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LSB bits are overwritten upon every JPEG save operation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Message is irrecoverably corrupted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result (Section 9.4):</a:t>
            </a:r>
            <a:b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 75% JPEG quality → significant message degradation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 50% quality → complete message 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 25% quality → total corruption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4800600" y="1234440"/>
            <a:ext cx="3931920" cy="329184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1"/>
          <p:cNvSpPr/>
          <p:nvPr/>
        </p:nvSpPr>
        <p:spPr>
          <a:xfrm>
            <a:off x="4800600" y="1234440"/>
            <a:ext cx="3931920" cy="4114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4892040" y="12801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PNG — Recommended for LSB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4937760" y="1719072"/>
            <a:ext cx="36576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Compression Type: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Lossless (DEFLATE)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it works:</a:t>
            </a:r>
            <a:b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Pixel values are preserved exactly after save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LSB bits remain intact — message is fully recoverable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Supports full 24-bit (RGB) and 32-bit (RGBA) color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vs. BMP:</a:t>
            </a:r>
            <a:b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BMP is also lossless but produces very large files.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PNG compresses to ~30–70% of BMP size with identical pixel fidelity — ideal balance of size and integrity.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4325112" y="2514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548640" y="4645152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Decision: All experiments use PNG exclusively. JPEG robustness test is included to empirically confirm and quantify message destruction.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Gap &amp; Motivation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What This Study Contributes Beyond Existing Literature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411480" y="12344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What existing studies do well...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411480" y="1572768"/>
            <a:ext cx="164592" cy="164592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658368" y="1554480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Theoretical analysis of LSB capacity and PSNR bounds (Hussain et al., 2018)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411480" y="1956816"/>
            <a:ext cx="164592" cy="164592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658368" y="193852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Steganalysis detection algorithms (Fridrich et al., 2001; Pevny et al., 2010)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411480" y="2340864"/>
            <a:ext cx="164592" cy="164592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658368" y="2322576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Comparative surveys of steganography families (Subhedar &amp; Mankar, 2014)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411480" y="2724912"/>
            <a:ext cx="164592" cy="164592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658368" y="2706624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Frequency-domain method development (Kaur &amp; Kumar, 2020)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4663440" y="12344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What is lacking / under-explored...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4663440" y="1572768"/>
            <a:ext cx="164592" cy="16459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4919472" y="15544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End-to-end Python implementation with standardized quality evaluation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4663440" y="1956816"/>
            <a:ext cx="164592" cy="16459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4919472" y="193852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Combined PSNR + MSE analysis across multiple image sizes and message lengths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4663440" y="2340864"/>
            <a:ext cx="164592" cy="16459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4919472" y="232257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Quantitative steganalysis using LSB histogram distribution (before vs after)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4663440" y="2724912"/>
            <a:ext cx="164592" cy="16459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4919472" y="270662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Practical usage guidelines for developers (capacity-per-resolution tables)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411480" y="3200400"/>
            <a:ext cx="8321040" cy="12801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411480" y="3200400"/>
            <a:ext cx="109728" cy="1280160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621792" y="3273552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This Study's Contribution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621792" y="3566160"/>
            <a:ext cx="7955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research implements a complete, evaluated, and documented LSB steganography system in Python, providing: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(1)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Empirical PSNR/MSE data at multiple resolutions and message sizes  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(2)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 steganalysis via histogram analysis  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(3)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Quantified robustness against JPEG compression — bridging the gap between theory and reproducible implementation.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Speaker Notes: This slide justifies the research. The gap is not that LSB hasn't been studied — it has — but that reproducible, multi-metric Python implementations are rarely published in detail.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3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Scope &amp; Limitations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Defining the Boundaries of This Research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411480" y="12344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What IS in scope: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411480" y="1536192"/>
            <a:ext cx="4069080" cy="420624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3"/>
          <p:cNvSpPr/>
          <p:nvPr/>
        </p:nvSpPr>
        <p:spPr>
          <a:xfrm>
            <a:off x="530352" y="157276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Image Format: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1645920" y="157276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PNG only (lossless — preserves pixel integrity)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411480" y="2011680"/>
            <a:ext cx="4069080" cy="420624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3"/>
          <p:cNvSpPr/>
          <p:nvPr/>
        </p:nvSpPr>
        <p:spPr>
          <a:xfrm>
            <a:off x="530352" y="204825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Message Type: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1645920" y="20482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UTF-8 encoded text (standard ASCII and Unicode)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411480" y="2487168"/>
            <a:ext cx="4069080" cy="420624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3"/>
          <p:cNvSpPr/>
          <p:nvPr/>
        </p:nvSpPr>
        <p:spPr>
          <a:xfrm>
            <a:off x="530352" y="252374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LSB Method: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1645920" y="2523744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1-bit LSB on RGB channels (3 bits per pixel)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411480" y="2962656"/>
            <a:ext cx="4069080" cy="420624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530352" y="299923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Language: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1645920" y="299923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 3.x with PIL/Pillow + NumPy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411480" y="3438144"/>
            <a:ext cx="4069080" cy="420624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530352" y="34747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Evaluation: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1645920" y="3474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PSNR and MSE quality metrics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411480" y="3913632"/>
            <a:ext cx="4069080" cy="420624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530352" y="395020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Steganalysis: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1645920" y="395020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LSB histogram distribution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/>
          <p:nvPr/>
        </p:nvSpPr>
        <p:spPr>
          <a:xfrm>
            <a:off x="4800600" y="123444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What is NOT in scope: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4800600" y="1536192"/>
            <a:ext cx="3931920" cy="420624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4919472" y="157276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Alpha Channel: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6080760" y="157276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Only RGB — alpha channel embedding excluded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4800600" y="2011680"/>
            <a:ext cx="3931920" cy="420624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3"/>
          <p:cNvSpPr/>
          <p:nvPr/>
        </p:nvSpPr>
        <p:spPr>
          <a:xfrm>
            <a:off x="4919472" y="204825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Binary Files: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3"/>
          <p:cNvSpPr/>
          <p:nvPr/>
        </p:nvSpPr>
        <p:spPr>
          <a:xfrm>
            <a:off x="6080760" y="20482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image, audio, or binary file embedding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3"/>
          <p:cNvSpPr/>
          <p:nvPr/>
        </p:nvSpPr>
        <p:spPr>
          <a:xfrm>
            <a:off x="4800600" y="2487168"/>
            <a:ext cx="3931920" cy="420624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>
            <a:off x="4919472" y="252374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Cryptography: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3"/>
          <p:cNvSpPr/>
          <p:nvPr/>
        </p:nvSpPr>
        <p:spPr>
          <a:xfrm>
            <a:off x="6080760" y="252374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pre-encryption before embedding (steganography only)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3"/>
          <p:cNvSpPr/>
          <p:nvPr/>
        </p:nvSpPr>
        <p:spPr>
          <a:xfrm>
            <a:off x="4800600" y="2962656"/>
            <a:ext cx="3931920" cy="420624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4919472" y="299923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SSIM Metric: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6080760" y="299923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Perceptual quality metric excluded; PSNR+MSE 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4800600" y="3438144"/>
            <a:ext cx="3931920" cy="420624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4919472" y="34747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ML Steganalysis: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3"/>
          <p:cNvSpPr/>
          <p:nvPr/>
        </p:nvSpPr>
        <p:spPr>
          <a:xfrm>
            <a:off x="6080760" y="347472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AI/ML-based detection frameworks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3"/>
          <p:cNvSpPr/>
          <p:nvPr/>
        </p:nvSpPr>
        <p:spPr>
          <a:xfrm>
            <a:off x="4800600" y="3913632"/>
            <a:ext cx="3931920" cy="420624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3"/>
          <p:cNvSpPr/>
          <p:nvPr/>
        </p:nvSpPr>
        <p:spPr>
          <a:xfrm>
            <a:off x="4919472" y="395020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Grayscale Images: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3"/>
          <p:cNvSpPr/>
          <p:nvPr/>
        </p:nvSpPr>
        <p:spPr>
          <a:xfrm>
            <a:off x="6080760" y="395020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Scope limited to 24-bit RGB color images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4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Design — Encoder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Embedding Secret Text into PNG Cover 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365760" y="1234440"/>
            <a:ext cx="292608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>
            <a:off x="438912" y="1271016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1298448" y="127101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Cover Image (PNG)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 Text Message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6" name="Google Shape;586;p14"/>
          <p:cNvCxnSpPr/>
          <p:nvPr/>
        </p:nvCxnSpPr>
        <p:spPr>
          <a:xfrm>
            <a:off x="1828800" y="1709928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7" name="Google Shape;587;p14"/>
          <p:cNvSpPr/>
          <p:nvPr/>
        </p:nvSpPr>
        <p:spPr>
          <a:xfrm>
            <a:off x="1682496" y="1783080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365760" y="1847088"/>
            <a:ext cx="292608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438912" y="188366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CONVERT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1298448" y="188366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Message → UTF-8 binary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 append delimiter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1" name="Google Shape;591;p14"/>
          <p:cNvCxnSpPr/>
          <p:nvPr/>
        </p:nvCxnSpPr>
        <p:spPr>
          <a:xfrm>
            <a:off x="1828800" y="2322576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2" name="Google Shape;592;p14"/>
          <p:cNvSpPr/>
          <p:nvPr/>
        </p:nvSpPr>
        <p:spPr>
          <a:xfrm>
            <a:off x="1682496" y="2395728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4"/>
          <p:cNvSpPr/>
          <p:nvPr/>
        </p:nvSpPr>
        <p:spPr>
          <a:xfrm>
            <a:off x="365760" y="2459736"/>
            <a:ext cx="2926080" cy="475488"/>
          </a:xfrm>
          <a:prstGeom prst="rect">
            <a:avLst/>
          </a:prstGeom>
          <a:solidFill>
            <a:srgbClr val="FEF9C3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438912" y="2496312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ITERATE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4"/>
          <p:cNvSpPr/>
          <p:nvPr/>
        </p:nvSpPr>
        <p:spPr>
          <a:xfrm>
            <a:off x="1298448" y="249631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pixels row-by-row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(R, G, B channels)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p14"/>
          <p:cNvCxnSpPr/>
          <p:nvPr/>
        </p:nvCxnSpPr>
        <p:spPr>
          <a:xfrm>
            <a:off x="1828800" y="2935224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7" name="Google Shape;597;p14"/>
          <p:cNvSpPr/>
          <p:nvPr/>
        </p:nvSpPr>
        <p:spPr>
          <a:xfrm>
            <a:off x="1682496" y="3008376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4"/>
          <p:cNvSpPr/>
          <p:nvPr/>
        </p:nvSpPr>
        <p:spPr>
          <a:xfrm>
            <a:off x="365760" y="3072384"/>
            <a:ext cx="292608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438912" y="310896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1298448" y="310896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new_px = (px &amp; 0xFE) | bit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Replace LSB with message bit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1" name="Google Shape;601;p14"/>
          <p:cNvCxnSpPr/>
          <p:nvPr/>
        </p:nvCxnSpPr>
        <p:spPr>
          <a:xfrm>
            <a:off x="1828800" y="3547872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2" name="Google Shape;602;p14"/>
          <p:cNvSpPr/>
          <p:nvPr/>
        </p:nvSpPr>
        <p:spPr>
          <a:xfrm>
            <a:off x="1682496" y="3621024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4"/>
          <p:cNvSpPr/>
          <p:nvPr/>
        </p:nvSpPr>
        <p:spPr>
          <a:xfrm>
            <a:off x="365760" y="3685032"/>
            <a:ext cx="292608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4"/>
          <p:cNvSpPr/>
          <p:nvPr/>
        </p:nvSpPr>
        <p:spPr>
          <a:xfrm>
            <a:off x="438912" y="3721608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SAVE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4"/>
          <p:cNvSpPr/>
          <p:nvPr/>
        </p:nvSpPr>
        <p:spPr>
          <a:xfrm>
            <a:off x="1298448" y="37216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Write stego-image as PNG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(lossless — pixel values intact)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6" name="Google Shape;606;p14"/>
          <p:cNvCxnSpPr/>
          <p:nvPr/>
        </p:nvCxnSpPr>
        <p:spPr>
          <a:xfrm>
            <a:off x="1828800" y="4160520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7" name="Google Shape;607;p14"/>
          <p:cNvSpPr/>
          <p:nvPr/>
        </p:nvSpPr>
        <p:spPr>
          <a:xfrm>
            <a:off x="1682496" y="4233672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4"/>
          <p:cNvSpPr/>
          <p:nvPr/>
        </p:nvSpPr>
        <p:spPr>
          <a:xfrm>
            <a:off x="365760" y="4297680"/>
            <a:ext cx="292608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4"/>
          <p:cNvSpPr/>
          <p:nvPr/>
        </p:nvSpPr>
        <p:spPr>
          <a:xfrm>
            <a:off x="438912" y="4334256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1298448" y="433425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Stego-Image (PNG)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visually identical to cover</a:t>
            </a:r>
            <a:endParaRPr b="0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4"/>
          <p:cNvSpPr/>
          <p:nvPr/>
        </p:nvSpPr>
        <p:spPr>
          <a:xfrm>
            <a:off x="3749040" y="123444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Technical Detail: Bit Manipulation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3749040" y="1536192"/>
            <a:ext cx="4937760" cy="1463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>
            <a:off x="3840480" y="1600200"/>
            <a:ext cx="4754880" cy="1335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# Core LSB embed operation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new_value = (pixel_value &amp; 0xFE) | message_bit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# 0xFE = 11111110 (clears LSB)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# message_bit is 0 or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# Change ≤ 1 in range 0–255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# Delimiter: 16 zero-bits = end-of-message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3749040" y="3054085"/>
            <a:ext cx="493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Capacity Formula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4"/>
          <p:cNvSpPr/>
          <p:nvPr/>
        </p:nvSpPr>
        <p:spPr>
          <a:xfrm>
            <a:off x="3749040" y="3259835"/>
            <a:ext cx="4937700" cy="7314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4"/>
          <p:cNvSpPr/>
          <p:nvPr/>
        </p:nvSpPr>
        <p:spPr>
          <a:xfrm>
            <a:off x="3886150" y="3319331"/>
            <a:ext cx="466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C = (W × H × 3) / 8  bytes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4"/>
          <p:cNvSpPr/>
          <p:nvPr/>
        </p:nvSpPr>
        <p:spPr>
          <a:xfrm>
            <a:off x="3886200" y="3703320"/>
            <a:ext cx="4663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Example: 800×600 image → 180,000 bytes ≈ 175 KB of 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3794740" y="4007278"/>
            <a:ext cx="178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Image Dimensions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4"/>
          <p:cNvSpPr/>
          <p:nvPr/>
        </p:nvSpPr>
        <p:spPr>
          <a:xfrm>
            <a:off x="5605252" y="4007278"/>
            <a:ext cx="155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Max Capacity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7187164" y="4007278"/>
            <a:ext cx="150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Approx.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4"/>
          <p:cNvSpPr/>
          <p:nvPr/>
        </p:nvSpPr>
        <p:spPr>
          <a:xfrm>
            <a:off x="3749040" y="4224528"/>
            <a:ext cx="4937760" cy="237744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4"/>
          <p:cNvSpPr/>
          <p:nvPr/>
        </p:nvSpPr>
        <p:spPr>
          <a:xfrm>
            <a:off x="3794760" y="425196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512×512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4"/>
          <p:cNvSpPr/>
          <p:nvPr/>
        </p:nvSpPr>
        <p:spPr>
          <a:xfrm>
            <a:off x="5559552" y="425196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98,304 bytes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4"/>
          <p:cNvSpPr/>
          <p:nvPr/>
        </p:nvSpPr>
        <p:spPr>
          <a:xfrm>
            <a:off x="7141464" y="425196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~96 KB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4"/>
          <p:cNvSpPr/>
          <p:nvPr/>
        </p:nvSpPr>
        <p:spPr>
          <a:xfrm>
            <a:off x="3749040" y="4480560"/>
            <a:ext cx="4937760" cy="2377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3794760" y="450799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1024×768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4"/>
          <p:cNvSpPr/>
          <p:nvPr/>
        </p:nvSpPr>
        <p:spPr>
          <a:xfrm>
            <a:off x="5559552" y="4507992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294,912 bytes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7141464" y="4507992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~288 KB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4"/>
          <p:cNvSpPr/>
          <p:nvPr/>
        </p:nvSpPr>
        <p:spPr>
          <a:xfrm>
            <a:off x="3749040" y="4736592"/>
            <a:ext cx="4937760" cy="237744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4"/>
          <p:cNvSpPr/>
          <p:nvPr/>
        </p:nvSpPr>
        <p:spPr>
          <a:xfrm>
            <a:off x="3794760" y="476402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1920×1080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4"/>
          <p:cNvSpPr/>
          <p:nvPr/>
        </p:nvSpPr>
        <p:spPr>
          <a:xfrm>
            <a:off x="5559552" y="4764024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777,600 bytes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7141464" y="4764024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~759 KB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5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5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Design — Decoder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5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Extracting Hidden Messages from Stego-Images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5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5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5"/>
          <p:cNvSpPr/>
          <p:nvPr/>
        </p:nvSpPr>
        <p:spPr>
          <a:xfrm>
            <a:off x="411480" y="1234440"/>
            <a:ext cx="30175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5"/>
          <p:cNvSpPr/>
          <p:nvPr/>
        </p:nvSpPr>
        <p:spPr>
          <a:xfrm>
            <a:off x="484632" y="1271016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5"/>
          <p:cNvSpPr/>
          <p:nvPr/>
        </p:nvSpPr>
        <p:spPr>
          <a:xfrm>
            <a:off x="1362456" y="127101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Stego-Image (PNG)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(must be lossless)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5"/>
          <p:cNvSpPr/>
          <p:nvPr/>
        </p:nvSpPr>
        <p:spPr>
          <a:xfrm>
            <a:off x="1691640" y="173736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5"/>
          <p:cNvSpPr/>
          <p:nvPr/>
        </p:nvSpPr>
        <p:spPr>
          <a:xfrm>
            <a:off x="411480" y="1847088"/>
            <a:ext cx="30175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5"/>
          <p:cNvSpPr/>
          <p:nvPr/>
        </p:nvSpPr>
        <p:spPr>
          <a:xfrm>
            <a:off x="484632" y="188366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5"/>
          <p:cNvSpPr/>
          <p:nvPr/>
        </p:nvSpPr>
        <p:spPr>
          <a:xfrm>
            <a:off x="1362456" y="188366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pixels row-by-row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scan order as encoder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5"/>
          <p:cNvSpPr/>
          <p:nvPr/>
        </p:nvSpPr>
        <p:spPr>
          <a:xfrm>
            <a:off x="1691640" y="235000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5"/>
          <p:cNvSpPr/>
          <p:nvPr/>
        </p:nvSpPr>
        <p:spPr>
          <a:xfrm>
            <a:off x="411480" y="2459736"/>
            <a:ext cx="30175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5"/>
          <p:cNvSpPr/>
          <p:nvPr/>
        </p:nvSpPr>
        <p:spPr>
          <a:xfrm>
            <a:off x="484632" y="2496312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5"/>
          <p:cNvSpPr/>
          <p:nvPr/>
        </p:nvSpPr>
        <p:spPr>
          <a:xfrm>
            <a:off x="1362456" y="249631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bit = pixel_value &amp; 0x01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Extract LSB per R, G, B channel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5"/>
          <p:cNvSpPr/>
          <p:nvPr/>
        </p:nvSpPr>
        <p:spPr>
          <a:xfrm>
            <a:off x="1691640" y="296265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5"/>
          <p:cNvSpPr/>
          <p:nvPr/>
        </p:nvSpPr>
        <p:spPr>
          <a:xfrm>
            <a:off x="411480" y="3072384"/>
            <a:ext cx="30175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5"/>
          <p:cNvSpPr/>
          <p:nvPr/>
        </p:nvSpPr>
        <p:spPr>
          <a:xfrm>
            <a:off x="484632" y="310896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ASSEMBLE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5"/>
          <p:cNvSpPr/>
          <p:nvPr/>
        </p:nvSpPr>
        <p:spPr>
          <a:xfrm>
            <a:off x="1362456" y="310896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Group 8 bits → 1 byte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Convert byte → ASCII/Unicode char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5"/>
          <p:cNvSpPr/>
          <p:nvPr/>
        </p:nvSpPr>
        <p:spPr>
          <a:xfrm>
            <a:off x="1691640" y="3575304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411480" y="3685032"/>
            <a:ext cx="3017520" cy="475488"/>
          </a:xfrm>
          <a:prstGeom prst="rect">
            <a:avLst/>
          </a:prstGeom>
          <a:solidFill>
            <a:srgbClr val="FEFCE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5"/>
          <p:cNvSpPr/>
          <p:nvPr/>
        </p:nvSpPr>
        <p:spPr>
          <a:xfrm>
            <a:off x="484632" y="3721608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5"/>
          <p:cNvSpPr/>
          <p:nvPr/>
        </p:nvSpPr>
        <p:spPr>
          <a:xfrm>
            <a:off x="1362456" y="37216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Delimiter detected?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(16 zero-bits = null char)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5"/>
          <p:cNvSpPr/>
          <p:nvPr/>
        </p:nvSpPr>
        <p:spPr>
          <a:xfrm>
            <a:off x="1691640" y="41879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5"/>
          <p:cNvSpPr/>
          <p:nvPr/>
        </p:nvSpPr>
        <p:spPr>
          <a:xfrm>
            <a:off x="411480" y="4297680"/>
            <a:ext cx="30175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5"/>
          <p:cNvSpPr/>
          <p:nvPr/>
        </p:nvSpPr>
        <p:spPr>
          <a:xfrm>
            <a:off x="484632" y="4334256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5"/>
          <p:cNvSpPr/>
          <p:nvPr/>
        </p:nvSpPr>
        <p:spPr>
          <a:xfrm>
            <a:off x="1362456" y="433425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Return extracted text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(without delimiter)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5"/>
          <p:cNvSpPr/>
          <p:nvPr/>
        </p:nvSpPr>
        <p:spPr>
          <a:xfrm>
            <a:off x="3520442" y="3794750"/>
            <a:ext cx="32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→ continue reading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5"/>
          <p:cNvSpPr/>
          <p:nvPr/>
        </p:nvSpPr>
        <p:spPr>
          <a:xfrm>
            <a:off x="3840480" y="123444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Security Note: Why the Delimiter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5"/>
          <p:cNvSpPr/>
          <p:nvPr/>
        </p:nvSpPr>
        <p:spPr>
          <a:xfrm>
            <a:off x="3840480" y="1508760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Without a delimiter, the decoder would read all pixels and return garbage bits beyond the actual message. The 16-bit null character (\x00) serves as a reliable end-of-message marker.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5"/>
          <p:cNvSpPr/>
          <p:nvPr/>
        </p:nvSpPr>
        <p:spPr>
          <a:xfrm>
            <a:off x="3840480" y="2148840"/>
            <a:ext cx="484632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5"/>
          <p:cNvSpPr/>
          <p:nvPr/>
        </p:nvSpPr>
        <p:spPr>
          <a:xfrm>
            <a:off x="3931920" y="2194560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# Core LSB extract operation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bit = pixel_value &amp; 0x01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bits.append(bit)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if len(bits) == 8: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    char = chr(int(''.join(map(str, bits)), 2))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    if char == '\x00': break  # delimiter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5"/>
          <p:cNvSpPr/>
          <p:nvPr/>
        </p:nvSpPr>
        <p:spPr>
          <a:xfrm>
            <a:off x="3840480" y="306324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Module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5"/>
          <p:cNvSpPr/>
          <p:nvPr/>
        </p:nvSpPr>
        <p:spPr>
          <a:xfrm>
            <a:off x="3840480" y="3383280"/>
            <a:ext cx="484632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5"/>
          <p:cNvSpPr/>
          <p:nvPr/>
        </p:nvSpPr>
        <p:spPr>
          <a:xfrm>
            <a:off x="3840480" y="3383280"/>
            <a:ext cx="54864" cy="32004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3977640" y="3474720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encoder.py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5"/>
          <p:cNvSpPr/>
          <p:nvPr/>
        </p:nvSpPr>
        <p:spPr>
          <a:xfrm flipH="1" rot="10800000">
            <a:off x="3977640" y="3593592"/>
            <a:ext cx="46634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Text → binary → pixel LSB replacement → PNG save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5"/>
          <p:cNvSpPr/>
          <p:nvPr/>
        </p:nvSpPr>
        <p:spPr>
          <a:xfrm>
            <a:off x="3840480" y="3749040"/>
            <a:ext cx="484632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5"/>
          <p:cNvSpPr/>
          <p:nvPr/>
        </p:nvSpPr>
        <p:spPr>
          <a:xfrm>
            <a:off x="3840480" y="3749040"/>
            <a:ext cx="54864" cy="320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5"/>
          <p:cNvSpPr/>
          <p:nvPr/>
        </p:nvSpPr>
        <p:spPr>
          <a:xfrm>
            <a:off x="3977640" y="3840480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decoder.py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5"/>
          <p:cNvSpPr/>
          <p:nvPr/>
        </p:nvSpPr>
        <p:spPr>
          <a:xfrm flipH="1" rot="10800000">
            <a:off x="3977640" y="3959352"/>
            <a:ext cx="46634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PNG read → LSB extract → binary → text reconstruction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5"/>
          <p:cNvSpPr/>
          <p:nvPr/>
        </p:nvSpPr>
        <p:spPr>
          <a:xfrm>
            <a:off x="3840480" y="4114800"/>
            <a:ext cx="484632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5"/>
          <p:cNvSpPr/>
          <p:nvPr/>
        </p:nvSpPr>
        <p:spPr>
          <a:xfrm>
            <a:off x="3840480" y="4114800"/>
            <a:ext cx="54864" cy="32004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5"/>
          <p:cNvSpPr/>
          <p:nvPr/>
        </p:nvSpPr>
        <p:spPr>
          <a:xfrm>
            <a:off x="3977640" y="4206240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metrics.py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5"/>
          <p:cNvSpPr/>
          <p:nvPr/>
        </p:nvSpPr>
        <p:spPr>
          <a:xfrm flipH="1" rot="10800000">
            <a:off x="3977640" y="4325112"/>
            <a:ext cx="46634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PSNR and MSE computation using NumPy arrays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5"/>
          <p:cNvSpPr/>
          <p:nvPr/>
        </p:nvSpPr>
        <p:spPr>
          <a:xfrm>
            <a:off x="3840480" y="4480560"/>
            <a:ext cx="4846320" cy="320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5"/>
          <p:cNvSpPr/>
          <p:nvPr/>
        </p:nvSpPr>
        <p:spPr>
          <a:xfrm>
            <a:off x="3840480" y="4480560"/>
            <a:ext cx="54864" cy="320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5"/>
          <p:cNvSpPr/>
          <p:nvPr/>
        </p:nvSpPr>
        <p:spPr>
          <a:xfrm>
            <a:off x="3977640" y="4572000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utils.py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5"/>
          <p:cNvSpPr/>
          <p:nvPr/>
        </p:nvSpPr>
        <p:spPr>
          <a:xfrm flipH="1" rot="10800000">
            <a:off x="3977640" y="4690872"/>
            <a:ext cx="46634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Shared helpers: binary conversion, delimiter handling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5"/>
          <p:cNvSpPr/>
          <p:nvPr/>
        </p:nvSpPr>
        <p:spPr>
          <a:xfrm>
            <a:off x="3840480" y="4846320"/>
            <a:ext cx="4846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Note: PEP 8 coding standards applied throughout. Code organized for readability and academic replication.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6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6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Methodology &amp; Tools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Computational Experimental Research Approach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6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6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6"/>
          <p:cNvSpPr/>
          <p:nvPr/>
        </p:nvSpPr>
        <p:spPr>
          <a:xfrm>
            <a:off x="411480" y="12344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Research Stages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6"/>
          <p:cNvSpPr/>
          <p:nvPr/>
        </p:nvSpPr>
        <p:spPr>
          <a:xfrm>
            <a:off x="411480" y="1609344"/>
            <a:ext cx="292608" cy="292608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6"/>
          <p:cNvSpPr/>
          <p:nvPr/>
        </p:nvSpPr>
        <p:spPr>
          <a:xfrm>
            <a:off x="411480" y="16093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6"/>
          <p:cNvSpPr/>
          <p:nvPr/>
        </p:nvSpPr>
        <p:spPr>
          <a:xfrm>
            <a:off x="777240" y="1572768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6"/>
          <p:cNvSpPr/>
          <p:nvPr/>
        </p:nvSpPr>
        <p:spPr>
          <a:xfrm>
            <a:off x="777240" y="178308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Survey steganography papers; identify metrics and benchmarks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4" name="Google Shape;704;p16"/>
          <p:cNvCxnSpPr/>
          <p:nvPr/>
        </p:nvCxnSpPr>
        <p:spPr>
          <a:xfrm>
            <a:off x="557784" y="190195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1B6C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05" name="Google Shape;705;p16"/>
          <p:cNvSpPr/>
          <p:nvPr/>
        </p:nvSpPr>
        <p:spPr>
          <a:xfrm>
            <a:off x="411480" y="2157984"/>
            <a:ext cx="292608" cy="292608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6"/>
          <p:cNvSpPr/>
          <p:nvPr/>
        </p:nvSpPr>
        <p:spPr>
          <a:xfrm>
            <a:off x="411480" y="215798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6"/>
          <p:cNvSpPr/>
          <p:nvPr/>
        </p:nvSpPr>
        <p:spPr>
          <a:xfrm>
            <a:off x="777240" y="2121408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Encoder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6"/>
          <p:cNvSpPr/>
          <p:nvPr/>
        </p:nvSpPr>
        <p:spPr>
          <a:xfrm>
            <a:off x="777240" y="233172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Algorithm design, delimiter strategy, bit-manipulation logic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9" name="Google Shape;709;p16"/>
          <p:cNvCxnSpPr/>
          <p:nvPr/>
        </p:nvCxnSpPr>
        <p:spPr>
          <a:xfrm>
            <a:off x="557784" y="245059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1B6C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10" name="Google Shape;710;p16"/>
          <p:cNvSpPr/>
          <p:nvPr/>
        </p:nvSpPr>
        <p:spPr>
          <a:xfrm>
            <a:off x="411480" y="2706624"/>
            <a:ext cx="292608" cy="292608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6"/>
          <p:cNvSpPr/>
          <p:nvPr/>
        </p:nvSpPr>
        <p:spPr>
          <a:xfrm>
            <a:off x="411480" y="27066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6"/>
          <p:cNvSpPr/>
          <p:nvPr/>
        </p:nvSpPr>
        <p:spPr>
          <a:xfrm>
            <a:off x="777240" y="2670048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Decoder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6"/>
          <p:cNvSpPr/>
          <p:nvPr/>
        </p:nvSpPr>
        <p:spPr>
          <a:xfrm>
            <a:off x="777240" y="288036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Reverse-extraction pipeline, efficiency optimization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4" name="Google Shape;714;p16"/>
          <p:cNvCxnSpPr/>
          <p:nvPr/>
        </p:nvCxnSpPr>
        <p:spPr>
          <a:xfrm>
            <a:off x="557784" y="299923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1B6C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15" name="Google Shape;715;p16"/>
          <p:cNvSpPr/>
          <p:nvPr/>
        </p:nvSpPr>
        <p:spPr>
          <a:xfrm>
            <a:off x="411480" y="3255264"/>
            <a:ext cx="292608" cy="292608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6"/>
          <p:cNvSpPr/>
          <p:nvPr/>
        </p:nvSpPr>
        <p:spPr>
          <a:xfrm>
            <a:off x="411480" y="325526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6"/>
          <p:cNvSpPr/>
          <p:nvPr/>
        </p:nvSpPr>
        <p:spPr>
          <a:xfrm>
            <a:off x="777240" y="3218688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6"/>
          <p:cNvSpPr/>
          <p:nvPr/>
        </p:nvSpPr>
        <p:spPr>
          <a:xfrm>
            <a:off x="777240" y="342900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3.x code in 4 modules (encoder, decoder, metrics, utils)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9" name="Google Shape;719;p16"/>
          <p:cNvCxnSpPr/>
          <p:nvPr/>
        </p:nvCxnSpPr>
        <p:spPr>
          <a:xfrm>
            <a:off x="557784" y="354787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1B6C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20" name="Google Shape;720;p16"/>
          <p:cNvSpPr/>
          <p:nvPr/>
        </p:nvSpPr>
        <p:spPr>
          <a:xfrm>
            <a:off x="411480" y="3803904"/>
            <a:ext cx="292608" cy="292608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6"/>
          <p:cNvSpPr/>
          <p:nvPr/>
        </p:nvSpPr>
        <p:spPr>
          <a:xfrm>
            <a:off x="411480" y="380390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6"/>
          <p:cNvSpPr/>
          <p:nvPr/>
        </p:nvSpPr>
        <p:spPr>
          <a:xfrm>
            <a:off x="777240" y="3767328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"/>
          <p:cNvSpPr/>
          <p:nvPr/>
        </p:nvSpPr>
        <p:spPr>
          <a:xfrm>
            <a:off x="777240" y="397764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PSNR/MSE evaluation, capacity analysis, histogram steganalysis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4" name="Google Shape;724;p16"/>
          <p:cNvCxnSpPr/>
          <p:nvPr/>
        </p:nvCxnSpPr>
        <p:spPr>
          <a:xfrm>
            <a:off x="557784" y="409651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1B6C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25" name="Google Shape;725;p16"/>
          <p:cNvSpPr/>
          <p:nvPr/>
        </p:nvSpPr>
        <p:spPr>
          <a:xfrm>
            <a:off x="411480" y="4352544"/>
            <a:ext cx="292608" cy="292608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6"/>
          <p:cNvSpPr/>
          <p:nvPr/>
        </p:nvSpPr>
        <p:spPr>
          <a:xfrm>
            <a:off x="411480" y="43525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6"/>
          <p:cNvSpPr/>
          <p:nvPr/>
        </p:nvSpPr>
        <p:spPr>
          <a:xfrm>
            <a:off x="777240" y="4315968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6"/>
          <p:cNvSpPr/>
          <p:nvPr/>
        </p:nvSpPr>
        <p:spPr>
          <a:xfrm>
            <a:off x="777240" y="452628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Compare results to published thresholds; draw conclusions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6"/>
          <p:cNvSpPr/>
          <p:nvPr/>
        </p:nvSpPr>
        <p:spPr>
          <a:xfrm>
            <a:off x="4663440" y="12344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Software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6"/>
          <p:cNvSpPr/>
          <p:nvPr/>
        </p:nvSpPr>
        <p:spPr>
          <a:xfrm>
            <a:off x="4663440" y="1536192"/>
            <a:ext cx="4114800" cy="47548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6"/>
          <p:cNvSpPr/>
          <p:nvPr/>
        </p:nvSpPr>
        <p:spPr>
          <a:xfrm>
            <a:off x="4773168" y="15727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Python 3.x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6"/>
          <p:cNvSpPr/>
          <p:nvPr/>
        </p:nvSpPr>
        <p:spPr>
          <a:xfrm>
            <a:off x="4773168" y="178308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Primary language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6"/>
          <p:cNvSpPr/>
          <p:nvPr/>
        </p:nvSpPr>
        <p:spPr>
          <a:xfrm>
            <a:off x="6858000" y="165506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Software Foundation (2024)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6"/>
          <p:cNvSpPr/>
          <p:nvPr/>
        </p:nvSpPr>
        <p:spPr>
          <a:xfrm>
            <a:off x="4663440" y="2084832"/>
            <a:ext cx="411480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6"/>
          <p:cNvSpPr/>
          <p:nvPr/>
        </p:nvSpPr>
        <p:spPr>
          <a:xfrm>
            <a:off x="4773168" y="212140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PIL / Pillow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6"/>
          <p:cNvSpPr/>
          <p:nvPr/>
        </p:nvSpPr>
        <p:spPr>
          <a:xfrm>
            <a:off x="4773168" y="233172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Image I/O &amp; pixel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6"/>
          <p:cNvSpPr/>
          <p:nvPr/>
        </p:nvSpPr>
        <p:spPr>
          <a:xfrm>
            <a:off x="6858000" y="220370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Clark et al. (2024)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6"/>
          <p:cNvSpPr/>
          <p:nvPr/>
        </p:nvSpPr>
        <p:spPr>
          <a:xfrm>
            <a:off x="4663440" y="2633472"/>
            <a:ext cx="4114800" cy="47548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6"/>
          <p:cNvSpPr/>
          <p:nvPr/>
        </p:nvSpPr>
        <p:spPr>
          <a:xfrm>
            <a:off x="4773168" y="267004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6"/>
          <p:cNvSpPr/>
          <p:nvPr/>
        </p:nvSpPr>
        <p:spPr>
          <a:xfrm>
            <a:off x="4773168" y="288036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Array ops &amp; bit manipulation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6"/>
          <p:cNvSpPr/>
          <p:nvPr/>
        </p:nvSpPr>
        <p:spPr>
          <a:xfrm>
            <a:off x="6858000" y="275234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NumPy Community (2024)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6"/>
          <p:cNvSpPr/>
          <p:nvPr/>
        </p:nvSpPr>
        <p:spPr>
          <a:xfrm>
            <a:off x="4663440" y="3182112"/>
            <a:ext cx="411480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6"/>
          <p:cNvSpPr/>
          <p:nvPr/>
        </p:nvSpPr>
        <p:spPr>
          <a:xfrm>
            <a:off x="4773168" y="321868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6"/>
          <p:cNvSpPr/>
          <p:nvPr/>
        </p:nvSpPr>
        <p:spPr>
          <a:xfrm>
            <a:off x="4773168" y="342900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LSB histogram visualization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6"/>
          <p:cNvSpPr/>
          <p:nvPr/>
        </p:nvSpPr>
        <p:spPr>
          <a:xfrm>
            <a:off x="6858000" y="330098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Matplotlib Dev Team (2024)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6"/>
          <p:cNvSpPr/>
          <p:nvPr/>
        </p:nvSpPr>
        <p:spPr>
          <a:xfrm>
            <a:off x="4663440" y="3730752"/>
            <a:ext cx="4114800" cy="47548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6"/>
          <p:cNvSpPr/>
          <p:nvPr/>
        </p:nvSpPr>
        <p:spPr>
          <a:xfrm>
            <a:off x="4773168" y="376732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Jupyter / VS Code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6"/>
          <p:cNvSpPr/>
          <p:nvPr/>
        </p:nvSpPr>
        <p:spPr>
          <a:xfrm>
            <a:off x="4773168" y="397764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 &amp; notebooks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6"/>
          <p:cNvSpPr/>
          <p:nvPr/>
        </p:nvSpPr>
        <p:spPr>
          <a:xfrm>
            <a:off x="6858000" y="384962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Interactive development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6"/>
          <p:cNvSpPr/>
          <p:nvPr/>
        </p:nvSpPr>
        <p:spPr>
          <a:xfrm>
            <a:off x="4663440" y="4279392"/>
            <a:ext cx="411480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6"/>
          <p:cNvSpPr/>
          <p:nvPr/>
        </p:nvSpPr>
        <p:spPr>
          <a:xfrm>
            <a:off x="4773168" y="4315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6"/>
          <p:cNvSpPr/>
          <p:nvPr/>
        </p:nvSpPr>
        <p:spPr>
          <a:xfrm>
            <a:off x="4773168" y="452628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Version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6"/>
          <p:cNvSpPr/>
          <p:nvPr/>
        </p:nvSpPr>
        <p:spPr>
          <a:xfrm>
            <a:off x="6858000" y="439826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source code tracking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7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7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&amp; Evaluation — Image Quality Metrics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7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PSNR and MSE as Primary Evaluation Instruments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7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7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7"/>
          <p:cNvSpPr/>
          <p:nvPr/>
        </p:nvSpPr>
        <p:spPr>
          <a:xfrm>
            <a:off x="411480" y="1234440"/>
            <a:ext cx="4023360" cy="21031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7"/>
          <p:cNvSpPr/>
          <p:nvPr/>
        </p:nvSpPr>
        <p:spPr>
          <a:xfrm>
            <a:off x="411480" y="1234440"/>
            <a:ext cx="4023360" cy="36576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7"/>
          <p:cNvSpPr/>
          <p:nvPr/>
        </p:nvSpPr>
        <p:spPr>
          <a:xfrm>
            <a:off x="502920" y="1261872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PSNR — Peak Signal-to-Noise Ratio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7"/>
          <p:cNvSpPr/>
          <p:nvPr/>
        </p:nvSpPr>
        <p:spPr>
          <a:xfrm>
            <a:off x="530352" y="1664208"/>
            <a:ext cx="37947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Formula: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PSNR = 10 × log₁₀(MAX² / MSE)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Unit: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Decibels (dB)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Threshold: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≥ 40 dB = visually acceptable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(Based on Hussain et al. 2018 consensus)</a:t>
            </a:r>
            <a:br>
              <a:rPr b="0" i="1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1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Interpretation: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Higher PSNR = better quality. 1-bit LSB typically achieves 50–55 dB.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7"/>
          <p:cNvSpPr/>
          <p:nvPr/>
        </p:nvSpPr>
        <p:spPr>
          <a:xfrm>
            <a:off x="4709160" y="1234440"/>
            <a:ext cx="4023360" cy="21031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7"/>
          <p:cNvSpPr/>
          <p:nvPr/>
        </p:nvSpPr>
        <p:spPr>
          <a:xfrm>
            <a:off x="4709160" y="1234440"/>
            <a:ext cx="4023360" cy="3657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7"/>
          <p:cNvSpPr/>
          <p:nvPr/>
        </p:nvSpPr>
        <p:spPr>
          <a:xfrm>
            <a:off x="4800600" y="1261872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MSE — Mean Squared 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7"/>
          <p:cNvSpPr/>
          <p:nvPr/>
        </p:nvSpPr>
        <p:spPr>
          <a:xfrm>
            <a:off x="4828032" y="1664208"/>
            <a:ext cx="37947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Formula: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MSE = (1/M×N) × Σ(I(i,j) − K(i,j))²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 = cover image, K = stego-image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Threshold: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0 = stego-image identical to cover</a:t>
            </a: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Relationship: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PSNR and MSE are inversely proportional — both are required for complete evaluation.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7"/>
          <p:cNvSpPr/>
          <p:nvPr/>
        </p:nvSpPr>
        <p:spPr>
          <a:xfrm>
            <a:off x="411480" y="342900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Experimental Test Matrix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7"/>
          <p:cNvSpPr/>
          <p:nvPr/>
        </p:nvSpPr>
        <p:spPr>
          <a:xfrm>
            <a:off x="411480" y="3721608"/>
            <a:ext cx="1463040" cy="274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7"/>
          <p:cNvSpPr/>
          <p:nvPr/>
        </p:nvSpPr>
        <p:spPr>
          <a:xfrm>
            <a:off x="448056" y="3739896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Size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7"/>
          <p:cNvSpPr/>
          <p:nvPr/>
        </p:nvSpPr>
        <p:spPr>
          <a:xfrm>
            <a:off x="1874520" y="3721608"/>
            <a:ext cx="1371600" cy="27432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7"/>
          <p:cNvSpPr/>
          <p:nvPr/>
        </p:nvSpPr>
        <p:spPr>
          <a:xfrm>
            <a:off x="1911096" y="3739896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 chars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7"/>
          <p:cNvSpPr/>
          <p:nvPr/>
        </p:nvSpPr>
        <p:spPr>
          <a:xfrm>
            <a:off x="3246120" y="3721608"/>
            <a:ext cx="1371600" cy="27432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7"/>
          <p:cNvSpPr/>
          <p:nvPr/>
        </p:nvSpPr>
        <p:spPr>
          <a:xfrm>
            <a:off x="3282696" y="3739896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500 chars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7"/>
          <p:cNvSpPr/>
          <p:nvPr/>
        </p:nvSpPr>
        <p:spPr>
          <a:xfrm>
            <a:off x="4617720" y="3721608"/>
            <a:ext cx="1371600" cy="27432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7"/>
          <p:cNvSpPr/>
          <p:nvPr/>
        </p:nvSpPr>
        <p:spPr>
          <a:xfrm>
            <a:off x="4654296" y="3739896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1,000 chars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7"/>
          <p:cNvSpPr/>
          <p:nvPr/>
        </p:nvSpPr>
        <p:spPr>
          <a:xfrm>
            <a:off x="5989320" y="3721608"/>
            <a:ext cx="1371600" cy="27432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7"/>
          <p:cNvSpPr/>
          <p:nvPr/>
        </p:nvSpPr>
        <p:spPr>
          <a:xfrm>
            <a:off x="6025896" y="3739896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5,000 chars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7"/>
          <p:cNvSpPr/>
          <p:nvPr/>
        </p:nvSpPr>
        <p:spPr>
          <a:xfrm>
            <a:off x="7360920" y="3721608"/>
            <a:ext cx="1371600" cy="27432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7"/>
          <p:cNvSpPr/>
          <p:nvPr/>
        </p:nvSpPr>
        <p:spPr>
          <a:xfrm>
            <a:off x="7397496" y="3739896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10,000 chars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7"/>
          <p:cNvSpPr/>
          <p:nvPr/>
        </p:nvSpPr>
        <p:spPr>
          <a:xfrm>
            <a:off x="411480" y="4023360"/>
            <a:ext cx="1463040" cy="228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7"/>
          <p:cNvSpPr/>
          <p:nvPr/>
        </p:nvSpPr>
        <p:spPr>
          <a:xfrm>
            <a:off x="448056" y="4041648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512×512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7"/>
          <p:cNvSpPr/>
          <p:nvPr/>
        </p:nvSpPr>
        <p:spPr>
          <a:xfrm>
            <a:off x="1874520" y="4023360"/>
            <a:ext cx="1371600" cy="228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7"/>
          <p:cNvSpPr/>
          <p:nvPr/>
        </p:nvSpPr>
        <p:spPr>
          <a:xfrm>
            <a:off x="1911096" y="4041648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7"/>
          <p:cNvSpPr/>
          <p:nvPr/>
        </p:nvSpPr>
        <p:spPr>
          <a:xfrm>
            <a:off x="3246120" y="4023360"/>
            <a:ext cx="1371600" cy="228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7"/>
          <p:cNvSpPr/>
          <p:nvPr/>
        </p:nvSpPr>
        <p:spPr>
          <a:xfrm>
            <a:off x="3282696" y="4041648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7"/>
          <p:cNvSpPr/>
          <p:nvPr/>
        </p:nvSpPr>
        <p:spPr>
          <a:xfrm>
            <a:off x="4617720" y="4023360"/>
            <a:ext cx="1371600" cy="228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7"/>
          <p:cNvSpPr/>
          <p:nvPr/>
        </p:nvSpPr>
        <p:spPr>
          <a:xfrm>
            <a:off x="4654296" y="4041648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7"/>
          <p:cNvSpPr/>
          <p:nvPr/>
        </p:nvSpPr>
        <p:spPr>
          <a:xfrm>
            <a:off x="5989320" y="4023360"/>
            <a:ext cx="1371600" cy="228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7"/>
          <p:cNvSpPr/>
          <p:nvPr/>
        </p:nvSpPr>
        <p:spPr>
          <a:xfrm>
            <a:off x="6025896" y="4041648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~&gt;48dB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7"/>
          <p:cNvSpPr/>
          <p:nvPr/>
        </p:nvSpPr>
        <p:spPr>
          <a:xfrm>
            <a:off x="7360920" y="4023360"/>
            <a:ext cx="1371600" cy="228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7"/>
          <p:cNvSpPr/>
          <p:nvPr/>
        </p:nvSpPr>
        <p:spPr>
          <a:xfrm>
            <a:off x="7397496" y="4041648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~&gt;40dB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7"/>
          <p:cNvSpPr/>
          <p:nvPr/>
        </p:nvSpPr>
        <p:spPr>
          <a:xfrm>
            <a:off x="411480" y="4279392"/>
            <a:ext cx="146304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7"/>
          <p:cNvSpPr/>
          <p:nvPr/>
        </p:nvSpPr>
        <p:spPr>
          <a:xfrm>
            <a:off x="448056" y="4297680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1024×768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7"/>
          <p:cNvSpPr/>
          <p:nvPr/>
        </p:nvSpPr>
        <p:spPr>
          <a:xfrm>
            <a:off x="1874520" y="4279392"/>
            <a:ext cx="13716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7"/>
          <p:cNvSpPr/>
          <p:nvPr/>
        </p:nvSpPr>
        <p:spPr>
          <a:xfrm>
            <a:off x="1911096" y="429768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7"/>
          <p:cNvSpPr/>
          <p:nvPr/>
        </p:nvSpPr>
        <p:spPr>
          <a:xfrm>
            <a:off x="3246120" y="4279392"/>
            <a:ext cx="13716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7"/>
          <p:cNvSpPr/>
          <p:nvPr/>
        </p:nvSpPr>
        <p:spPr>
          <a:xfrm>
            <a:off x="3282696" y="429768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7"/>
          <p:cNvSpPr/>
          <p:nvPr/>
        </p:nvSpPr>
        <p:spPr>
          <a:xfrm>
            <a:off x="4617720" y="4279392"/>
            <a:ext cx="13716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7"/>
          <p:cNvSpPr/>
          <p:nvPr/>
        </p:nvSpPr>
        <p:spPr>
          <a:xfrm>
            <a:off x="4654296" y="429768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7"/>
          <p:cNvSpPr/>
          <p:nvPr/>
        </p:nvSpPr>
        <p:spPr>
          <a:xfrm>
            <a:off x="5989320" y="4279392"/>
            <a:ext cx="13716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7"/>
          <p:cNvSpPr/>
          <p:nvPr/>
        </p:nvSpPr>
        <p:spPr>
          <a:xfrm>
            <a:off x="6025896" y="429768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7"/>
          <p:cNvSpPr/>
          <p:nvPr/>
        </p:nvSpPr>
        <p:spPr>
          <a:xfrm>
            <a:off x="7360920" y="4279392"/>
            <a:ext cx="13716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7"/>
          <p:cNvSpPr/>
          <p:nvPr/>
        </p:nvSpPr>
        <p:spPr>
          <a:xfrm>
            <a:off x="7397496" y="429768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7"/>
          <p:cNvSpPr/>
          <p:nvPr/>
        </p:nvSpPr>
        <p:spPr>
          <a:xfrm>
            <a:off x="411480" y="4535424"/>
            <a:ext cx="1463040" cy="228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7"/>
          <p:cNvSpPr/>
          <p:nvPr/>
        </p:nvSpPr>
        <p:spPr>
          <a:xfrm>
            <a:off x="448056" y="4553712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1920×1080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7"/>
          <p:cNvSpPr/>
          <p:nvPr/>
        </p:nvSpPr>
        <p:spPr>
          <a:xfrm>
            <a:off x="1874520" y="4535424"/>
            <a:ext cx="1371600" cy="228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7"/>
          <p:cNvSpPr/>
          <p:nvPr/>
        </p:nvSpPr>
        <p:spPr>
          <a:xfrm>
            <a:off x="1911096" y="4553712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7"/>
          <p:cNvSpPr/>
          <p:nvPr/>
        </p:nvSpPr>
        <p:spPr>
          <a:xfrm>
            <a:off x="3246120" y="4535424"/>
            <a:ext cx="1371600" cy="228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7"/>
          <p:cNvSpPr/>
          <p:nvPr/>
        </p:nvSpPr>
        <p:spPr>
          <a:xfrm>
            <a:off x="3282696" y="4553712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7"/>
          <p:cNvSpPr/>
          <p:nvPr/>
        </p:nvSpPr>
        <p:spPr>
          <a:xfrm>
            <a:off x="4617720" y="4535424"/>
            <a:ext cx="1371600" cy="228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7"/>
          <p:cNvSpPr/>
          <p:nvPr/>
        </p:nvSpPr>
        <p:spPr>
          <a:xfrm>
            <a:off x="4654296" y="4553712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7"/>
          <p:cNvSpPr/>
          <p:nvPr/>
        </p:nvSpPr>
        <p:spPr>
          <a:xfrm>
            <a:off x="5989320" y="4535424"/>
            <a:ext cx="1371600" cy="228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7"/>
          <p:cNvSpPr/>
          <p:nvPr/>
        </p:nvSpPr>
        <p:spPr>
          <a:xfrm>
            <a:off x="6025896" y="4553712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7"/>
          <p:cNvSpPr/>
          <p:nvPr/>
        </p:nvSpPr>
        <p:spPr>
          <a:xfrm>
            <a:off x="7360920" y="4535424"/>
            <a:ext cx="1371600" cy="228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7"/>
          <p:cNvSpPr/>
          <p:nvPr/>
        </p:nvSpPr>
        <p:spPr>
          <a:xfrm>
            <a:off x="7397496" y="4553712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~&gt;51dB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7"/>
          <p:cNvSpPr/>
          <p:nvPr/>
        </p:nvSpPr>
        <p:spPr>
          <a:xfrm>
            <a:off x="411480" y="4818888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Expected PSNR values based on theoretical LSB analysis (Hussain et al., 2018). Actual values to be measured empirically.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8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8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Steganalysis &amp; Robustness Testing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8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Can the Hidden Message Be Detected or Destroyed?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8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411480" y="1234440"/>
            <a:ext cx="3931920" cy="27432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8"/>
          <p:cNvSpPr/>
          <p:nvPr/>
        </p:nvSpPr>
        <p:spPr>
          <a:xfrm>
            <a:off x="502920" y="129844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Steganalysis: LSB Histogram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530352" y="1572768"/>
            <a:ext cx="3703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Natural image LSBs: </a:t>
            </a: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roughly equal count of 0s and 1s (balanced distribution)</a:t>
            </a:r>
            <a:b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After LSB embedding: </a:t>
            </a: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distribution shifts, especially near 0/1 boundaries — detectable via chi-square analysis (Fridrich et al., 2001)</a:t>
            </a:r>
            <a:b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study will:</a:t>
            </a:r>
            <a:b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Plot LSB histogram before embedding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Plot LSB histogram after embedding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Compare distributions visually and statistically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Determine whether the embedding is detectable at various fill ratios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4663440" y="1234440"/>
            <a:ext cx="4069080" cy="274320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8"/>
          <p:cNvSpPr/>
          <p:nvPr/>
        </p:nvSpPr>
        <p:spPr>
          <a:xfrm>
            <a:off x="4773168" y="12984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Robustness: JPEG Compression Attack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8"/>
          <p:cNvSpPr/>
          <p:nvPr/>
        </p:nvSpPr>
        <p:spPr>
          <a:xfrm>
            <a:off x="4773168" y="160020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protocol:</a:t>
            </a:r>
            <a:b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Stego-image saved as JPEG at 4 quality levels</a:t>
            </a:r>
            <a:b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8"/>
          <p:cNvSpPr/>
          <p:nvPr/>
        </p:nvSpPr>
        <p:spPr>
          <a:xfrm>
            <a:off x="4663440" y="2084832"/>
            <a:ext cx="40690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EC5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8"/>
          <p:cNvSpPr/>
          <p:nvPr/>
        </p:nvSpPr>
        <p:spPr>
          <a:xfrm>
            <a:off x="4773168" y="214884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25% Quality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8"/>
          <p:cNvSpPr/>
          <p:nvPr/>
        </p:nvSpPr>
        <p:spPr>
          <a:xfrm>
            <a:off x="5943600" y="214884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Near-total pixel destruction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8"/>
          <p:cNvSpPr/>
          <p:nvPr/>
        </p:nvSpPr>
        <p:spPr>
          <a:xfrm>
            <a:off x="4663440" y="2468880"/>
            <a:ext cx="4069080" cy="347472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FEC5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8"/>
          <p:cNvSpPr/>
          <p:nvPr/>
        </p:nvSpPr>
        <p:spPr>
          <a:xfrm>
            <a:off x="4773168" y="253288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50% Quality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8"/>
          <p:cNvSpPr/>
          <p:nvPr/>
        </p:nvSpPr>
        <p:spPr>
          <a:xfrm>
            <a:off x="5943600" y="25328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Complete message loss expected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8"/>
          <p:cNvSpPr/>
          <p:nvPr/>
        </p:nvSpPr>
        <p:spPr>
          <a:xfrm>
            <a:off x="4663440" y="2852928"/>
            <a:ext cx="40690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EC5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8"/>
          <p:cNvSpPr/>
          <p:nvPr/>
        </p:nvSpPr>
        <p:spPr>
          <a:xfrm>
            <a:off x="4773168" y="2916936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75% Quality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8"/>
          <p:cNvSpPr/>
          <p:nvPr/>
        </p:nvSpPr>
        <p:spPr>
          <a:xfrm>
            <a:off x="5943600" y="291693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Significant degradation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8"/>
          <p:cNvSpPr/>
          <p:nvPr/>
        </p:nvSpPr>
        <p:spPr>
          <a:xfrm>
            <a:off x="4663440" y="3236976"/>
            <a:ext cx="4069080" cy="347472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FEC5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8"/>
          <p:cNvSpPr/>
          <p:nvPr/>
        </p:nvSpPr>
        <p:spPr>
          <a:xfrm>
            <a:off x="4773168" y="3300984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100% Quality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8"/>
          <p:cNvSpPr/>
          <p:nvPr/>
        </p:nvSpPr>
        <p:spPr>
          <a:xfrm>
            <a:off x="5943600" y="330098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Partial loss (JPEG still lossy)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8"/>
          <p:cNvSpPr/>
          <p:nvPr/>
        </p:nvSpPr>
        <p:spPr>
          <a:xfrm>
            <a:off x="4773168" y="363931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Hypothesis: </a:t>
            </a: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LSB is NOT robust against any level of JPEG compression. This test provides quantitative evidence, confirming the PNG-only constraint.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8"/>
          <p:cNvSpPr/>
          <p:nvPr/>
        </p:nvSpPr>
        <p:spPr>
          <a:xfrm>
            <a:off x="411480" y="4041648"/>
            <a:ext cx="8321040" cy="658368"/>
          </a:xfrm>
          <a:prstGeom prst="rect">
            <a:avLst/>
          </a:prstGeom>
          <a:solidFill>
            <a:srgbClr val="FEF9C3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8"/>
          <p:cNvSpPr/>
          <p:nvPr/>
        </p:nvSpPr>
        <p:spPr>
          <a:xfrm>
            <a:off x="548640" y="409651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Scope Note on Steganalysis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8"/>
          <p:cNvSpPr/>
          <p:nvPr/>
        </p:nvSpPr>
        <p:spPr>
          <a:xfrm>
            <a:off x="548640" y="4297680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study uses visual histogram comparison only. Advanced statistical attacks (RS analysis by Fridrich et al., 2001; SRM by Pevny et al., 2010) are reviewed in the literature but not implemented — identified as future work.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9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9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Expected Results &amp; Contributions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9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Anticipated Findings Based on Literature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9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9"/>
          <p:cNvSpPr/>
          <p:nvPr/>
        </p:nvSpPr>
        <p:spPr>
          <a:xfrm>
            <a:off x="411480" y="1234440"/>
            <a:ext cx="4069080" cy="10058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9"/>
          <p:cNvSpPr/>
          <p:nvPr/>
        </p:nvSpPr>
        <p:spPr>
          <a:xfrm>
            <a:off x="411480" y="1234440"/>
            <a:ext cx="64008" cy="10058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9"/>
          <p:cNvSpPr/>
          <p:nvPr/>
        </p:nvSpPr>
        <p:spPr>
          <a:xfrm>
            <a:off x="594360" y="1307592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R1 — Functional Encoder/Decoder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9"/>
          <p:cNvSpPr/>
          <p:nvPr/>
        </p:nvSpPr>
        <p:spPr>
          <a:xfrm>
            <a:off x="594360" y="156362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working Python system that successfully embeds and recovers UTF-8 text in PNG images without data loss, demonstrated on test images of 3 resolutions.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9"/>
          <p:cNvSpPr/>
          <p:nvPr/>
        </p:nvSpPr>
        <p:spPr>
          <a:xfrm>
            <a:off x="4846320" y="1234440"/>
            <a:ext cx="4069080" cy="10058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9"/>
          <p:cNvSpPr/>
          <p:nvPr/>
        </p:nvSpPr>
        <p:spPr>
          <a:xfrm>
            <a:off x="4846320" y="1234440"/>
            <a:ext cx="64008" cy="1005840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9"/>
          <p:cNvSpPr/>
          <p:nvPr/>
        </p:nvSpPr>
        <p:spPr>
          <a:xfrm>
            <a:off x="5029200" y="1307592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R2 — PSNR &gt; 40 dB at Low-Medium Fill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9"/>
          <p:cNvSpPr/>
          <p:nvPr/>
        </p:nvSpPr>
        <p:spPr>
          <a:xfrm>
            <a:off x="5029200" y="156362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 fill ratios ≤ 50%, stego-images should achieve PSNR well above the 40 dB threshold, confirming imperceptibility for practical use cases.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9"/>
          <p:cNvSpPr/>
          <p:nvPr/>
        </p:nvSpPr>
        <p:spPr>
          <a:xfrm>
            <a:off x="411480" y="2377440"/>
            <a:ext cx="4069080" cy="10058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9"/>
          <p:cNvSpPr/>
          <p:nvPr/>
        </p:nvSpPr>
        <p:spPr>
          <a:xfrm>
            <a:off x="411480" y="2377440"/>
            <a:ext cx="64008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9"/>
          <p:cNvSpPr/>
          <p:nvPr/>
        </p:nvSpPr>
        <p:spPr>
          <a:xfrm>
            <a:off x="594360" y="2450592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R3 — LSB Histogram Shift 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9"/>
          <p:cNvSpPr/>
          <p:nvPr/>
        </p:nvSpPr>
        <p:spPr>
          <a:xfrm>
            <a:off x="594360" y="270662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Histogram analysis will show statistical changes at high fill ratios (&gt;75%), validating the basic chi-square steganalysis principle from Fridrich et al. (2001).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9"/>
          <p:cNvSpPr/>
          <p:nvPr/>
        </p:nvSpPr>
        <p:spPr>
          <a:xfrm>
            <a:off x="4846320" y="2377440"/>
            <a:ext cx="4069080" cy="10058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9"/>
          <p:cNvSpPr/>
          <p:nvPr/>
        </p:nvSpPr>
        <p:spPr>
          <a:xfrm>
            <a:off x="4846320" y="2377440"/>
            <a:ext cx="64008" cy="10058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9"/>
          <p:cNvSpPr/>
          <p:nvPr/>
        </p:nvSpPr>
        <p:spPr>
          <a:xfrm>
            <a:off x="5029200" y="2450592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R4 — JPEG Destroys LSB at All Quality Levels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9"/>
          <p:cNvSpPr/>
          <p:nvPr/>
        </p:nvSpPr>
        <p:spPr>
          <a:xfrm>
            <a:off x="5029200" y="270662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Even 100% JPEG quality will introduce pixel errors. This empirically confirms the PNG-only constraint for LSB steganography implementations.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9"/>
          <p:cNvSpPr/>
          <p:nvPr/>
        </p:nvSpPr>
        <p:spPr>
          <a:xfrm>
            <a:off x="411480" y="3566160"/>
            <a:ext cx="8321040" cy="8046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9"/>
          <p:cNvSpPr/>
          <p:nvPr/>
        </p:nvSpPr>
        <p:spPr>
          <a:xfrm>
            <a:off x="411480" y="3566160"/>
            <a:ext cx="64008" cy="8046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9"/>
          <p:cNvSpPr/>
          <p:nvPr/>
        </p:nvSpPr>
        <p:spPr>
          <a:xfrm>
            <a:off x="566928" y="361188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R5 — Practical Capacity Guidelines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9"/>
          <p:cNvSpPr/>
          <p:nvPr/>
        </p:nvSpPr>
        <p:spPr>
          <a:xfrm>
            <a:off x="566928" y="3858768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reference table mapping image resolution → max recommended message length (to maintain PSNR &gt; 40 dB) will be produced as a practitioner guide.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9"/>
          <p:cNvSpPr/>
          <p:nvPr/>
        </p:nvSpPr>
        <p:spPr>
          <a:xfrm>
            <a:off x="411480" y="4818888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Speaker Notes: Frame these as hypotheses grounded in existing literature, not guarantees. This demonstrates scientific rigor.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2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0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Expected Challenges &amp; Limitations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0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Honest Assessment of Research Boundaries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0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0"/>
          <p:cNvSpPr/>
          <p:nvPr/>
        </p:nvSpPr>
        <p:spPr>
          <a:xfrm>
            <a:off x="411480" y="1234440"/>
            <a:ext cx="4023360" cy="1051560"/>
          </a:xfrm>
          <a:prstGeom prst="rect">
            <a:avLst/>
          </a:prstGeom>
          <a:solidFill>
            <a:srgbClr val="FEFCE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0"/>
          <p:cNvSpPr/>
          <p:nvPr/>
        </p:nvSpPr>
        <p:spPr>
          <a:xfrm>
            <a:off x="3931920" y="1307592"/>
            <a:ext cx="438912" cy="228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0"/>
          <p:cNvSpPr/>
          <p:nvPr/>
        </p:nvSpPr>
        <p:spPr>
          <a:xfrm>
            <a:off x="3931920" y="1307592"/>
            <a:ext cx="4389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0"/>
          <p:cNvSpPr/>
          <p:nvPr/>
        </p:nvSpPr>
        <p:spPr>
          <a:xfrm>
            <a:off x="548640" y="13258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Steganalysis 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0"/>
          <p:cNvSpPr/>
          <p:nvPr/>
        </p:nvSpPr>
        <p:spPr>
          <a:xfrm>
            <a:off x="548640" y="161848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study uses histogram visual analysis only. Statistical attacks (RS analysis, SRM) require deeper ML expertise and are left for future work.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0"/>
          <p:cNvSpPr/>
          <p:nvPr/>
        </p:nvSpPr>
        <p:spPr>
          <a:xfrm>
            <a:off x="4800600" y="1234440"/>
            <a:ext cx="4023360" cy="1051560"/>
          </a:xfrm>
          <a:prstGeom prst="rect">
            <a:avLst/>
          </a:prstGeom>
          <a:solidFill>
            <a:srgbClr val="FEFCE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0"/>
          <p:cNvSpPr/>
          <p:nvPr/>
        </p:nvSpPr>
        <p:spPr>
          <a:xfrm>
            <a:off x="8321040" y="1307592"/>
            <a:ext cx="438912" cy="228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0"/>
          <p:cNvSpPr/>
          <p:nvPr/>
        </p:nvSpPr>
        <p:spPr>
          <a:xfrm>
            <a:off x="8321040" y="1307592"/>
            <a:ext cx="4389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0"/>
          <p:cNvSpPr/>
          <p:nvPr/>
        </p:nvSpPr>
        <p:spPr>
          <a:xfrm>
            <a:off x="4937760" y="13258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No Encryption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0"/>
          <p:cNvSpPr/>
          <p:nvPr/>
        </p:nvSpPr>
        <p:spPr>
          <a:xfrm>
            <a:off x="4937760" y="161848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LSB alone does not encrypt. If the stego-image is found, the message is readable. Future work should combine with AES encryption (not in scope here).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0"/>
          <p:cNvSpPr/>
          <p:nvPr/>
        </p:nvSpPr>
        <p:spPr>
          <a:xfrm>
            <a:off x="411480" y="2468880"/>
            <a:ext cx="4023360" cy="105156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0"/>
          <p:cNvSpPr/>
          <p:nvPr/>
        </p:nvSpPr>
        <p:spPr>
          <a:xfrm>
            <a:off x="3931920" y="2542032"/>
            <a:ext cx="438912" cy="2286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0"/>
          <p:cNvSpPr/>
          <p:nvPr/>
        </p:nvSpPr>
        <p:spPr>
          <a:xfrm>
            <a:off x="3931920" y="2542032"/>
            <a:ext cx="4389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0"/>
          <p:cNvSpPr/>
          <p:nvPr/>
        </p:nvSpPr>
        <p:spPr>
          <a:xfrm>
            <a:off x="548640" y="25603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JPEG Vulnerability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0"/>
          <p:cNvSpPr/>
          <p:nvPr/>
        </p:nvSpPr>
        <p:spPr>
          <a:xfrm>
            <a:off x="548640" y="285292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fundamental weakness of spatial-domain LSB — any lossy format destroys the message. PNG is the hard constraint.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0"/>
          <p:cNvSpPr/>
          <p:nvPr/>
        </p:nvSpPr>
        <p:spPr>
          <a:xfrm>
            <a:off x="4800600" y="2468880"/>
            <a:ext cx="4023360" cy="105156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0"/>
          <p:cNvSpPr/>
          <p:nvPr/>
        </p:nvSpPr>
        <p:spPr>
          <a:xfrm>
            <a:off x="8321040" y="2542032"/>
            <a:ext cx="438912" cy="2286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0"/>
          <p:cNvSpPr/>
          <p:nvPr/>
        </p:nvSpPr>
        <p:spPr>
          <a:xfrm>
            <a:off x="8321040" y="2542032"/>
            <a:ext cx="4389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0"/>
          <p:cNvSpPr/>
          <p:nvPr/>
        </p:nvSpPr>
        <p:spPr>
          <a:xfrm>
            <a:off x="4937760" y="25603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Single-Bit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0"/>
          <p:cNvSpPr/>
          <p:nvPr/>
        </p:nvSpPr>
        <p:spPr>
          <a:xfrm>
            <a:off x="4937760" y="285292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2-bit or 3-bit LSB variants offer higher capacity but reduced imperceptibility. This research validates 1-bit only, which limits capacity comparison.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0"/>
          <p:cNvSpPr/>
          <p:nvPr/>
        </p:nvSpPr>
        <p:spPr>
          <a:xfrm>
            <a:off x="411480" y="3703320"/>
            <a:ext cx="4023360" cy="105156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0"/>
          <p:cNvSpPr/>
          <p:nvPr/>
        </p:nvSpPr>
        <p:spPr>
          <a:xfrm>
            <a:off x="3931920" y="3776472"/>
            <a:ext cx="438912" cy="2286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0"/>
          <p:cNvSpPr/>
          <p:nvPr/>
        </p:nvSpPr>
        <p:spPr>
          <a:xfrm>
            <a:off x="3931920" y="3776472"/>
            <a:ext cx="4389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0"/>
          <p:cNvSpPr/>
          <p:nvPr/>
        </p:nvSpPr>
        <p:spPr>
          <a:xfrm>
            <a:off x="548640" y="379476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No Perceptual Metric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0"/>
          <p:cNvSpPr/>
          <p:nvPr/>
        </p:nvSpPr>
        <p:spPr>
          <a:xfrm>
            <a:off x="548640" y="408736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SSIM (Structural Similarity Index) is excluded from scope. PSNR/MSE alone may not fully capture perceptual quality in all image types.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0"/>
          <p:cNvSpPr/>
          <p:nvPr/>
        </p:nvSpPr>
        <p:spPr>
          <a:xfrm>
            <a:off x="4800600" y="3703320"/>
            <a:ext cx="4023360" cy="1051560"/>
          </a:xfrm>
          <a:prstGeom prst="rect">
            <a:avLst/>
          </a:prstGeom>
          <a:solidFill>
            <a:srgbClr val="FEFCE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0"/>
          <p:cNvSpPr/>
          <p:nvPr/>
        </p:nvSpPr>
        <p:spPr>
          <a:xfrm>
            <a:off x="8321040" y="3776472"/>
            <a:ext cx="438912" cy="228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0"/>
          <p:cNvSpPr/>
          <p:nvPr/>
        </p:nvSpPr>
        <p:spPr>
          <a:xfrm>
            <a:off x="8321040" y="3776472"/>
            <a:ext cx="4389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0"/>
          <p:cNvSpPr/>
          <p:nvPr/>
        </p:nvSpPr>
        <p:spPr>
          <a:xfrm>
            <a:off x="4937760" y="379476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Test Dataset 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0"/>
          <p:cNvSpPr/>
          <p:nvPr/>
        </p:nvSpPr>
        <p:spPr>
          <a:xfrm>
            <a:off x="4937760" y="408736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Experiments use a limited set of standard test images. Generalizability across all image types (medical, satellite, text-heavy) is not claimed.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 &amp; Extensions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Building on This Research Foundation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1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1"/>
          <p:cNvSpPr/>
          <p:nvPr/>
        </p:nvSpPr>
        <p:spPr>
          <a:xfrm>
            <a:off x="411480" y="1234440"/>
            <a:ext cx="2697480" cy="35204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1"/>
          <p:cNvSpPr/>
          <p:nvPr/>
        </p:nvSpPr>
        <p:spPr>
          <a:xfrm>
            <a:off x="411480" y="1234440"/>
            <a:ext cx="2697480" cy="384048"/>
          </a:xfrm>
          <a:prstGeom prst="rect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1"/>
          <p:cNvSpPr/>
          <p:nvPr/>
        </p:nvSpPr>
        <p:spPr>
          <a:xfrm>
            <a:off x="502920" y="1261872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Near-Term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1"/>
          <p:cNvSpPr/>
          <p:nvPr/>
        </p:nvSpPr>
        <p:spPr>
          <a:xfrm>
            <a:off x="548640" y="1764792"/>
            <a:ext cx="182880" cy="182880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1"/>
          <p:cNvSpPr/>
          <p:nvPr/>
        </p:nvSpPr>
        <p:spPr>
          <a:xfrm>
            <a:off x="804672" y="1719072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AES-256 encryption layer before LSB embedding (steganography + cryptography)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1"/>
          <p:cNvSpPr/>
          <p:nvPr/>
        </p:nvSpPr>
        <p:spPr>
          <a:xfrm>
            <a:off x="548640" y="2752344"/>
            <a:ext cx="182880" cy="182880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1"/>
          <p:cNvSpPr/>
          <p:nvPr/>
        </p:nvSpPr>
        <p:spPr>
          <a:xfrm>
            <a:off x="804672" y="2706624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 2-bit and 3-bit LSB variants — evaluate capacity/quality trade-offs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1"/>
          <p:cNvSpPr/>
          <p:nvPr/>
        </p:nvSpPr>
        <p:spPr>
          <a:xfrm>
            <a:off x="548640" y="3739896"/>
            <a:ext cx="182880" cy="182880"/>
          </a:xfrm>
          <a:prstGeom prst="ellipse">
            <a:avLst/>
          </a:prstGeom>
          <a:solidFill>
            <a:srgbClr val="1B6CA8"/>
          </a:solidFill>
          <a:ln cap="flat" cmpd="sng" w="127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1"/>
          <p:cNvSpPr/>
          <p:nvPr/>
        </p:nvSpPr>
        <p:spPr>
          <a:xfrm>
            <a:off x="804672" y="3694176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Extend PSNR/MSE with SSIM metric for fuller perceptual evaluation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1"/>
          <p:cNvSpPr/>
          <p:nvPr/>
        </p:nvSpPr>
        <p:spPr>
          <a:xfrm>
            <a:off x="3337560" y="1234440"/>
            <a:ext cx="2697480" cy="35204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1"/>
          <p:cNvSpPr/>
          <p:nvPr/>
        </p:nvSpPr>
        <p:spPr>
          <a:xfrm>
            <a:off x="3337560" y="1234440"/>
            <a:ext cx="2697480" cy="38404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1"/>
          <p:cNvSpPr/>
          <p:nvPr/>
        </p:nvSpPr>
        <p:spPr>
          <a:xfrm>
            <a:off x="3429000" y="1261872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Mid-Term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1"/>
          <p:cNvSpPr/>
          <p:nvPr/>
        </p:nvSpPr>
        <p:spPr>
          <a:xfrm>
            <a:off x="3474720" y="1764792"/>
            <a:ext cx="182880" cy="18288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1"/>
          <p:cNvSpPr/>
          <p:nvPr/>
        </p:nvSpPr>
        <p:spPr>
          <a:xfrm>
            <a:off x="3730752" y="1719072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 adaptive LSB (embed in edge pixels only) for improved steganalysis resistance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1"/>
          <p:cNvSpPr/>
          <p:nvPr/>
        </p:nvSpPr>
        <p:spPr>
          <a:xfrm>
            <a:off x="3474720" y="2752344"/>
            <a:ext cx="182880" cy="18288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1"/>
          <p:cNvSpPr/>
          <p:nvPr/>
        </p:nvSpPr>
        <p:spPr>
          <a:xfrm>
            <a:off x="3730752" y="2706624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Port to DCT-domain embedding for JPEG-compatible steganography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1"/>
          <p:cNvSpPr/>
          <p:nvPr/>
        </p:nvSpPr>
        <p:spPr>
          <a:xfrm>
            <a:off x="3474720" y="3739896"/>
            <a:ext cx="182880" cy="18288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1"/>
          <p:cNvSpPr/>
          <p:nvPr/>
        </p:nvSpPr>
        <p:spPr>
          <a:xfrm>
            <a:off x="3730752" y="3694176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Develop RS steganalysis detector (Fridrich et al., 2001) as a testing tool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1"/>
          <p:cNvSpPr/>
          <p:nvPr/>
        </p:nvSpPr>
        <p:spPr>
          <a:xfrm>
            <a:off x="6263640" y="1234440"/>
            <a:ext cx="2697480" cy="35204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1"/>
          <p:cNvSpPr/>
          <p:nvPr/>
        </p:nvSpPr>
        <p:spPr>
          <a:xfrm>
            <a:off x="6263640" y="1234440"/>
            <a:ext cx="2697480" cy="384048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1"/>
          <p:cNvSpPr/>
          <p:nvPr/>
        </p:nvSpPr>
        <p:spPr>
          <a:xfrm>
            <a:off x="6355080" y="1261872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Long-Term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1"/>
          <p:cNvSpPr/>
          <p:nvPr/>
        </p:nvSpPr>
        <p:spPr>
          <a:xfrm>
            <a:off x="6400800" y="1764792"/>
            <a:ext cx="182880" cy="182880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1"/>
          <p:cNvSpPr/>
          <p:nvPr/>
        </p:nvSpPr>
        <p:spPr>
          <a:xfrm>
            <a:off x="6656832" y="1719072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Apply CNN-based steganalysis models (SRM, Pevny et al., 2010) for deep detection testing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1"/>
          <p:cNvSpPr/>
          <p:nvPr/>
        </p:nvSpPr>
        <p:spPr>
          <a:xfrm>
            <a:off x="6400800" y="2752344"/>
            <a:ext cx="182880" cy="182880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1"/>
          <p:cNvSpPr/>
          <p:nvPr/>
        </p:nvSpPr>
        <p:spPr>
          <a:xfrm>
            <a:off x="6656832" y="2706624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Extend to audio and video steganography using the same Python framework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1"/>
          <p:cNvSpPr/>
          <p:nvPr/>
        </p:nvSpPr>
        <p:spPr>
          <a:xfrm>
            <a:off x="6400800" y="3739896"/>
            <a:ext cx="182880" cy="182880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1"/>
          <p:cNvSpPr/>
          <p:nvPr/>
        </p:nvSpPr>
        <p:spPr>
          <a:xfrm>
            <a:off x="6656832" y="3694176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Publish as open-source academic steganography toolkit with full documentation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1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1"/>
          <p:cNvSpPr/>
          <p:nvPr/>
        </p:nvSpPr>
        <p:spPr>
          <a:xfrm>
            <a:off x="548640" y="482803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Speaker Notes: Future work shows academic awareness and that you see this as a research program, not a one-off project.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2"/>
          <p:cNvSpPr/>
          <p:nvPr/>
        </p:nvSpPr>
        <p:spPr>
          <a:xfrm>
            <a:off x="274320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2"/>
          <p:cNvSpPr/>
          <p:nvPr/>
        </p:nvSpPr>
        <p:spPr>
          <a:xfrm>
            <a:off x="932688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2"/>
          <p:cNvSpPr/>
          <p:nvPr/>
        </p:nvSpPr>
        <p:spPr>
          <a:xfrm>
            <a:off x="1591056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2"/>
          <p:cNvSpPr/>
          <p:nvPr/>
        </p:nvSpPr>
        <p:spPr>
          <a:xfrm>
            <a:off x="2249424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2"/>
          <p:cNvSpPr/>
          <p:nvPr/>
        </p:nvSpPr>
        <p:spPr>
          <a:xfrm>
            <a:off x="2907792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2"/>
          <p:cNvSpPr/>
          <p:nvPr/>
        </p:nvSpPr>
        <p:spPr>
          <a:xfrm>
            <a:off x="3566160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2"/>
          <p:cNvSpPr/>
          <p:nvPr/>
        </p:nvSpPr>
        <p:spPr>
          <a:xfrm>
            <a:off x="4224528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2"/>
          <p:cNvSpPr/>
          <p:nvPr/>
        </p:nvSpPr>
        <p:spPr>
          <a:xfrm>
            <a:off x="4882896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2"/>
          <p:cNvSpPr/>
          <p:nvPr/>
        </p:nvSpPr>
        <p:spPr>
          <a:xfrm>
            <a:off x="5541264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2"/>
          <p:cNvSpPr/>
          <p:nvPr/>
        </p:nvSpPr>
        <p:spPr>
          <a:xfrm>
            <a:off x="6199632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2"/>
          <p:cNvSpPr/>
          <p:nvPr/>
        </p:nvSpPr>
        <p:spPr>
          <a:xfrm>
            <a:off x="6858000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2"/>
          <p:cNvSpPr/>
          <p:nvPr/>
        </p:nvSpPr>
        <p:spPr>
          <a:xfrm>
            <a:off x="7516368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2"/>
          <p:cNvSpPr/>
          <p:nvPr/>
        </p:nvSpPr>
        <p:spPr>
          <a:xfrm>
            <a:off x="8174736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2"/>
          <p:cNvSpPr/>
          <p:nvPr/>
        </p:nvSpPr>
        <p:spPr>
          <a:xfrm>
            <a:off x="8833104" y="1828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2"/>
          <p:cNvSpPr/>
          <p:nvPr/>
        </p:nvSpPr>
        <p:spPr>
          <a:xfrm>
            <a:off x="274320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2"/>
          <p:cNvSpPr/>
          <p:nvPr/>
        </p:nvSpPr>
        <p:spPr>
          <a:xfrm>
            <a:off x="932688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2"/>
          <p:cNvSpPr/>
          <p:nvPr/>
        </p:nvSpPr>
        <p:spPr>
          <a:xfrm>
            <a:off x="1591056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2"/>
          <p:cNvSpPr/>
          <p:nvPr/>
        </p:nvSpPr>
        <p:spPr>
          <a:xfrm>
            <a:off x="2249424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2"/>
          <p:cNvSpPr/>
          <p:nvPr/>
        </p:nvSpPr>
        <p:spPr>
          <a:xfrm>
            <a:off x="2907792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2"/>
          <p:cNvSpPr/>
          <p:nvPr/>
        </p:nvSpPr>
        <p:spPr>
          <a:xfrm>
            <a:off x="3566160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2"/>
          <p:cNvSpPr/>
          <p:nvPr/>
        </p:nvSpPr>
        <p:spPr>
          <a:xfrm>
            <a:off x="4224528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2"/>
          <p:cNvSpPr/>
          <p:nvPr/>
        </p:nvSpPr>
        <p:spPr>
          <a:xfrm>
            <a:off x="4882896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2"/>
          <p:cNvSpPr/>
          <p:nvPr/>
        </p:nvSpPr>
        <p:spPr>
          <a:xfrm>
            <a:off x="5541264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2"/>
          <p:cNvSpPr/>
          <p:nvPr/>
        </p:nvSpPr>
        <p:spPr>
          <a:xfrm>
            <a:off x="6199632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2"/>
          <p:cNvSpPr/>
          <p:nvPr/>
        </p:nvSpPr>
        <p:spPr>
          <a:xfrm>
            <a:off x="6858000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2"/>
          <p:cNvSpPr/>
          <p:nvPr/>
        </p:nvSpPr>
        <p:spPr>
          <a:xfrm>
            <a:off x="7516368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2"/>
          <p:cNvSpPr/>
          <p:nvPr/>
        </p:nvSpPr>
        <p:spPr>
          <a:xfrm>
            <a:off x="8174736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2"/>
          <p:cNvSpPr/>
          <p:nvPr/>
        </p:nvSpPr>
        <p:spPr>
          <a:xfrm>
            <a:off x="8833104" y="100584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2"/>
          <p:cNvSpPr/>
          <p:nvPr/>
        </p:nvSpPr>
        <p:spPr>
          <a:xfrm>
            <a:off x="274320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22"/>
          <p:cNvSpPr/>
          <p:nvPr/>
        </p:nvSpPr>
        <p:spPr>
          <a:xfrm>
            <a:off x="932688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2"/>
          <p:cNvSpPr/>
          <p:nvPr/>
        </p:nvSpPr>
        <p:spPr>
          <a:xfrm>
            <a:off x="1591056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2"/>
          <p:cNvSpPr/>
          <p:nvPr/>
        </p:nvSpPr>
        <p:spPr>
          <a:xfrm>
            <a:off x="2249424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2"/>
          <p:cNvSpPr/>
          <p:nvPr/>
        </p:nvSpPr>
        <p:spPr>
          <a:xfrm>
            <a:off x="2907792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2"/>
          <p:cNvSpPr/>
          <p:nvPr/>
        </p:nvSpPr>
        <p:spPr>
          <a:xfrm>
            <a:off x="3566160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2"/>
          <p:cNvSpPr/>
          <p:nvPr/>
        </p:nvSpPr>
        <p:spPr>
          <a:xfrm>
            <a:off x="4224528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2"/>
          <p:cNvSpPr/>
          <p:nvPr/>
        </p:nvSpPr>
        <p:spPr>
          <a:xfrm>
            <a:off x="4882896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2"/>
          <p:cNvSpPr/>
          <p:nvPr/>
        </p:nvSpPr>
        <p:spPr>
          <a:xfrm>
            <a:off x="5541264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2"/>
          <p:cNvSpPr/>
          <p:nvPr/>
        </p:nvSpPr>
        <p:spPr>
          <a:xfrm>
            <a:off x="6199632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2"/>
          <p:cNvSpPr/>
          <p:nvPr/>
        </p:nvSpPr>
        <p:spPr>
          <a:xfrm>
            <a:off x="6858000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22"/>
          <p:cNvSpPr/>
          <p:nvPr/>
        </p:nvSpPr>
        <p:spPr>
          <a:xfrm>
            <a:off x="7516368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2"/>
          <p:cNvSpPr/>
          <p:nvPr/>
        </p:nvSpPr>
        <p:spPr>
          <a:xfrm>
            <a:off x="8174736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22"/>
          <p:cNvSpPr/>
          <p:nvPr/>
        </p:nvSpPr>
        <p:spPr>
          <a:xfrm>
            <a:off x="8833104" y="182880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2"/>
          <p:cNvSpPr/>
          <p:nvPr/>
        </p:nvSpPr>
        <p:spPr>
          <a:xfrm>
            <a:off x="274320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2"/>
          <p:cNvSpPr/>
          <p:nvPr/>
        </p:nvSpPr>
        <p:spPr>
          <a:xfrm>
            <a:off x="932688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2"/>
          <p:cNvSpPr/>
          <p:nvPr/>
        </p:nvSpPr>
        <p:spPr>
          <a:xfrm>
            <a:off x="1591056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2"/>
          <p:cNvSpPr/>
          <p:nvPr/>
        </p:nvSpPr>
        <p:spPr>
          <a:xfrm>
            <a:off x="2249424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2"/>
          <p:cNvSpPr/>
          <p:nvPr/>
        </p:nvSpPr>
        <p:spPr>
          <a:xfrm>
            <a:off x="2907792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2"/>
          <p:cNvSpPr/>
          <p:nvPr/>
        </p:nvSpPr>
        <p:spPr>
          <a:xfrm>
            <a:off x="3566160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2"/>
          <p:cNvSpPr/>
          <p:nvPr/>
        </p:nvSpPr>
        <p:spPr>
          <a:xfrm>
            <a:off x="4224528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2"/>
          <p:cNvSpPr/>
          <p:nvPr/>
        </p:nvSpPr>
        <p:spPr>
          <a:xfrm>
            <a:off x="4882896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2"/>
          <p:cNvSpPr/>
          <p:nvPr/>
        </p:nvSpPr>
        <p:spPr>
          <a:xfrm>
            <a:off x="5541264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2"/>
          <p:cNvSpPr/>
          <p:nvPr/>
        </p:nvSpPr>
        <p:spPr>
          <a:xfrm>
            <a:off x="6199632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2"/>
          <p:cNvSpPr/>
          <p:nvPr/>
        </p:nvSpPr>
        <p:spPr>
          <a:xfrm>
            <a:off x="6858000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2"/>
          <p:cNvSpPr/>
          <p:nvPr/>
        </p:nvSpPr>
        <p:spPr>
          <a:xfrm>
            <a:off x="7516368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22"/>
          <p:cNvSpPr/>
          <p:nvPr/>
        </p:nvSpPr>
        <p:spPr>
          <a:xfrm>
            <a:off x="8174736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2"/>
          <p:cNvSpPr/>
          <p:nvPr/>
        </p:nvSpPr>
        <p:spPr>
          <a:xfrm>
            <a:off x="8833104" y="265176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22"/>
          <p:cNvSpPr/>
          <p:nvPr/>
        </p:nvSpPr>
        <p:spPr>
          <a:xfrm>
            <a:off x="274320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2"/>
          <p:cNvSpPr/>
          <p:nvPr/>
        </p:nvSpPr>
        <p:spPr>
          <a:xfrm>
            <a:off x="932688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22"/>
          <p:cNvSpPr/>
          <p:nvPr/>
        </p:nvSpPr>
        <p:spPr>
          <a:xfrm>
            <a:off x="1591056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2"/>
          <p:cNvSpPr/>
          <p:nvPr/>
        </p:nvSpPr>
        <p:spPr>
          <a:xfrm>
            <a:off x="2249424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2"/>
          <p:cNvSpPr/>
          <p:nvPr/>
        </p:nvSpPr>
        <p:spPr>
          <a:xfrm>
            <a:off x="2907792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2"/>
          <p:cNvSpPr/>
          <p:nvPr/>
        </p:nvSpPr>
        <p:spPr>
          <a:xfrm>
            <a:off x="3566160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22"/>
          <p:cNvSpPr/>
          <p:nvPr/>
        </p:nvSpPr>
        <p:spPr>
          <a:xfrm>
            <a:off x="4224528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22"/>
          <p:cNvSpPr/>
          <p:nvPr/>
        </p:nvSpPr>
        <p:spPr>
          <a:xfrm>
            <a:off x="4882896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22"/>
          <p:cNvSpPr/>
          <p:nvPr/>
        </p:nvSpPr>
        <p:spPr>
          <a:xfrm>
            <a:off x="5541264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22"/>
          <p:cNvSpPr/>
          <p:nvPr/>
        </p:nvSpPr>
        <p:spPr>
          <a:xfrm>
            <a:off x="6199632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22"/>
          <p:cNvSpPr/>
          <p:nvPr/>
        </p:nvSpPr>
        <p:spPr>
          <a:xfrm>
            <a:off x="6858000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2"/>
          <p:cNvSpPr/>
          <p:nvPr/>
        </p:nvSpPr>
        <p:spPr>
          <a:xfrm>
            <a:off x="7516368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22"/>
          <p:cNvSpPr/>
          <p:nvPr/>
        </p:nvSpPr>
        <p:spPr>
          <a:xfrm>
            <a:off x="8174736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22"/>
          <p:cNvSpPr/>
          <p:nvPr/>
        </p:nvSpPr>
        <p:spPr>
          <a:xfrm>
            <a:off x="8833104" y="347472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2"/>
          <p:cNvSpPr/>
          <p:nvPr/>
        </p:nvSpPr>
        <p:spPr>
          <a:xfrm>
            <a:off x="274320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22"/>
          <p:cNvSpPr/>
          <p:nvPr/>
        </p:nvSpPr>
        <p:spPr>
          <a:xfrm>
            <a:off x="932688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22"/>
          <p:cNvSpPr/>
          <p:nvPr/>
        </p:nvSpPr>
        <p:spPr>
          <a:xfrm>
            <a:off x="1591056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22"/>
          <p:cNvSpPr/>
          <p:nvPr/>
        </p:nvSpPr>
        <p:spPr>
          <a:xfrm>
            <a:off x="2249424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22"/>
          <p:cNvSpPr/>
          <p:nvPr/>
        </p:nvSpPr>
        <p:spPr>
          <a:xfrm>
            <a:off x="2907792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2"/>
          <p:cNvSpPr/>
          <p:nvPr/>
        </p:nvSpPr>
        <p:spPr>
          <a:xfrm>
            <a:off x="3566160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2"/>
          <p:cNvSpPr/>
          <p:nvPr/>
        </p:nvSpPr>
        <p:spPr>
          <a:xfrm>
            <a:off x="4224528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2"/>
          <p:cNvSpPr/>
          <p:nvPr/>
        </p:nvSpPr>
        <p:spPr>
          <a:xfrm>
            <a:off x="4882896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2"/>
          <p:cNvSpPr/>
          <p:nvPr/>
        </p:nvSpPr>
        <p:spPr>
          <a:xfrm>
            <a:off x="5541264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2"/>
          <p:cNvSpPr/>
          <p:nvPr/>
        </p:nvSpPr>
        <p:spPr>
          <a:xfrm>
            <a:off x="6199632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2"/>
          <p:cNvSpPr/>
          <p:nvPr/>
        </p:nvSpPr>
        <p:spPr>
          <a:xfrm>
            <a:off x="6858000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2"/>
          <p:cNvSpPr/>
          <p:nvPr/>
        </p:nvSpPr>
        <p:spPr>
          <a:xfrm>
            <a:off x="7516368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22"/>
          <p:cNvSpPr/>
          <p:nvPr/>
        </p:nvSpPr>
        <p:spPr>
          <a:xfrm>
            <a:off x="8174736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2"/>
          <p:cNvSpPr/>
          <p:nvPr/>
        </p:nvSpPr>
        <p:spPr>
          <a:xfrm>
            <a:off x="8833104" y="4297680"/>
            <a:ext cx="54864" cy="54864"/>
          </a:xfrm>
          <a:prstGeom prst="ellipse">
            <a:avLst/>
          </a:prstGeom>
          <a:solidFill>
            <a:srgbClr val="1B3A5A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22"/>
          <p:cNvSpPr/>
          <p:nvPr/>
        </p:nvSpPr>
        <p:spPr>
          <a:xfrm>
            <a:off x="640080" y="777240"/>
            <a:ext cx="7863840" cy="3611880"/>
          </a:xfrm>
          <a:prstGeom prst="rect">
            <a:avLst/>
          </a:prstGeom>
          <a:solidFill>
            <a:srgbClr val="0F2840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2"/>
          <p:cNvSpPr/>
          <p:nvPr/>
        </p:nvSpPr>
        <p:spPr>
          <a:xfrm>
            <a:off x="914400" y="96012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2"/>
          <p:cNvSpPr/>
          <p:nvPr/>
        </p:nvSpPr>
        <p:spPr>
          <a:xfrm>
            <a:off x="3200400" y="1737360"/>
            <a:ext cx="2743200" cy="45720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2"/>
          <p:cNvSpPr/>
          <p:nvPr/>
        </p:nvSpPr>
        <p:spPr>
          <a:xfrm>
            <a:off x="914400" y="187452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Open for Questions &amp; Discussion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2"/>
          <p:cNvSpPr/>
          <p:nvPr/>
        </p:nvSpPr>
        <p:spPr>
          <a:xfrm>
            <a:off x="914400" y="23317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Research Summary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2"/>
          <p:cNvSpPr/>
          <p:nvPr/>
        </p:nvSpPr>
        <p:spPr>
          <a:xfrm>
            <a:off x="914400" y="26060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of Digital Image Steganography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Using the Least Significant Bit (LSB) Method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Python-Based Secret Message Hiding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2"/>
          <p:cNvSpPr/>
          <p:nvPr/>
        </p:nvSpPr>
        <p:spPr>
          <a:xfrm>
            <a:off x="914400" y="37033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[Author Name]  ·  [Student ID]  ·  [Institution]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2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 References: Hussain et al. (2018) · Fridrich et al. (2001) · Kaur &amp; Kumar (2020) · Gonzalez &amp; Woods (2018) · Cox et al. (2007) · Marvel et al. (1999)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