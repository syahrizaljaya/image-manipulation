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your institution, and the topic: implementing digital image steganography using the LSB method in Python. This is an academic proposal/project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in today's digital era, data security is critical. Steganography is one solution — it hides the very existence of a message, unlike cryptography which only hides the content. The LSB method is the simplest and most studied approach, implemented here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research questions: (1) implementation in Python, (2) embedding capacity vs. quality metrics, and (3) robustness against compression. These guide the research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specific objectives build toward the general goal. They cover: encoder, decoder, quality measurement, capacity analysis, and robustness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steganography vs cryptography: crypto hides the content; stego hides the existence. A steganography system involves three components: the cover object, the secret message, and the stego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LSB excels in implementation simplicity and high embedding capacity. Its main weakness is lower robustness against compression. DCT/DWT are more robust but complex. For this educational project, LSB is the ideal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PNG uses lossless compression so pixel values are never changed — critical for LSB. JPEG uses lossy compression that modifies pixels on save, destroying any embedded LSB data. Always use PNG for LSB steganography.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LSB method replaces only the rightmost bit (bit 0) of each pixel channel. Changing a pixel from 200 to 201 is a change of less than 0.4% — completely invisible. The bitwise operation (pixel &amp; 0xFE) | bit clears the LSB then sets it to the message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starts, creates input/output folders, then presents a main menu. Choice 1 launches the encoding workflow, Choice 2 launches decoding, and Choice 3 exits the program. This is the overall system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encoding step. Key point: each pixel channel (R, G, B) stores one bit. A 16-bit zero delimiter marks the end of the message. The capacity formula shows how many characters fit: width × height × 3 channels ÷ 8 bits per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Decoding is the reverse of encoding: read LSBs, group into 8-bit bytes, convert to characters, stop when delimiter is found. The bitwise AND with 0x01 extracts the last bit from any pixel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neatly separated into four modules: main.py handles the CLI, encoder.py does the hiding, decoder.py does the extraction, and utils.py provides shared helper functions. Images are organized into input and output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main.py is the entry point. It runs a while-True loop showing the menu, routes to run_encoder() or run_decoder() based on input, and handles validation before passing data to the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operation is (pixel &amp; 0xFE) | bit. 0xFE in binary is 11111110 — it clears the last bit. Then OR with the message bit sets it to 0 or 1. This preserves all other 7 bits of the pixel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decoder mirrors the encoder. pixel &amp; 0x01 extracts the LSB. After every new bit, it checks whether the last 16 bits match the delimiter. When found, it stops and converts the collected bits back to text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utils.py contains four helper functions shared by encoder and decoder. text_to_binary and binary_to_text handle character conversion. get_delimiter provides the stop marker. calculate_max_capacity tells users how much text their image can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expected terminal output for both encoding and decoding. Replace the bottom placeholder with actual screenshots of your program running, the cover image vs stego-image comparison, or PSNR/MSE measurement results once testing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both strengths and weaknesses. The LSB method is excellent for educational purposes and simple use cases, but is not production-grade for adversarial environments. Future work could add encryption, randomized pixel selection, or DCT/DWT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five key takeaways. Invite questions. You can also mention that the project is open for extension — adding encryption, randomized embedding, or GUI interface — for future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C5A"/>
        </a:solidFill>
      </p:bgPr>
    </p:bg>
    <p:spTree>
      <p:nvGrpSpPr>
        <p:cNvPr id="1" name=""/>
        <p:cNvGrpSpPr/>
        <p:nvPr/>
      </p:nvGrpSpPr>
      <p:grpSpPr>
        <a:xfrm>
          <a:off x="0" y="0"/>
          <a:ext cx="0" cy="0"/>
          <a:chOff x="0" y="0"/>
          <a:chExt cx="0" cy="0"/>
        </a:xfrm>
      </p:grpSpPr>
      <p:sp>
        <p:nvSpPr>
          <p:cNvPr id="2" name="Shape 0"/>
          <p:cNvSpPr/>
          <p:nvPr/>
        </p:nvSpPr>
        <p:spPr>
          <a:xfrm>
            <a:off x="0" y="3931920"/>
            <a:ext cx="9144000" cy="1211580"/>
          </a:xfrm>
          <a:prstGeom prst="rect">
            <a:avLst/>
          </a:prstGeom>
          <a:solidFill>
            <a:srgbClr val="1B5EA6"/>
          </a:solidFill>
          <a:ln w="12700">
            <a:solidFill>
              <a:srgbClr val="1B5EA6"/>
            </a:solidFill>
            <a:prstDash val="solid"/>
          </a:ln>
        </p:spPr>
      </p:sp>
      <p:sp>
        <p:nvSpPr>
          <p:cNvPr id="3" name="Shape 1"/>
          <p:cNvSpPr/>
          <p:nvPr/>
        </p:nvSpPr>
        <p:spPr>
          <a:xfrm>
            <a:off x="0" y="0"/>
            <a:ext cx="164592" cy="5143500"/>
          </a:xfrm>
          <a:prstGeom prst="rect">
            <a:avLst/>
          </a:prstGeom>
          <a:solidFill>
            <a:srgbClr val="F5A623"/>
          </a:solidFill>
          <a:ln w="12700">
            <a:solidFill>
              <a:srgbClr val="F5A623"/>
            </a:solidFill>
            <a:prstDash val="solid"/>
          </a:ln>
        </p:spPr>
      </p:sp>
      <p:sp>
        <p:nvSpPr>
          <p:cNvPr id="4" name="Text 2"/>
          <p:cNvSpPr/>
          <p:nvPr/>
        </p:nvSpPr>
        <p:spPr>
          <a:xfrm>
            <a:off x="457200" y="640080"/>
            <a:ext cx="8412480" cy="91440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LSB Steganography</a:t>
            </a:r>
            <a:endParaRPr lang="en-US" sz="4600" dirty="0"/>
          </a:p>
        </p:txBody>
      </p:sp>
      <p:sp>
        <p:nvSpPr>
          <p:cNvPr id="5" name="Text 3"/>
          <p:cNvSpPr/>
          <p:nvPr/>
        </p:nvSpPr>
        <p:spPr>
          <a:xfrm>
            <a:off x="457200" y="1508760"/>
            <a:ext cx="8412480" cy="640080"/>
          </a:xfrm>
          <a:prstGeom prst="rect">
            <a:avLst/>
          </a:prstGeom>
          <a:noFill/>
          <a:ln/>
        </p:spPr>
        <p:txBody>
          <a:bodyPr wrap="square" rtlCol="0" anchor="ctr"/>
          <a:lstStyle/>
          <a:p>
            <a:pPr indent="0" marL="0">
              <a:buNone/>
            </a:pPr>
            <a:r>
              <a:rPr lang="en-US" sz="3000" dirty="0">
                <a:solidFill>
                  <a:srgbClr val="CADCFC"/>
                </a:solidFill>
                <a:latin typeface="Calibri" pitchFamily="34" charset="0"/>
                <a:ea typeface="Calibri" pitchFamily="34" charset="-122"/>
                <a:cs typeface="Calibri" pitchFamily="34" charset="-120"/>
              </a:rPr>
              <a:t>Python Implementation</a:t>
            </a:r>
            <a:endParaRPr lang="en-US" sz="3000" dirty="0"/>
          </a:p>
        </p:txBody>
      </p:sp>
      <p:sp>
        <p:nvSpPr>
          <p:cNvPr id="6" name="Text 4"/>
          <p:cNvSpPr/>
          <p:nvPr/>
        </p:nvSpPr>
        <p:spPr>
          <a:xfrm>
            <a:off x="457200" y="2240280"/>
            <a:ext cx="8412480" cy="1005840"/>
          </a:xfrm>
          <a:prstGeom prst="rect">
            <a:avLst/>
          </a:prstGeom>
          <a:noFill/>
          <a:ln/>
        </p:spPr>
        <p:txBody>
          <a:bodyPr wrap="square" rtlCol="0" anchor="ctr"/>
          <a:lstStyle/>
          <a:p>
            <a:pPr indent="0" marL="0">
              <a:lnSpc>
                <a:spcPct val="135000"/>
              </a:lnSpc>
              <a:buNone/>
            </a:pPr>
            <a:r>
              <a:rPr lang="en-US" sz="1500" dirty="0">
                <a:solidFill>
                  <a:srgbClr val="A8C4E8"/>
                </a:solidFill>
                <a:latin typeface="Calibri" pitchFamily="34" charset="0"/>
                <a:ea typeface="Calibri" pitchFamily="34" charset="-122"/>
                <a:cs typeface="Calibri" pitchFamily="34" charset="-120"/>
              </a:rPr>
              <a:t>Implementation of Digital Image Steganography</a:t>
            </a:r>
            <a:endParaRPr lang="en-US" sz="1500" dirty="0"/>
          </a:p>
          <a:p>
            <a:pPr indent="0" marL="0">
              <a:lnSpc>
                <a:spcPct val="135000"/>
              </a:lnSpc>
              <a:buNone/>
            </a:pPr>
            <a:r>
              <a:rPr lang="en-US" sz="1500" dirty="0">
                <a:solidFill>
                  <a:srgbClr val="A8C4E8"/>
                </a:solidFill>
                <a:latin typeface="Calibri" pitchFamily="34" charset="0"/>
                <a:ea typeface="Calibri" pitchFamily="34" charset="-122"/>
                <a:cs typeface="Calibri" pitchFamily="34" charset="-120"/>
              </a:rPr>
              <a:t>Using the Least Significant Bit (LSB) Method</a:t>
            </a:r>
            <a:endParaRPr lang="en-US" sz="1500" dirty="0"/>
          </a:p>
          <a:p>
            <a:pPr indent="0" marL="0">
              <a:lnSpc>
                <a:spcPct val="135000"/>
              </a:lnSpc>
              <a:buNone/>
            </a:pPr>
            <a:r>
              <a:rPr lang="en-US" sz="1500" dirty="0">
                <a:solidFill>
                  <a:srgbClr val="A8C4E8"/>
                </a:solidFill>
                <a:latin typeface="Calibri" pitchFamily="34" charset="0"/>
                <a:ea typeface="Calibri" pitchFamily="34" charset="-122"/>
                <a:cs typeface="Calibri" pitchFamily="34" charset="-120"/>
              </a:rPr>
              <a:t>for Python-Based Secret Message Hiding</a:t>
            </a:r>
            <a:endParaRPr lang="en-US" sz="1500" dirty="0"/>
          </a:p>
        </p:txBody>
      </p:sp>
      <p:sp>
        <p:nvSpPr>
          <p:cNvPr id="7" name="Text 5"/>
          <p:cNvSpPr/>
          <p:nvPr/>
        </p:nvSpPr>
        <p:spPr>
          <a:xfrm>
            <a:off x="457200" y="4069080"/>
            <a:ext cx="8229600" cy="41148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[Author Name]  |  </a:t>
            </a:r>
            <a:pPr indent="0" marL="0">
              <a:buNone/>
            </a:pPr>
            <a:r>
              <a:rPr lang="en-US" sz="1300" dirty="0">
                <a:solidFill>
                  <a:srgbClr val="CADCFC"/>
                </a:solidFill>
                <a:latin typeface="Calibri" pitchFamily="34" charset="0"/>
                <a:ea typeface="Calibri" pitchFamily="34" charset="-122"/>
                <a:cs typeface="Calibri" pitchFamily="34" charset="-120"/>
              </a:rPr>
              <a:t>[Student ID]  |  </a:t>
            </a:r>
            <a:pPr indent="0" marL="0">
              <a:buNone/>
            </a:pPr>
            <a:r>
              <a:rPr lang="en-US" sz="1300" dirty="0">
                <a:solidFill>
                  <a:srgbClr val="CADCFC"/>
                </a:solidFill>
                <a:latin typeface="Calibri" pitchFamily="34" charset="0"/>
                <a:ea typeface="Calibri" pitchFamily="34" charset="-122"/>
                <a:cs typeface="Calibri" pitchFamily="34" charset="-120"/>
              </a:rPr>
              <a:t>[Institution]  |  </a:t>
            </a:r>
            <a:pPr indent="0" marL="0">
              <a:buNone/>
            </a:pPr>
            <a:r>
              <a:rPr lang="en-US" sz="1300" dirty="0">
                <a:solidFill>
                  <a:srgbClr val="CADCFC"/>
                </a:solidFill>
                <a:latin typeface="Calibri" pitchFamily="34" charset="0"/>
                <a:ea typeface="Calibri" pitchFamily="34" charset="-122"/>
                <a:cs typeface="Calibri" pitchFamily="34" charset="-120"/>
              </a:rPr>
              <a:t>[Year]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BACKGROUND</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Background</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Why does this research matter?</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4023360" cy="3108960"/>
          </a:xfrm>
          <a:prstGeom prst="rect">
            <a:avLst/>
          </a:prstGeom>
          <a:solidFill>
            <a:srgbClr val="D6E8FF"/>
          </a:solidFill>
          <a:ln w="12700">
            <a:solidFill>
              <a:srgbClr val="2878C8"/>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02920" y="1737360"/>
            <a:ext cx="3749040" cy="365760"/>
          </a:xfrm>
          <a:prstGeom prst="rect">
            <a:avLst/>
          </a:prstGeom>
          <a:noFill/>
          <a:ln/>
        </p:spPr>
        <p:txBody>
          <a:bodyPr wrap="square" lIns="0" tIns="0" rIns="0" bIns="0" rtlCol="0" anchor="ctr"/>
          <a:lstStyle/>
          <a:p>
            <a:pPr indent="0" marL="0">
              <a:buNone/>
            </a:pPr>
            <a:r>
              <a:rPr lang="en-US" sz="1500" b="1" dirty="0">
                <a:solidFill>
                  <a:srgbClr val="1B5EA6"/>
                </a:solidFill>
                <a:latin typeface="Calibri" pitchFamily="34" charset="0"/>
                <a:ea typeface="Calibri" pitchFamily="34" charset="-122"/>
                <a:cs typeface="Calibri" pitchFamily="34" charset="-120"/>
              </a:rPr>
              <a:t>The Problem</a:t>
            </a:r>
            <a:endParaRPr lang="en-US" sz="1500" dirty="0"/>
          </a:p>
        </p:txBody>
      </p:sp>
      <p:sp>
        <p:nvSpPr>
          <p:cNvPr id="9" name="Text 7"/>
          <p:cNvSpPr/>
          <p:nvPr/>
        </p:nvSpPr>
        <p:spPr>
          <a:xfrm>
            <a:off x="502920" y="2103120"/>
            <a:ext cx="3749040" cy="2468880"/>
          </a:xfrm>
          <a:prstGeom prst="rect">
            <a:avLst/>
          </a:prstGeom>
          <a:noFill/>
          <a:ln/>
        </p:spPr>
        <p:txBody>
          <a:bodyPr wrap="square" lIns="50800" tIns="101600" rIns="50800" bIns="50800" rtlCol="0" anchor="t"/>
          <a:lstStyle/>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Internet transmits massive data across borders</a:t>
            </a:r>
            <a:endParaRPr lang="en-US" sz="1300" dirty="0"/>
          </a:p>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Public networks are vulnerable to eavesdropping and theft</a:t>
            </a:r>
            <a:endParaRPr lang="en-US" sz="1300" dirty="0"/>
          </a:p>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Data confidentiality and integrity are at risk</a:t>
            </a:r>
            <a:endParaRPr lang="en-US" sz="1300" dirty="0"/>
          </a:p>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Need for robust information security techniques is critical</a:t>
            </a:r>
            <a:endParaRPr lang="en-US" sz="1300" dirty="0"/>
          </a:p>
        </p:txBody>
      </p:sp>
      <p:sp>
        <p:nvSpPr>
          <p:cNvPr id="10" name="Shape 8"/>
          <p:cNvSpPr/>
          <p:nvPr/>
        </p:nvSpPr>
        <p:spPr>
          <a:xfrm>
            <a:off x="4709160" y="1600200"/>
            <a:ext cx="4023360" cy="3108960"/>
          </a:xfrm>
          <a:prstGeom prst="rect">
            <a:avLst/>
          </a:prstGeom>
          <a:solidFill>
            <a:srgbClr val="EFF6E0"/>
          </a:solidFill>
          <a:ln w="12700">
            <a:solidFill>
              <a:srgbClr val="22A060"/>
            </a:solidFill>
            <a:prstDash val="solid"/>
          </a:ln>
          <a:effectLst>
            <a:outerShdw sx="100000" sy="100000" kx="0" ky="0" algn="bl" rotWithShape="0" blurRad="127000" dist="38100" dir="8100000">
              <a:srgbClr val="000000">
                <a:alpha val="10000"/>
              </a:srgbClr>
            </a:outerShdw>
          </a:effectLst>
        </p:spPr>
      </p:sp>
      <p:sp>
        <p:nvSpPr>
          <p:cNvPr id="11" name="Text 9"/>
          <p:cNvSpPr/>
          <p:nvPr/>
        </p:nvSpPr>
        <p:spPr>
          <a:xfrm>
            <a:off x="4846320" y="1737360"/>
            <a:ext cx="3749040" cy="365760"/>
          </a:xfrm>
          <a:prstGeom prst="rect">
            <a:avLst/>
          </a:prstGeom>
          <a:noFill/>
          <a:ln/>
        </p:spPr>
        <p:txBody>
          <a:bodyPr wrap="square" lIns="0" tIns="0" rIns="0" bIns="0" rtlCol="0" anchor="ctr"/>
          <a:lstStyle/>
          <a:p>
            <a:pPr indent="0" marL="0">
              <a:buNone/>
            </a:pPr>
            <a:r>
              <a:rPr lang="en-US" sz="1500" b="1" dirty="0">
                <a:solidFill>
                  <a:srgbClr val="1A7A4A"/>
                </a:solidFill>
                <a:latin typeface="Calibri" pitchFamily="34" charset="0"/>
                <a:ea typeface="Calibri" pitchFamily="34" charset="-122"/>
                <a:cs typeface="Calibri" pitchFamily="34" charset="-120"/>
              </a:rPr>
              <a:t>The Solution</a:t>
            </a:r>
            <a:endParaRPr lang="en-US" sz="1500" dirty="0"/>
          </a:p>
        </p:txBody>
      </p:sp>
      <p:sp>
        <p:nvSpPr>
          <p:cNvPr id="12" name="Text 10"/>
          <p:cNvSpPr/>
          <p:nvPr/>
        </p:nvSpPr>
        <p:spPr>
          <a:xfrm>
            <a:off x="4846320" y="2103120"/>
            <a:ext cx="3749040" cy="2468880"/>
          </a:xfrm>
          <a:prstGeom prst="rect">
            <a:avLst/>
          </a:prstGeom>
          <a:noFill/>
          <a:ln/>
        </p:spPr>
        <p:txBody>
          <a:bodyPr wrap="square" lIns="50800" tIns="101600" rIns="50800" bIns="50800" rtlCol="0" anchor="t"/>
          <a:lstStyle/>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Steganography hides the existence of a message</a:t>
            </a:r>
            <a:endParaRPr lang="en-US" sz="1300" dirty="0"/>
          </a:p>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Unlike cryptography which encrypts content</a:t>
            </a:r>
            <a:endParaRPr lang="en-US" sz="1300" dirty="0"/>
          </a:p>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LSB method embeds data in image pixel bits</a:t>
            </a:r>
            <a:endParaRPr lang="en-US" sz="1300" dirty="0"/>
          </a:p>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Undetectable to the human eye — changes ≤ 1 out of 255</a:t>
            </a:r>
            <a:endParaRPr lang="en-US" sz="1300" dirty="0"/>
          </a:p>
          <a:p>
            <a:pPr marL="342900" indent="-342900">
              <a:spcAft>
                <a:spcPts val="700"/>
              </a:spcAft>
              <a:buSzPct val="100000"/>
              <a:buChar char="•"/>
            </a:pPr>
            <a:r>
              <a:rPr lang="en-US" sz="1300" dirty="0">
                <a:solidFill>
                  <a:srgbClr val="1A2440"/>
                </a:solidFill>
                <a:latin typeface="Calibri" pitchFamily="34" charset="0"/>
                <a:ea typeface="Calibri" pitchFamily="34" charset="-122"/>
                <a:cs typeface="Calibri" pitchFamily="34" charset="-120"/>
              </a:rPr>
              <a:t>Python + Pillow + NumPy: easy to implement &amp; evaluate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PROBLEM STATEMENT</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Problem Statement</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Three core research questions</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45920"/>
            <a:ext cx="640080" cy="73152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365760" y="1645920"/>
            <a:ext cx="640080" cy="731520"/>
          </a:xfrm>
          <a:prstGeom prst="rect">
            <a:avLst/>
          </a:prstGeom>
          <a:noFill/>
          <a:ln/>
        </p:spPr>
        <p:txBody>
          <a:bodyPr wrap="square" lIns="0" tIns="0" rIns="0" bIns="0" rtlCol="0" anchor="ctr"/>
          <a:lstStyle/>
          <a:p>
            <a:pPr algn="ctr" indent="0" marL="0">
              <a:buNone/>
            </a:pPr>
            <a:r>
              <a:rPr lang="en-US" sz="2000" b="1" dirty="0">
                <a:solidFill>
                  <a:srgbClr val="FFFFFF"/>
                </a:solidFill>
              </a:rPr>
              <a:t>01</a:t>
            </a:r>
            <a:endParaRPr lang="en-US" sz="2000" dirty="0"/>
          </a:p>
        </p:txBody>
      </p:sp>
      <p:sp>
        <p:nvSpPr>
          <p:cNvPr id="9" name="Shape 7"/>
          <p:cNvSpPr/>
          <p:nvPr/>
        </p:nvSpPr>
        <p:spPr>
          <a:xfrm>
            <a:off x="1143000" y="1645920"/>
            <a:ext cx="7635240" cy="731520"/>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0" name="Text 8"/>
          <p:cNvSpPr/>
          <p:nvPr/>
        </p:nvSpPr>
        <p:spPr>
          <a:xfrm>
            <a:off x="1280160" y="1682496"/>
            <a:ext cx="7315200" cy="274320"/>
          </a:xfrm>
          <a:prstGeom prst="rect">
            <a:avLst/>
          </a:prstGeom>
          <a:noFill/>
          <a:ln/>
        </p:spPr>
        <p:txBody>
          <a:bodyPr wrap="square" lIns="0" tIns="0" rIns="0" bIns="0" rtlCol="0" anchor="ctr"/>
          <a:lstStyle/>
          <a:p>
            <a:pPr indent="0" marL="0">
              <a:buNone/>
            </a:pPr>
            <a:r>
              <a:rPr lang="en-US" sz="1400" b="1" dirty="0">
                <a:solidFill>
                  <a:srgbClr val="0F2C5A"/>
                </a:solidFill>
                <a:latin typeface="Calibri" pitchFamily="34" charset="0"/>
                <a:ea typeface="Calibri" pitchFamily="34" charset="-122"/>
                <a:cs typeface="Calibri" pitchFamily="34" charset="-120"/>
              </a:rPr>
              <a:t>System Design</a:t>
            </a:r>
            <a:endParaRPr lang="en-US" sz="1400" dirty="0"/>
          </a:p>
        </p:txBody>
      </p:sp>
      <p:sp>
        <p:nvSpPr>
          <p:cNvPr id="11" name="Text 9"/>
          <p:cNvSpPr/>
          <p:nvPr/>
        </p:nvSpPr>
        <p:spPr>
          <a:xfrm>
            <a:off x="1280160" y="1956816"/>
            <a:ext cx="7315200" cy="384048"/>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How can an LSB steganography system be designed and implemented in Python (Pillow + NumPy) to hide text messages inside PNG images?</a:t>
            </a:r>
            <a:endParaRPr lang="en-US" sz="1200" dirty="0"/>
          </a:p>
        </p:txBody>
      </p:sp>
      <p:sp>
        <p:nvSpPr>
          <p:cNvPr id="12" name="Shape 10"/>
          <p:cNvSpPr/>
          <p:nvPr/>
        </p:nvSpPr>
        <p:spPr>
          <a:xfrm>
            <a:off x="365760" y="2743200"/>
            <a:ext cx="640080" cy="73152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3" name="Text 11"/>
          <p:cNvSpPr/>
          <p:nvPr/>
        </p:nvSpPr>
        <p:spPr>
          <a:xfrm>
            <a:off x="365760" y="2743200"/>
            <a:ext cx="640080" cy="731520"/>
          </a:xfrm>
          <a:prstGeom prst="rect">
            <a:avLst/>
          </a:prstGeom>
          <a:noFill/>
          <a:ln/>
        </p:spPr>
        <p:txBody>
          <a:bodyPr wrap="square" lIns="0" tIns="0" rIns="0" bIns="0" rtlCol="0" anchor="ctr"/>
          <a:lstStyle/>
          <a:p>
            <a:pPr algn="ctr" indent="0" marL="0">
              <a:buNone/>
            </a:pPr>
            <a:r>
              <a:rPr lang="en-US" sz="2000" b="1" dirty="0">
                <a:solidFill>
                  <a:srgbClr val="FFFFFF"/>
                </a:solidFill>
              </a:rPr>
              <a:t>02</a:t>
            </a:r>
            <a:endParaRPr lang="en-US" sz="2000" dirty="0"/>
          </a:p>
        </p:txBody>
      </p:sp>
      <p:sp>
        <p:nvSpPr>
          <p:cNvPr id="14" name="Shape 12"/>
          <p:cNvSpPr/>
          <p:nvPr/>
        </p:nvSpPr>
        <p:spPr>
          <a:xfrm>
            <a:off x="1143000" y="2743200"/>
            <a:ext cx="7635240" cy="731520"/>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5" name="Text 13"/>
          <p:cNvSpPr/>
          <p:nvPr/>
        </p:nvSpPr>
        <p:spPr>
          <a:xfrm>
            <a:off x="1280160" y="2779776"/>
            <a:ext cx="7315200" cy="274320"/>
          </a:xfrm>
          <a:prstGeom prst="rect">
            <a:avLst/>
          </a:prstGeom>
          <a:noFill/>
          <a:ln/>
        </p:spPr>
        <p:txBody>
          <a:bodyPr wrap="square" lIns="0" tIns="0" rIns="0" bIns="0" rtlCol="0" anchor="ctr"/>
          <a:lstStyle/>
          <a:p>
            <a:pPr indent="0" marL="0">
              <a:buNone/>
            </a:pPr>
            <a:r>
              <a:rPr lang="en-US" sz="1400" b="1" dirty="0">
                <a:solidFill>
                  <a:srgbClr val="0F2C5A"/>
                </a:solidFill>
                <a:latin typeface="Calibri" pitchFamily="34" charset="0"/>
                <a:ea typeface="Calibri" pitchFamily="34" charset="-122"/>
                <a:cs typeface="Calibri" pitchFamily="34" charset="-120"/>
              </a:rPr>
              <a:t>Embedding Capacity</a:t>
            </a:r>
            <a:endParaRPr lang="en-US" sz="1400" dirty="0"/>
          </a:p>
        </p:txBody>
      </p:sp>
      <p:sp>
        <p:nvSpPr>
          <p:cNvPr id="16" name="Text 14"/>
          <p:cNvSpPr/>
          <p:nvPr/>
        </p:nvSpPr>
        <p:spPr>
          <a:xfrm>
            <a:off x="1280160" y="3054096"/>
            <a:ext cx="7315200" cy="384048"/>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What is the maximum message capacity that can be embedded without causing visually detectable degradation, measured by PSNR and MSE?</a:t>
            </a:r>
            <a:endParaRPr lang="en-US" sz="1200" dirty="0"/>
          </a:p>
        </p:txBody>
      </p:sp>
      <p:sp>
        <p:nvSpPr>
          <p:cNvPr id="17" name="Shape 15"/>
          <p:cNvSpPr/>
          <p:nvPr/>
        </p:nvSpPr>
        <p:spPr>
          <a:xfrm>
            <a:off x="365760" y="3840480"/>
            <a:ext cx="640080" cy="73152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8" name="Text 16"/>
          <p:cNvSpPr/>
          <p:nvPr/>
        </p:nvSpPr>
        <p:spPr>
          <a:xfrm>
            <a:off x="365760" y="3840480"/>
            <a:ext cx="640080" cy="731520"/>
          </a:xfrm>
          <a:prstGeom prst="rect">
            <a:avLst/>
          </a:prstGeom>
          <a:noFill/>
          <a:ln/>
        </p:spPr>
        <p:txBody>
          <a:bodyPr wrap="square" lIns="0" tIns="0" rIns="0" bIns="0" rtlCol="0" anchor="ctr"/>
          <a:lstStyle/>
          <a:p>
            <a:pPr algn="ctr" indent="0" marL="0">
              <a:buNone/>
            </a:pPr>
            <a:r>
              <a:rPr lang="en-US" sz="2000" b="1" dirty="0">
                <a:solidFill>
                  <a:srgbClr val="FFFFFF"/>
                </a:solidFill>
              </a:rPr>
              <a:t>03</a:t>
            </a:r>
            <a:endParaRPr lang="en-US" sz="2000" dirty="0"/>
          </a:p>
        </p:txBody>
      </p:sp>
      <p:sp>
        <p:nvSpPr>
          <p:cNvPr id="19" name="Shape 17"/>
          <p:cNvSpPr/>
          <p:nvPr/>
        </p:nvSpPr>
        <p:spPr>
          <a:xfrm>
            <a:off x="1143000" y="3840480"/>
            <a:ext cx="7635240" cy="731520"/>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20" name="Text 18"/>
          <p:cNvSpPr/>
          <p:nvPr/>
        </p:nvSpPr>
        <p:spPr>
          <a:xfrm>
            <a:off x="1280160" y="3877056"/>
            <a:ext cx="7315200" cy="274320"/>
          </a:xfrm>
          <a:prstGeom prst="rect">
            <a:avLst/>
          </a:prstGeom>
          <a:noFill/>
          <a:ln/>
        </p:spPr>
        <p:txBody>
          <a:bodyPr wrap="square" lIns="0" tIns="0" rIns="0" bIns="0" rtlCol="0" anchor="ctr"/>
          <a:lstStyle/>
          <a:p>
            <a:pPr indent="0" marL="0">
              <a:buNone/>
            </a:pPr>
            <a:r>
              <a:rPr lang="en-US" sz="1400" b="1" dirty="0">
                <a:solidFill>
                  <a:srgbClr val="0F2C5A"/>
                </a:solidFill>
                <a:latin typeface="Calibri" pitchFamily="34" charset="0"/>
                <a:ea typeface="Calibri" pitchFamily="34" charset="-122"/>
                <a:cs typeface="Calibri" pitchFamily="34" charset="-120"/>
              </a:rPr>
              <a:t>Robustness</a:t>
            </a:r>
            <a:endParaRPr lang="en-US" sz="1400" dirty="0"/>
          </a:p>
        </p:txBody>
      </p:sp>
      <p:sp>
        <p:nvSpPr>
          <p:cNvPr id="21" name="Text 19"/>
          <p:cNvSpPr/>
          <p:nvPr/>
        </p:nvSpPr>
        <p:spPr>
          <a:xfrm>
            <a:off x="1280160" y="4151376"/>
            <a:ext cx="7315200" cy="384048"/>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How robust is the system against compression and format transformation? Can LSB histogram analysis reveal hidden messages (steganalysis)?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OBJECTIVES</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Research Objectives</a:t>
            </a:r>
            <a:endParaRPr lang="en-US" sz="3200" dirty="0"/>
          </a:p>
        </p:txBody>
      </p:sp>
      <p:sp>
        <p:nvSpPr>
          <p:cNvPr id="5" name="Shape 3"/>
          <p:cNvSpPr/>
          <p:nvPr/>
        </p:nvSpPr>
        <p:spPr>
          <a:xfrm>
            <a:off x="365760" y="1463040"/>
            <a:ext cx="8412480" cy="22860"/>
          </a:xfrm>
          <a:prstGeom prst="rect">
            <a:avLst/>
          </a:prstGeom>
          <a:solidFill>
            <a:srgbClr val="CBD5E1"/>
          </a:solidFill>
          <a:ln w="12700">
            <a:solidFill>
              <a:srgbClr val="CBD5E1"/>
            </a:solidFill>
            <a:prstDash val="solid"/>
          </a:ln>
        </p:spPr>
      </p:sp>
      <p:sp>
        <p:nvSpPr>
          <p:cNvPr id="6" name="Shape 4"/>
          <p:cNvSpPr/>
          <p:nvPr/>
        </p:nvSpPr>
        <p:spPr>
          <a:xfrm>
            <a:off x="365760" y="1600200"/>
            <a:ext cx="8412480" cy="685800"/>
          </a:xfrm>
          <a:prstGeom prst="rect">
            <a:avLst/>
          </a:prstGeom>
          <a:solidFill>
            <a:srgbClr val="D6E8FF"/>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7" name="Text 5"/>
          <p:cNvSpPr/>
          <p:nvPr/>
        </p:nvSpPr>
        <p:spPr>
          <a:xfrm>
            <a:off x="548640" y="1645920"/>
            <a:ext cx="2286000" cy="274320"/>
          </a:xfrm>
          <a:prstGeom prst="rect">
            <a:avLst/>
          </a:prstGeom>
          <a:noFill/>
          <a:ln/>
        </p:spPr>
        <p:txBody>
          <a:bodyPr wrap="square" lIns="0" tIns="0" rIns="0" bIns="0" rtlCol="0" anchor="ctr"/>
          <a:lstStyle/>
          <a:p>
            <a:pPr indent="0" marL="0">
              <a:buNone/>
            </a:pPr>
            <a:r>
              <a:rPr lang="en-US" sz="1200" b="1" dirty="0">
                <a:solidFill>
                  <a:srgbClr val="1B5EA6"/>
                </a:solidFill>
                <a:latin typeface="Calibri" pitchFamily="34" charset="0"/>
                <a:ea typeface="Calibri" pitchFamily="34" charset="-122"/>
                <a:cs typeface="Calibri" pitchFamily="34" charset="-120"/>
              </a:rPr>
              <a:t>General Objective</a:t>
            </a:r>
            <a:endParaRPr lang="en-US" sz="1200" dirty="0"/>
          </a:p>
        </p:txBody>
      </p:sp>
      <p:sp>
        <p:nvSpPr>
          <p:cNvPr id="8" name="Text 6"/>
          <p:cNvSpPr/>
          <p:nvPr/>
        </p:nvSpPr>
        <p:spPr>
          <a:xfrm>
            <a:off x="2926080" y="1645920"/>
            <a:ext cx="5669280" cy="502920"/>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Implement and evaluate a Python-based LSB steganography system using standardized image quality parameters.</a:t>
            </a:r>
            <a:endParaRPr lang="en-US" sz="1250" dirty="0"/>
          </a:p>
        </p:txBody>
      </p:sp>
      <p:sp>
        <p:nvSpPr>
          <p:cNvPr id="9" name="Text 7"/>
          <p:cNvSpPr/>
          <p:nvPr/>
        </p:nvSpPr>
        <p:spPr>
          <a:xfrm>
            <a:off x="365760" y="2423160"/>
            <a:ext cx="8412480" cy="320040"/>
          </a:xfrm>
          <a:prstGeom prst="rect">
            <a:avLst/>
          </a:prstGeom>
          <a:noFill/>
          <a:ln/>
        </p:spPr>
        <p:txBody>
          <a:bodyPr wrap="square" lIns="0" tIns="0" rIns="0" bIns="0" rtlCol="0" anchor="ctr"/>
          <a:lstStyle/>
          <a:p>
            <a:pPr indent="0" marL="0">
              <a:buNone/>
            </a:pPr>
            <a:r>
              <a:rPr lang="en-US" sz="1400" b="1" dirty="0">
                <a:solidFill>
                  <a:srgbClr val="0F2C5A"/>
                </a:solidFill>
                <a:latin typeface="Calibri" pitchFamily="34" charset="0"/>
                <a:ea typeface="Calibri" pitchFamily="34" charset="-122"/>
                <a:cs typeface="Calibri" pitchFamily="34" charset="-120"/>
              </a:rPr>
              <a:t>Specific Objectives</a:t>
            </a:r>
            <a:endParaRPr lang="en-US" sz="1400" dirty="0"/>
          </a:p>
        </p:txBody>
      </p:sp>
      <p:sp>
        <p:nvSpPr>
          <p:cNvPr id="10" name="Shape 8"/>
          <p:cNvSpPr/>
          <p:nvPr/>
        </p:nvSpPr>
        <p:spPr>
          <a:xfrm>
            <a:off x="365760" y="2926080"/>
            <a:ext cx="201168" cy="201168"/>
          </a:xfrm>
          <a:prstGeom prst="oval">
            <a:avLst/>
          </a:prstGeom>
          <a:solidFill>
            <a:srgbClr val="1B5EA6"/>
          </a:solidFill>
          <a:ln w="12700">
            <a:solidFill>
              <a:srgbClr val="1B5EA6"/>
            </a:solidFill>
            <a:prstDash val="solid"/>
          </a:ln>
        </p:spPr>
      </p:sp>
      <p:sp>
        <p:nvSpPr>
          <p:cNvPr id="11" name="Text 9"/>
          <p:cNvSpPr/>
          <p:nvPr/>
        </p:nvSpPr>
        <p:spPr>
          <a:xfrm>
            <a:off x="685800" y="2834640"/>
            <a:ext cx="8092440" cy="384048"/>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Build an encoder module — embed text into PNG images using LSB manipulation with a user-friendly CLI</a:t>
            </a:r>
            <a:endParaRPr lang="en-US" sz="1250" dirty="0"/>
          </a:p>
        </p:txBody>
      </p:sp>
      <p:sp>
        <p:nvSpPr>
          <p:cNvPr id="12" name="Shape 10"/>
          <p:cNvSpPr/>
          <p:nvPr/>
        </p:nvSpPr>
        <p:spPr>
          <a:xfrm>
            <a:off x="365760" y="3337560"/>
            <a:ext cx="201168" cy="201168"/>
          </a:xfrm>
          <a:prstGeom prst="oval">
            <a:avLst/>
          </a:prstGeom>
          <a:solidFill>
            <a:srgbClr val="1B5EA6"/>
          </a:solidFill>
          <a:ln w="12700">
            <a:solidFill>
              <a:srgbClr val="1B5EA6"/>
            </a:solidFill>
            <a:prstDash val="solid"/>
          </a:ln>
        </p:spPr>
      </p:sp>
      <p:sp>
        <p:nvSpPr>
          <p:cNvPr id="13" name="Text 11"/>
          <p:cNvSpPr/>
          <p:nvPr/>
        </p:nvSpPr>
        <p:spPr>
          <a:xfrm>
            <a:off x="685800" y="3246120"/>
            <a:ext cx="8092440" cy="384048"/>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Build a decoder module — accurately extract hidden messages from stego-images without data loss</a:t>
            </a:r>
            <a:endParaRPr lang="en-US" sz="1250" dirty="0"/>
          </a:p>
        </p:txBody>
      </p:sp>
      <p:sp>
        <p:nvSpPr>
          <p:cNvPr id="14" name="Shape 12"/>
          <p:cNvSpPr/>
          <p:nvPr/>
        </p:nvSpPr>
        <p:spPr>
          <a:xfrm>
            <a:off x="365760" y="3749040"/>
            <a:ext cx="201168" cy="201168"/>
          </a:xfrm>
          <a:prstGeom prst="oval">
            <a:avLst/>
          </a:prstGeom>
          <a:solidFill>
            <a:srgbClr val="1B5EA6"/>
          </a:solidFill>
          <a:ln w="12700">
            <a:solidFill>
              <a:srgbClr val="1B5EA6"/>
            </a:solidFill>
            <a:prstDash val="solid"/>
          </a:ln>
        </p:spPr>
      </p:sp>
      <p:sp>
        <p:nvSpPr>
          <p:cNvPr id="15" name="Text 13"/>
          <p:cNvSpPr/>
          <p:nvPr/>
        </p:nvSpPr>
        <p:spPr>
          <a:xfrm>
            <a:off x="685800" y="3657600"/>
            <a:ext cx="8092440" cy="384048"/>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Measure stego-image quality using PSNR and MSE metrics, compared against scientific thresholds</a:t>
            </a:r>
            <a:endParaRPr lang="en-US" sz="1250" dirty="0"/>
          </a:p>
        </p:txBody>
      </p:sp>
      <p:sp>
        <p:nvSpPr>
          <p:cNvPr id="16" name="Shape 14"/>
          <p:cNvSpPr/>
          <p:nvPr/>
        </p:nvSpPr>
        <p:spPr>
          <a:xfrm>
            <a:off x="365760" y="4160520"/>
            <a:ext cx="201168" cy="201168"/>
          </a:xfrm>
          <a:prstGeom prst="oval">
            <a:avLst/>
          </a:prstGeom>
          <a:solidFill>
            <a:srgbClr val="1B5EA6"/>
          </a:solidFill>
          <a:ln w="12700">
            <a:solidFill>
              <a:srgbClr val="1B5EA6"/>
            </a:solidFill>
            <a:prstDash val="solid"/>
          </a:ln>
        </p:spPr>
      </p:sp>
      <p:sp>
        <p:nvSpPr>
          <p:cNvPr id="17" name="Text 15"/>
          <p:cNvSpPr/>
          <p:nvPr/>
        </p:nvSpPr>
        <p:spPr>
          <a:xfrm>
            <a:off x="685800" y="4069080"/>
            <a:ext cx="8092440" cy="384048"/>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Determine maximum embedding capacity for various image sizes as a practical reference guide</a:t>
            </a:r>
            <a:endParaRPr lang="en-US" sz="1250" dirty="0"/>
          </a:p>
        </p:txBody>
      </p:sp>
      <p:sp>
        <p:nvSpPr>
          <p:cNvPr id="18" name="Shape 16"/>
          <p:cNvSpPr/>
          <p:nvPr/>
        </p:nvSpPr>
        <p:spPr>
          <a:xfrm>
            <a:off x="365760" y="4572000"/>
            <a:ext cx="201168" cy="201168"/>
          </a:xfrm>
          <a:prstGeom prst="oval">
            <a:avLst/>
          </a:prstGeom>
          <a:solidFill>
            <a:srgbClr val="1B5EA6"/>
          </a:solidFill>
          <a:ln w="12700">
            <a:solidFill>
              <a:srgbClr val="1B5EA6"/>
            </a:solidFill>
            <a:prstDash val="solid"/>
          </a:ln>
        </p:spPr>
      </p:sp>
      <p:sp>
        <p:nvSpPr>
          <p:cNvPr id="19" name="Text 17"/>
          <p:cNvSpPr/>
          <p:nvPr/>
        </p:nvSpPr>
        <p:spPr>
          <a:xfrm>
            <a:off x="685800" y="4480560"/>
            <a:ext cx="8092440" cy="384048"/>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Analyze robustness against JPEG compression and LSB histogram-based steganalysis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LITERATURE REVIEW</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What is Steganography?</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The art of hidden writing</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Text 5"/>
          <p:cNvSpPr/>
          <p:nvPr/>
        </p:nvSpPr>
        <p:spPr>
          <a:xfrm>
            <a:off x="365760" y="1600200"/>
            <a:ext cx="4114800" cy="320040"/>
          </a:xfrm>
          <a:prstGeom prst="rect">
            <a:avLst/>
          </a:prstGeom>
          <a:noFill/>
          <a:ln/>
        </p:spPr>
        <p:txBody>
          <a:bodyPr wrap="square" lIns="0" tIns="0" rIns="0" bIns="0" rtlCol="0" anchor="ctr"/>
          <a:lstStyle/>
          <a:p>
            <a:pPr indent="0" marL="0">
              <a:buNone/>
            </a:pPr>
            <a:r>
              <a:rPr lang="en-US" sz="1500" b="1" dirty="0">
                <a:solidFill>
                  <a:srgbClr val="0F2C5A"/>
                </a:solidFill>
                <a:latin typeface="Calibri" pitchFamily="34" charset="0"/>
                <a:ea typeface="Calibri" pitchFamily="34" charset="-122"/>
                <a:cs typeface="Calibri" pitchFamily="34" charset="-120"/>
              </a:rPr>
              <a:t>Definition</a:t>
            </a:r>
            <a:endParaRPr lang="en-US" sz="1500" dirty="0"/>
          </a:p>
        </p:txBody>
      </p:sp>
      <p:sp>
        <p:nvSpPr>
          <p:cNvPr id="8" name="Text 6"/>
          <p:cNvSpPr/>
          <p:nvPr/>
        </p:nvSpPr>
        <p:spPr>
          <a:xfrm>
            <a:off x="365760" y="1965960"/>
            <a:ext cx="4114800" cy="1188720"/>
          </a:xfrm>
          <a:prstGeom prst="rect">
            <a:avLst/>
          </a:prstGeom>
          <a:noFill/>
          <a:ln/>
        </p:spPr>
        <p:txBody>
          <a:bodyPr wrap="square" lIns="0" tIns="0" rIns="0" bIns="0" rtlCol="0" anchor="ctr"/>
          <a:lstStyle/>
          <a:p>
            <a:pPr indent="0" marL="0">
              <a:lnSpc>
                <a:spcPct val="130000"/>
              </a:lnSpc>
              <a:buNone/>
            </a:pPr>
            <a:r>
              <a:rPr lang="en-US" sz="1300" dirty="0">
                <a:solidFill>
                  <a:srgbClr val="1A2440"/>
                </a:solidFill>
                <a:latin typeface="Calibri" pitchFamily="34" charset="0"/>
                <a:ea typeface="Calibri" pitchFamily="34" charset="-122"/>
                <a:cs typeface="Calibri" pitchFamily="34" charset="-120"/>
              </a:rPr>
              <a:t>From Greek: steganos ("hidden") + graphein ("to write"). Steganography conceals the very existence of a message inside a carrier medium (image, audio, video, text) — so third parties don't even know a secret exists.</a:t>
            </a:r>
            <a:endParaRPr lang="en-US" sz="1300" dirty="0"/>
          </a:p>
        </p:txBody>
      </p:sp>
      <p:sp>
        <p:nvSpPr>
          <p:cNvPr id="9" name="Shape 7"/>
          <p:cNvSpPr/>
          <p:nvPr/>
        </p:nvSpPr>
        <p:spPr>
          <a:xfrm>
            <a:off x="365760" y="3246120"/>
            <a:ext cx="4114800" cy="1554480"/>
          </a:xfrm>
          <a:prstGeom prst="rect">
            <a:avLst/>
          </a:prstGeom>
          <a:solidFill>
            <a:srgbClr val="D6E8FF"/>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0" name="Text 8"/>
          <p:cNvSpPr/>
          <p:nvPr/>
        </p:nvSpPr>
        <p:spPr>
          <a:xfrm>
            <a:off x="502920" y="3337560"/>
            <a:ext cx="3749040" cy="320040"/>
          </a:xfrm>
          <a:prstGeom prst="rect">
            <a:avLst/>
          </a:prstGeom>
          <a:noFill/>
          <a:ln/>
        </p:spPr>
        <p:txBody>
          <a:bodyPr wrap="square" lIns="0" tIns="0" rIns="0" bIns="0" rtlCol="0" anchor="ctr"/>
          <a:lstStyle/>
          <a:p>
            <a:pPr indent="0" marL="0">
              <a:buNone/>
            </a:pPr>
            <a:r>
              <a:rPr lang="en-US" sz="1300" b="1" dirty="0">
                <a:solidFill>
                  <a:srgbClr val="1B5EA6"/>
                </a:solidFill>
              </a:rPr>
              <a:t>🔐 Cryptography</a:t>
            </a:r>
            <a:endParaRPr lang="en-US" sz="1300" dirty="0"/>
          </a:p>
        </p:txBody>
      </p:sp>
      <p:sp>
        <p:nvSpPr>
          <p:cNvPr id="11" name="Text 9"/>
          <p:cNvSpPr/>
          <p:nvPr/>
        </p:nvSpPr>
        <p:spPr>
          <a:xfrm>
            <a:off x="502920" y="3657600"/>
            <a:ext cx="3749040" cy="1097280"/>
          </a:xfrm>
          <a:prstGeom prst="rect">
            <a:avLst/>
          </a:prstGeom>
          <a:noFill/>
          <a:ln/>
        </p:spPr>
        <p:txBody>
          <a:bodyPr wrap="square" lIns="50800" tIns="101600" rIns="50800" bIns="50800" rtlCol="0" anchor="t"/>
          <a:lstStyle/>
          <a:p>
            <a:pPr marL="342900" indent="-342900">
              <a:spcAft>
                <a:spcPts val="500"/>
              </a:spcAft>
              <a:buSzPct val="100000"/>
              <a:buChar char="•"/>
            </a:pPr>
            <a:r>
              <a:rPr lang="en-US" sz="1200" dirty="0">
                <a:solidFill>
                  <a:srgbClr val="1A2440"/>
                </a:solidFill>
                <a:latin typeface="Calibri" pitchFamily="34" charset="0"/>
                <a:ea typeface="Calibri" pitchFamily="34" charset="-122"/>
                <a:cs typeface="Calibri" pitchFamily="34" charset="-120"/>
              </a:rPr>
              <a:t>Hides the content of the message</a:t>
            </a:r>
            <a:endParaRPr lang="en-US" sz="1200" dirty="0"/>
          </a:p>
          <a:p>
            <a:pPr marL="342900" indent="-342900">
              <a:spcAft>
                <a:spcPts val="500"/>
              </a:spcAft>
              <a:buSzPct val="100000"/>
              <a:buChar char="•"/>
            </a:pPr>
            <a:r>
              <a:rPr lang="en-US" sz="1200" dirty="0">
                <a:solidFill>
                  <a:srgbClr val="1A2440"/>
                </a:solidFill>
                <a:latin typeface="Calibri" pitchFamily="34" charset="0"/>
                <a:ea typeface="Calibri" pitchFamily="34" charset="-122"/>
                <a:cs typeface="Calibri" pitchFamily="34" charset="-120"/>
              </a:rPr>
              <a:t>Message is visible but unreadable</a:t>
            </a:r>
            <a:endParaRPr lang="en-US" sz="1200" dirty="0"/>
          </a:p>
          <a:p>
            <a:pPr marL="342900" indent="-342900">
              <a:spcAft>
                <a:spcPts val="500"/>
              </a:spcAft>
              <a:buSzPct val="100000"/>
              <a:buChar char="•"/>
            </a:pPr>
            <a:r>
              <a:rPr lang="en-US" sz="1200" dirty="0">
                <a:solidFill>
                  <a:srgbClr val="1A2440"/>
                </a:solidFill>
                <a:latin typeface="Calibri" pitchFamily="34" charset="0"/>
                <a:ea typeface="Calibri" pitchFamily="34" charset="-122"/>
                <a:cs typeface="Calibri" pitchFamily="34" charset="-120"/>
              </a:rPr>
              <a:t>Relies on encryption keys</a:t>
            </a:r>
            <a:endParaRPr lang="en-US" sz="1200" dirty="0"/>
          </a:p>
        </p:txBody>
      </p:sp>
      <p:sp>
        <p:nvSpPr>
          <p:cNvPr id="12" name="Shape 10"/>
          <p:cNvSpPr/>
          <p:nvPr/>
        </p:nvSpPr>
        <p:spPr>
          <a:xfrm>
            <a:off x="4663440" y="3246120"/>
            <a:ext cx="4114800" cy="1554480"/>
          </a:xfrm>
          <a:prstGeom prst="rect">
            <a:avLst/>
          </a:prstGeom>
          <a:solidFill>
            <a:srgbClr val="D4F0E4"/>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13" name="Text 11"/>
          <p:cNvSpPr/>
          <p:nvPr/>
        </p:nvSpPr>
        <p:spPr>
          <a:xfrm>
            <a:off x="4800600" y="3337560"/>
            <a:ext cx="3749040" cy="320040"/>
          </a:xfrm>
          <a:prstGeom prst="rect">
            <a:avLst/>
          </a:prstGeom>
          <a:noFill/>
          <a:ln/>
        </p:spPr>
        <p:txBody>
          <a:bodyPr wrap="square" lIns="0" tIns="0" rIns="0" bIns="0" rtlCol="0" anchor="ctr"/>
          <a:lstStyle/>
          <a:p>
            <a:pPr indent="0" marL="0">
              <a:buNone/>
            </a:pPr>
            <a:r>
              <a:rPr lang="en-US" sz="1300" b="1" dirty="0">
                <a:solidFill>
                  <a:srgbClr val="1A7A4A"/>
                </a:solidFill>
              </a:rPr>
              <a:t>🕵️ Steganography</a:t>
            </a:r>
            <a:endParaRPr lang="en-US" sz="1300" dirty="0"/>
          </a:p>
        </p:txBody>
      </p:sp>
      <p:sp>
        <p:nvSpPr>
          <p:cNvPr id="14" name="Text 12"/>
          <p:cNvSpPr/>
          <p:nvPr/>
        </p:nvSpPr>
        <p:spPr>
          <a:xfrm>
            <a:off x="4800600" y="3657600"/>
            <a:ext cx="3749040" cy="1097280"/>
          </a:xfrm>
          <a:prstGeom prst="rect">
            <a:avLst/>
          </a:prstGeom>
          <a:noFill/>
          <a:ln/>
        </p:spPr>
        <p:txBody>
          <a:bodyPr wrap="square" lIns="50800" tIns="101600" rIns="50800" bIns="50800" rtlCol="0" anchor="t"/>
          <a:lstStyle/>
          <a:p>
            <a:pPr marL="342900" indent="-342900">
              <a:spcAft>
                <a:spcPts val="500"/>
              </a:spcAft>
              <a:buSzPct val="100000"/>
              <a:buChar char="•"/>
            </a:pPr>
            <a:r>
              <a:rPr lang="en-US" sz="1200" dirty="0">
                <a:solidFill>
                  <a:srgbClr val="1A2440"/>
                </a:solidFill>
                <a:latin typeface="Calibri" pitchFamily="34" charset="0"/>
                <a:ea typeface="Calibri" pitchFamily="34" charset="-122"/>
                <a:cs typeface="Calibri" pitchFamily="34" charset="-120"/>
              </a:rPr>
              <a:t>Hides the existence of the message</a:t>
            </a:r>
            <a:endParaRPr lang="en-US" sz="1200" dirty="0"/>
          </a:p>
          <a:p>
            <a:pPr marL="342900" indent="-342900">
              <a:spcAft>
                <a:spcPts val="500"/>
              </a:spcAft>
              <a:buSzPct val="100000"/>
              <a:buChar char="•"/>
            </a:pPr>
            <a:r>
              <a:rPr lang="en-US" sz="1200" dirty="0">
                <a:solidFill>
                  <a:srgbClr val="1A2440"/>
                </a:solidFill>
                <a:latin typeface="Calibri" pitchFamily="34" charset="0"/>
                <a:ea typeface="Calibri" pitchFamily="34" charset="-122"/>
                <a:cs typeface="Calibri" pitchFamily="34" charset="-120"/>
              </a:rPr>
              <a:t>Message is invisible inside the carrier</a:t>
            </a:r>
            <a:endParaRPr lang="en-US" sz="1200" dirty="0"/>
          </a:p>
          <a:p>
            <a:pPr marL="342900" indent="-342900">
              <a:spcAft>
                <a:spcPts val="500"/>
              </a:spcAft>
              <a:buSzPct val="100000"/>
              <a:buChar char="•"/>
            </a:pPr>
            <a:r>
              <a:rPr lang="en-US" sz="1200" dirty="0">
                <a:solidFill>
                  <a:srgbClr val="1A2440"/>
                </a:solidFill>
                <a:latin typeface="Calibri" pitchFamily="34" charset="0"/>
                <a:ea typeface="Calibri" pitchFamily="34" charset="-122"/>
                <a:cs typeface="Calibri" pitchFamily="34" charset="-120"/>
              </a:rPr>
              <a:t>No obvious sign a secret is present</a:t>
            </a:r>
            <a:endParaRPr lang="en-US" sz="1200" dirty="0"/>
          </a:p>
        </p:txBody>
      </p:sp>
      <p:sp>
        <p:nvSpPr>
          <p:cNvPr id="15" name="Text 13"/>
          <p:cNvSpPr/>
          <p:nvPr/>
        </p:nvSpPr>
        <p:spPr>
          <a:xfrm>
            <a:off x="4663440" y="1600200"/>
            <a:ext cx="4114800" cy="320040"/>
          </a:xfrm>
          <a:prstGeom prst="rect">
            <a:avLst/>
          </a:prstGeom>
          <a:noFill/>
          <a:ln/>
        </p:spPr>
        <p:txBody>
          <a:bodyPr wrap="square" lIns="0" tIns="0" rIns="0" bIns="0" rtlCol="0" anchor="ctr"/>
          <a:lstStyle/>
          <a:p>
            <a:pPr indent="0" marL="0">
              <a:buNone/>
            </a:pPr>
            <a:r>
              <a:rPr lang="en-US" sz="1500" b="1" dirty="0">
                <a:solidFill>
                  <a:srgbClr val="0F2C5A"/>
                </a:solidFill>
                <a:latin typeface="Calibri" pitchFamily="34" charset="0"/>
                <a:ea typeface="Calibri" pitchFamily="34" charset="-122"/>
                <a:cs typeface="Calibri" pitchFamily="34" charset="-120"/>
              </a:rPr>
              <a:t>3 Main Components</a:t>
            </a:r>
            <a:endParaRPr lang="en-US" sz="1500" dirty="0"/>
          </a:p>
        </p:txBody>
      </p:sp>
      <p:sp>
        <p:nvSpPr>
          <p:cNvPr id="16" name="Shape 14"/>
          <p:cNvSpPr/>
          <p:nvPr/>
        </p:nvSpPr>
        <p:spPr>
          <a:xfrm>
            <a:off x="4663440" y="1965960"/>
            <a:ext cx="1325880" cy="1143000"/>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7" name="Text 15"/>
          <p:cNvSpPr/>
          <p:nvPr/>
        </p:nvSpPr>
        <p:spPr>
          <a:xfrm>
            <a:off x="4709160" y="2011680"/>
            <a:ext cx="1234440" cy="365760"/>
          </a:xfrm>
          <a:prstGeom prst="rect">
            <a:avLst/>
          </a:prstGeom>
          <a:noFill/>
          <a:ln/>
        </p:spPr>
        <p:txBody>
          <a:bodyPr wrap="square" lIns="0" tIns="0" rIns="0" bIns="0" rtlCol="0" anchor="ctr"/>
          <a:lstStyle/>
          <a:p>
            <a:pPr algn="ctr" indent="0" marL="0">
              <a:buNone/>
            </a:pPr>
            <a:r>
              <a:rPr lang="en-US" sz="1100" b="1" dirty="0">
                <a:solidFill>
                  <a:srgbClr val="0F2C5A"/>
                </a:solidFill>
                <a:latin typeface="Calibri" pitchFamily="34" charset="0"/>
                <a:ea typeface="Calibri" pitchFamily="34" charset="-122"/>
                <a:cs typeface="Calibri" pitchFamily="34" charset="-120"/>
              </a:rPr>
              <a:t>Cover Object</a:t>
            </a:r>
            <a:endParaRPr lang="en-US" sz="1100" dirty="0"/>
          </a:p>
        </p:txBody>
      </p:sp>
      <p:sp>
        <p:nvSpPr>
          <p:cNvPr id="18" name="Text 16"/>
          <p:cNvSpPr/>
          <p:nvPr/>
        </p:nvSpPr>
        <p:spPr>
          <a:xfrm>
            <a:off x="4709160" y="2395728"/>
            <a:ext cx="1234440" cy="594360"/>
          </a:xfrm>
          <a:prstGeom prst="rect">
            <a:avLst/>
          </a:prstGeom>
          <a:noFill/>
          <a:ln/>
        </p:spPr>
        <p:txBody>
          <a:bodyPr wrap="square" lIns="0" tIns="0" rIns="0" bIns="0"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The carrier image</a:t>
            </a:r>
            <a:endParaRPr lang="en-US" sz="1100" dirty="0"/>
          </a:p>
        </p:txBody>
      </p:sp>
      <p:sp>
        <p:nvSpPr>
          <p:cNvPr id="19" name="Shape 17"/>
          <p:cNvSpPr/>
          <p:nvPr/>
        </p:nvSpPr>
        <p:spPr>
          <a:xfrm>
            <a:off x="6126480" y="1965960"/>
            <a:ext cx="1325880" cy="1143000"/>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20" name="Text 18"/>
          <p:cNvSpPr/>
          <p:nvPr/>
        </p:nvSpPr>
        <p:spPr>
          <a:xfrm>
            <a:off x="6172200" y="2011680"/>
            <a:ext cx="1234440" cy="365760"/>
          </a:xfrm>
          <a:prstGeom prst="rect">
            <a:avLst/>
          </a:prstGeom>
          <a:noFill/>
          <a:ln/>
        </p:spPr>
        <p:txBody>
          <a:bodyPr wrap="square" lIns="0" tIns="0" rIns="0" bIns="0" rtlCol="0" anchor="ctr"/>
          <a:lstStyle/>
          <a:p>
            <a:pPr algn="ctr" indent="0" marL="0">
              <a:buNone/>
            </a:pPr>
            <a:r>
              <a:rPr lang="en-US" sz="1100" b="1" dirty="0">
                <a:solidFill>
                  <a:srgbClr val="0F2C5A"/>
                </a:solidFill>
                <a:latin typeface="Calibri" pitchFamily="34" charset="0"/>
                <a:ea typeface="Calibri" pitchFamily="34" charset="-122"/>
                <a:cs typeface="Calibri" pitchFamily="34" charset="-120"/>
              </a:rPr>
              <a:t>Secret Message</a:t>
            </a:r>
            <a:endParaRPr lang="en-US" sz="1100" dirty="0"/>
          </a:p>
        </p:txBody>
      </p:sp>
      <p:sp>
        <p:nvSpPr>
          <p:cNvPr id="21" name="Text 19"/>
          <p:cNvSpPr/>
          <p:nvPr/>
        </p:nvSpPr>
        <p:spPr>
          <a:xfrm>
            <a:off x="6172200" y="2395728"/>
            <a:ext cx="1234440" cy="594360"/>
          </a:xfrm>
          <a:prstGeom prst="rect">
            <a:avLst/>
          </a:prstGeom>
          <a:noFill/>
          <a:ln/>
        </p:spPr>
        <p:txBody>
          <a:bodyPr wrap="square" lIns="0" tIns="0" rIns="0" bIns="0"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The text to hide</a:t>
            </a:r>
            <a:endParaRPr lang="en-US" sz="1100" dirty="0"/>
          </a:p>
        </p:txBody>
      </p:sp>
      <p:sp>
        <p:nvSpPr>
          <p:cNvPr id="22" name="Shape 20"/>
          <p:cNvSpPr/>
          <p:nvPr/>
        </p:nvSpPr>
        <p:spPr>
          <a:xfrm>
            <a:off x="7589520" y="1965960"/>
            <a:ext cx="1325880" cy="1143000"/>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23" name="Text 21"/>
          <p:cNvSpPr/>
          <p:nvPr/>
        </p:nvSpPr>
        <p:spPr>
          <a:xfrm>
            <a:off x="7635240" y="2011680"/>
            <a:ext cx="1234440" cy="365760"/>
          </a:xfrm>
          <a:prstGeom prst="rect">
            <a:avLst/>
          </a:prstGeom>
          <a:noFill/>
          <a:ln/>
        </p:spPr>
        <p:txBody>
          <a:bodyPr wrap="square" lIns="0" tIns="0" rIns="0" bIns="0" rtlCol="0" anchor="ctr"/>
          <a:lstStyle/>
          <a:p>
            <a:pPr algn="ctr" indent="0" marL="0">
              <a:buNone/>
            </a:pPr>
            <a:r>
              <a:rPr lang="en-US" sz="1100" b="1" dirty="0">
                <a:solidFill>
                  <a:srgbClr val="0F2C5A"/>
                </a:solidFill>
                <a:latin typeface="Calibri" pitchFamily="34" charset="0"/>
                <a:ea typeface="Calibri" pitchFamily="34" charset="-122"/>
                <a:cs typeface="Calibri" pitchFamily="34" charset="-120"/>
              </a:rPr>
              <a:t>Stego Object</a:t>
            </a:r>
            <a:endParaRPr lang="en-US" sz="1100" dirty="0"/>
          </a:p>
        </p:txBody>
      </p:sp>
      <p:sp>
        <p:nvSpPr>
          <p:cNvPr id="24" name="Text 22"/>
          <p:cNvSpPr/>
          <p:nvPr/>
        </p:nvSpPr>
        <p:spPr>
          <a:xfrm>
            <a:off x="7635240" y="2395728"/>
            <a:ext cx="1234440" cy="594360"/>
          </a:xfrm>
          <a:prstGeom prst="rect">
            <a:avLst/>
          </a:prstGeom>
          <a:noFill/>
          <a:ln/>
        </p:spPr>
        <p:txBody>
          <a:bodyPr wrap="square" lIns="0" tIns="0" rIns="0" bIns="0"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Image with hidden data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LITERATURE REVIEW</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Why the LSB Method?</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Comparison of steganography techniques</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274320" y="1600200"/>
            <a:ext cx="2286000" cy="384048"/>
          </a:xfrm>
          <a:prstGeom prst="rect">
            <a:avLst/>
          </a:prstGeom>
          <a:solidFill>
            <a:srgbClr val="0F2C5A"/>
          </a:solidFill>
          <a:ln w="12700">
            <a:solidFill>
              <a:srgbClr val="0F2C5A"/>
            </a:solidFill>
            <a:prstDash val="solid"/>
          </a:ln>
        </p:spPr>
      </p:sp>
      <p:sp>
        <p:nvSpPr>
          <p:cNvPr id="8" name="Text 6"/>
          <p:cNvSpPr/>
          <p:nvPr/>
        </p:nvSpPr>
        <p:spPr>
          <a:xfrm>
            <a:off x="274320" y="1600200"/>
            <a:ext cx="2286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9" name="Shape 7"/>
          <p:cNvSpPr/>
          <p:nvPr/>
        </p:nvSpPr>
        <p:spPr>
          <a:xfrm>
            <a:off x="2560320" y="1600200"/>
            <a:ext cx="1737360" cy="384048"/>
          </a:xfrm>
          <a:prstGeom prst="rect">
            <a:avLst/>
          </a:prstGeom>
          <a:solidFill>
            <a:srgbClr val="0F2C5A"/>
          </a:solidFill>
          <a:ln w="12700">
            <a:solidFill>
              <a:srgbClr val="0F2C5A"/>
            </a:solidFill>
            <a:prstDash val="solid"/>
          </a:ln>
        </p:spPr>
      </p:sp>
      <p:sp>
        <p:nvSpPr>
          <p:cNvPr id="10" name="Text 8"/>
          <p:cNvSpPr/>
          <p:nvPr/>
        </p:nvSpPr>
        <p:spPr>
          <a:xfrm>
            <a:off x="2560320" y="1600200"/>
            <a:ext cx="1737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LSB ✅</a:t>
            </a:r>
            <a:endParaRPr lang="en-US" sz="1200" dirty="0"/>
          </a:p>
        </p:txBody>
      </p:sp>
      <p:sp>
        <p:nvSpPr>
          <p:cNvPr id="11" name="Shape 9"/>
          <p:cNvSpPr/>
          <p:nvPr/>
        </p:nvSpPr>
        <p:spPr>
          <a:xfrm>
            <a:off x="4297680" y="1600200"/>
            <a:ext cx="1737360" cy="384048"/>
          </a:xfrm>
          <a:prstGeom prst="rect">
            <a:avLst/>
          </a:prstGeom>
          <a:solidFill>
            <a:srgbClr val="0F2C5A"/>
          </a:solidFill>
          <a:ln w="12700">
            <a:solidFill>
              <a:srgbClr val="0F2C5A"/>
            </a:solidFill>
            <a:prstDash val="solid"/>
          </a:ln>
        </p:spPr>
      </p:sp>
      <p:sp>
        <p:nvSpPr>
          <p:cNvPr id="12" name="Text 10"/>
          <p:cNvSpPr/>
          <p:nvPr/>
        </p:nvSpPr>
        <p:spPr>
          <a:xfrm>
            <a:off x="4297680" y="1600200"/>
            <a:ext cx="1737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DCT</a:t>
            </a:r>
            <a:endParaRPr lang="en-US" sz="1200" dirty="0"/>
          </a:p>
        </p:txBody>
      </p:sp>
      <p:sp>
        <p:nvSpPr>
          <p:cNvPr id="13" name="Shape 11"/>
          <p:cNvSpPr/>
          <p:nvPr/>
        </p:nvSpPr>
        <p:spPr>
          <a:xfrm>
            <a:off x="6035040" y="1600200"/>
            <a:ext cx="1737360" cy="384048"/>
          </a:xfrm>
          <a:prstGeom prst="rect">
            <a:avLst/>
          </a:prstGeom>
          <a:solidFill>
            <a:srgbClr val="0F2C5A"/>
          </a:solidFill>
          <a:ln w="12700">
            <a:solidFill>
              <a:srgbClr val="0F2C5A"/>
            </a:solidFill>
            <a:prstDash val="solid"/>
          </a:ln>
        </p:spPr>
      </p:sp>
      <p:sp>
        <p:nvSpPr>
          <p:cNvPr id="14" name="Text 12"/>
          <p:cNvSpPr/>
          <p:nvPr/>
        </p:nvSpPr>
        <p:spPr>
          <a:xfrm>
            <a:off x="6035040" y="1600200"/>
            <a:ext cx="1737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DWT</a:t>
            </a:r>
            <a:endParaRPr lang="en-US" sz="1200" dirty="0"/>
          </a:p>
        </p:txBody>
      </p:sp>
      <p:sp>
        <p:nvSpPr>
          <p:cNvPr id="15" name="Shape 13"/>
          <p:cNvSpPr/>
          <p:nvPr/>
        </p:nvSpPr>
        <p:spPr>
          <a:xfrm>
            <a:off x="7772400" y="1600200"/>
            <a:ext cx="1737360" cy="384048"/>
          </a:xfrm>
          <a:prstGeom prst="rect">
            <a:avLst/>
          </a:prstGeom>
          <a:solidFill>
            <a:srgbClr val="0F2C5A"/>
          </a:solidFill>
          <a:ln w="12700">
            <a:solidFill>
              <a:srgbClr val="0F2C5A"/>
            </a:solidFill>
            <a:prstDash val="solid"/>
          </a:ln>
        </p:spPr>
      </p:sp>
      <p:sp>
        <p:nvSpPr>
          <p:cNvPr id="16" name="Text 14"/>
          <p:cNvSpPr/>
          <p:nvPr/>
        </p:nvSpPr>
        <p:spPr>
          <a:xfrm>
            <a:off x="7772400" y="1600200"/>
            <a:ext cx="1737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Spread Spectrum</a:t>
            </a:r>
            <a:endParaRPr lang="en-US" sz="1200" dirty="0"/>
          </a:p>
        </p:txBody>
      </p:sp>
      <p:sp>
        <p:nvSpPr>
          <p:cNvPr id="17" name="Shape 15"/>
          <p:cNvSpPr/>
          <p:nvPr/>
        </p:nvSpPr>
        <p:spPr>
          <a:xfrm>
            <a:off x="274320" y="1984248"/>
            <a:ext cx="2286000" cy="475488"/>
          </a:xfrm>
          <a:prstGeom prst="rect">
            <a:avLst/>
          </a:prstGeom>
          <a:solidFill>
            <a:srgbClr val="F7F9FC"/>
          </a:solidFill>
          <a:ln w="12700">
            <a:solidFill>
              <a:srgbClr val="CBD5E1"/>
            </a:solidFill>
            <a:prstDash val="solid"/>
          </a:ln>
        </p:spPr>
      </p:sp>
      <p:sp>
        <p:nvSpPr>
          <p:cNvPr id="18" name="Text 16"/>
          <p:cNvSpPr/>
          <p:nvPr/>
        </p:nvSpPr>
        <p:spPr>
          <a:xfrm>
            <a:off x="274320" y="1984248"/>
            <a:ext cx="228600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Implementation</a:t>
            </a:r>
            <a:endParaRPr lang="en-US" sz="1150" dirty="0"/>
          </a:p>
        </p:txBody>
      </p:sp>
      <p:sp>
        <p:nvSpPr>
          <p:cNvPr id="19" name="Shape 17"/>
          <p:cNvSpPr/>
          <p:nvPr/>
        </p:nvSpPr>
        <p:spPr>
          <a:xfrm>
            <a:off x="2560320" y="1984248"/>
            <a:ext cx="1737360" cy="475488"/>
          </a:xfrm>
          <a:prstGeom prst="rect">
            <a:avLst/>
          </a:prstGeom>
          <a:solidFill>
            <a:srgbClr val="D6E8FF"/>
          </a:solidFill>
          <a:ln w="12700">
            <a:solidFill>
              <a:srgbClr val="CBD5E1"/>
            </a:solidFill>
            <a:prstDash val="solid"/>
          </a:ln>
        </p:spPr>
      </p:sp>
      <p:sp>
        <p:nvSpPr>
          <p:cNvPr id="20" name="Text 18"/>
          <p:cNvSpPr/>
          <p:nvPr/>
        </p:nvSpPr>
        <p:spPr>
          <a:xfrm>
            <a:off x="2560320" y="1984248"/>
            <a:ext cx="1737360" cy="475488"/>
          </a:xfrm>
          <a:prstGeom prst="rect">
            <a:avLst/>
          </a:prstGeom>
          <a:noFill/>
          <a:ln/>
        </p:spPr>
        <p:txBody>
          <a:bodyPr wrap="square" lIns="0" tIns="0" rIns="0" bIns="0" rtlCol="0" anchor="ctr"/>
          <a:lstStyle/>
          <a:p>
            <a:pPr algn="ctr" indent="0" marL="0">
              <a:buNone/>
            </a:pPr>
            <a:r>
              <a:rPr lang="en-US" sz="1150" b="1" dirty="0">
                <a:solidFill>
                  <a:srgbClr val="1B5EA6"/>
                </a:solidFill>
                <a:latin typeface="Calibri" pitchFamily="34" charset="0"/>
                <a:ea typeface="Calibri" pitchFamily="34" charset="-122"/>
                <a:cs typeface="Calibri" pitchFamily="34" charset="-120"/>
              </a:rPr>
              <a:t>Simple ⭐⭐⭐</a:t>
            </a:r>
            <a:endParaRPr lang="en-US" sz="1150" dirty="0"/>
          </a:p>
        </p:txBody>
      </p:sp>
      <p:sp>
        <p:nvSpPr>
          <p:cNvPr id="21" name="Shape 19"/>
          <p:cNvSpPr/>
          <p:nvPr/>
        </p:nvSpPr>
        <p:spPr>
          <a:xfrm>
            <a:off x="4297680" y="1984248"/>
            <a:ext cx="1737360" cy="475488"/>
          </a:xfrm>
          <a:prstGeom prst="rect">
            <a:avLst/>
          </a:prstGeom>
          <a:solidFill>
            <a:srgbClr val="F7F9FC"/>
          </a:solidFill>
          <a:ln w="12700">
            <a:solidFill>
              <a:srgbClr val="CBD5E1"/>
            </a:solidFill>
            <a:prstDash val="solid"/>
          </a:ln>
        </p:spPr>
      </p:sp>
      <p:sp>
        <p:nvSpPr>
          <p:cNvPr id="22" name="Text 20"/>
          <p:cNvSpPr/>
          <p:nvPr/>
        </p:nvSpPr>
        <p:spPr>
          <a:xfrm>
            <a:off x="4297680" y="198424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Complex</a:t>
            </a:r>
            <a:endParaRPr lang="en-US" sz="1150" dirty="0"/>
          </a:p>
        </p:txBody>
      </p:sp>
      <p:sp>
        <p:nvSpPr>
          <p:cNvPr id="23" name="Shape 21"/>
          <p:cNvSpPr/>
          <p:nvPr/>
        </p:nvSpPr>
        <p:spPr>
          <a:xfrm>
            <a:off x="6035040" y="1984248"/>
            <a:ext cx="1737360" cy="475488"/>
          </a:xfrm>
          <a:prstGeom prst="rect">
            <a:avLst/>
          </a:prstGeom>
          <a:solidFill>
            <a:srgbClr val="F7F9FC"/>
          </a:solidFill>
          <a:ln w="12700">
            <a:solidFill>
              <a:srgbClr val="CBD5E1"/>
            </a:solidFill>
            <a:prstDash val="solid"/>
          </a:ln>
        </p:spPr>
      </p:sp>
      <p:sp>
        <p:nvSpPr>
          <p:cNvPr id="24" name="Text 22"/>
          <p:cNvSpPr/>
          <p:nvPr/>
        </p:nvSpPr>
        <p:spPr>
          <a:xfrm>
            <a:off x="6035040" y="198424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Complex</a:t>
            </a:r>
            <a:endParaRPr lang="en-US" sz="1150" dirty="0"/>
          </a:p>
        </p:txBody>
      </p:sp>
      <p:sp>
        <p:nvSpPr>
          <p:cNvPr id="25" name="Shape 23"/>
          <p:cNvSpPr/>
          <p:nvPr/>
        </p:nvSpPr>
        <p:spPr>
          <a:xfrm>
            <a:off x="7772400" y="1984248"/>
            <a:ext cx="1737360" cy="475488"/>
          </a:xfrm>
          <a:prstGeom prst="rect">
            <a:avLst/>
          </a:prstGeom>
          <a:solidFill>
            <a:srgbClr val="F7F9FC"/>
          </a:solidFill>
          <a:ln w="12700">
            <a:solidFill>
              <a:srgbClr val="CBD5E1"/>
            </a:solidFill>
            <a:prstDash val="solid"/>
          </a:ln>
        </p:spPr>
      </p:sp>
      <p:sp>
        <p:nvSpPr>
          <p:cNvPr id="26" name="Text 24"/>
          <p:cNvSpPr/>
          <p:nvPr/>
        </p:nvSpPr>
        <p:spPr>
          <a:xfrm>
            <a:off x="7772400" y="198424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Very complex</a:t>
            </a:r>
            <a:endParaRPr lang="en-US" sz="1150" dirty="0"/>
          </a:p>
        </p:txBody>
      </p:sp>
      <p:sp>
        <p:nvSpPr>
          <p:cNvPr id="27" name="Shape 25"/>
          <p:cNvSpPr/>
          <p:nvPr/>
        </p:nvSpPr>
        <p:spPr>
          <a:xfrm>
            <a:off x="274320" y="2487168"/>
            <a:ext cx="2286000" cy="475488"/>
          </a:xfrm>
          <a:prstGeom prst="rect">
            <a:avLst/>
          </a:prstGeom>
          <a:solidFill>
            <a:srgbClr val="FFFFFF"/>
          </a:solidFill>
          <a:ln w="12700">
            <a:solidFill>
              <a:srgbClr val="CBD5E1"/>
            </a:solidFill>
            <a:prstDash val="solid"/>
          </a:ln>
        </p:spPr>
      </p:sp>
      <p:sp>
        <p:nvSpPr>
          <p:cNvPr id="28" name="Text 26"/>
          <p:cNvSpPr/>
          <p:nvPr/>
        </p:nvSpPr>
        <p:spPr>
          <a:xfrm>
            <a:off x="274320" y="2487168"/>
            <a:ext cx="228600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Capacity</a:t>
            </a:r>
            <a:endParaRPr lang="en-US" sz="1150" dirty="0"/>
          </a:p>
        </p:txBody>
      </p:sp>
      <p:sp>
        <p:nvSpPr>
          <p:cNvPr id="29" name="Shape 27"/>
          <p:cNvSpPr/>
          <p:nvPr/>
        </p:nvSpPr>
        <p:spPr>
          <a:xfrm>
            <a:off x="2560320" y="2487168"/>
            <a:ext cx="1737360" cy="475488"/>
          </a:xfrm>
          <a:prstGeom prst="rect">
            <a:avLst/>
          </a:prstGeom>
          <a:solidFill>
            <a:srgbClr val="D6E8FF"/>
          </a:solidFill>
          <a:ln w="12700">
            <a:solidFill>
              <a:srgbClr val="CBD5E1"/>
            </a:solidFill>
            <a:prstDash val="solid"/>
          </a:ln>
        </p:spPr>
      </p:sp>
      <p:sp>
        <p:nvSpPr>
          <p:cNvPr id="30" name="Text 28"/>
          <p:cNvSpPr/>
          <p:nvPr/>
        </p:nvSpPr>
        <p:spPr>
          <a:xfrm>
            <a:off x="2560320" y="2487168"/>
            <a:ext cx="1737360" cy="475488"/>
          </a:xfrm>
          <a:prstGeom prst="rect">
            <a:avLst/>
          </a:prstGeom>
          <a:noFill/>
          <a:ln/>
        </p:spPr>
        <p:txBody>
          <a:bodyPr wrap="square" lIns="0" tIns="0" rIns="0" bIns="0" rtlCol="0" anchor="ctr"/>
          <a:lstStyle/>
          <a:p>
            <a:pPr algn="ctr" indent="0" marL="0">
              <a:buNone/>
            </a:pPr>
            <a:r>
              <a:rPr lang="en-US" sz="1150" b="1" dirty="0">
                <a:solidFill>
                  <a:srgbClr val="1B5EA6"/>
                </a:solidFill>
                <a:latin typeface="Calibri" pitchFamily="34" charset="0"/>
                <a:ea typeface="Calibri" pitchFamily="34" charset="-122"/>
                <a:cs typeface="Calibri" pitchFamily="34" charset="-120"/>
              </a:rPr>
              <a:t>High ⭐⭐⭐</a:t>
            </a:r>
            <a:endParaRPr lang="en-US" sz="1150" dirty="0"/>
          </a:p>
        </p:txBody>
      </p:sp>
      <p:sp>
        <p:nvSpPr>
          <p:cNvPr id="31" name="Shape 29"/>
          <p:cNvSpPr/>
          <p:nvPr/>
        </p:nvSpPr>
        <p:spPr>
          <a:xfrm>
            <a:off x="4297680" y="2487168"/>
            <a:ext cx="1737360" cy="475488"/>
          </a:xfrm>
          <a:prstGeom prst="rect">
            <a:avLst/>
          </a:prstGeom>
          <a:solidFill>
            <a:srgbClr val="FFFFFF"/>
          </a:solidFill>
          <a:ln w="12700">
            <a:solidFill>
              <a:srgbClr val="CBD5E1"/>
            </a:solidFill>
            <a:prstDash val="solid"/>
          </a:ln>
        </p:spPr>
      </p:sp>
      <p:sp>
        <p:nvSpPr>
          <p:cNvPr id="32" name="Text 30"/>
          <p:cNvSpPr/>
          <p:nvPr/>
        </p:nvSpPr>
        <p:spPr>
          <a:xfrm>
            <a:off x="4297680" y="248716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Medium</a:t>
            </a:r>
            <a:endParaRPr lang="en-US" sz="1150" dirty="0"/>
          </a:p>
        </p:txBody>
      </p:sp>
      <p:sp>
        <p:nvSpPr>
          <p:cNvPr id="33" name="Shape 31"/>
          <p:cNvSpPr/>
          <p:nvPr/>
        </p:nvSpPr>
        <p:spPr>
          <a:xfrm>
            <a:off x="6035040" y="2487168"/>
            <a:ext cx="1737360" cy="475488"/>
          </a:xfrm>
          <a:prstGeom prst="rect">
            <a:avLst/>
          </a:prstGeom>
          <a:solidFill>
            <a:srgbClr val="FFFFFF"/>
          </a:solidFill>
          <a:ln w="12700">
            <a:solidFill>
              <a:srgbClr val="CBD5E1"/>
            </a:solidFill>
            <a:prstDash val="solid"/>
          </a:ln>
        </p:spPr>
      </p:sp>
      <p:sp>
        <p:nvSpPr>
          <p:cNvPr id="34" name="Text 32"/>
          <p:cNvSpPr/>
          <p:nvPr/>
        </p:nvSpPr>
        <p:spPr>
          <a:xfrm>
            <a:off x="6035040" y="248716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Medium</a:t>
            </a:r>
            <a:endParaRPr lang="en-US" sz="1150" dirty="0"/>
          </a:p>
        </p:txBody>
      </p:sp>
      <p:sp>
        <p:nvSpPr>
          <p:cNvPr id="35" name="Shape 33"/>
          <p:cNvSpPr/>
          <p:nvPr/>
        </p:nvSpPr>
        <p:spPr>
          <a:xfrm>
            <a:off x="7772400" y="2487168"/>
            <a:ext cx="1737360" cy="475488"/>
          </a:xfrm>
          <a:prstGeom prst="rect">
            <a:avLst/>
          </a:prstGeom>
          <a:solidFill>
            <a:srgbClr val="FFFFFF"/>
          </a:solidFill>
          <a:ln w="12700">
            <a:solidFill>
              <a:srgbClr val="CBD5E1"/>
            </a:solidFill>
            <a:prstDash val="solid"/>
          </a:ln>
        </p:spPr>
      </p:sp>
      <p:sp>
        <p:nvSpPr>
          <p:cNvPr id="36" name="Text 34"/>
          <p:cNvSpPr/>
          <p:nvPr/>
        </p:nvSpPr>
        <p:spPr>
          <a:xfrm>
            <a:off x="7772400" y="248716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Low</a:t>
            </a:r>
            <a:endParaRPr lang="en-US" sz="1150" dirty="0"/>
          </a:p>
        </p:txBody>
      </p:sp>
      <p:sp>
        <p:nvSpPr>
          <p:cNvPr id="37" name="Shape 35"/>
          <p:cNvSpPr/>
          <p:nvPr/>
        </p:nvSpPr>
        <p:spPr>
          <a:xfrm>
            <a:off x="274320" y="2990088"/>
            <a:ext cx="2286000" cy="475488"/>
          </a:xfrm>
          <a:prstGeom prst="rect">
            <a:avLst/>
          </a:prstGeom>
          <a:solidFill>
            <a:srgbClr val="F7F9FC"/>
          </a:solidFill>
          <a:ln w="12700">
            <a:solidFill>
              <a:srgbClr val="CBD5E1"/>
            </a:solidFill>
            <a:prstDash val="solid"/>
          </a:ln>
        </p:spPr>
      </p:sp>
      <p:sp>
        <p:nvSpPr>
          <p:cNvPr id="38" name="Text 36"/>
          <p:cNvSpPr/>
          <p:nvPr/>
        </p:nvSpPr>
        <p:spPr>
          <a:xfrm>
            <a:off x="274320" y="2990088"/>
            <a:ext cx="228600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Imperceptibility</a:t>
            </a:r>
            <a:endParaRPr lang="en-US" sz="1150" dirty="0"/>
          </a:p>
        </p:txBody>
      </p:sp>
      <p:sp>
        <p:nvSpPr>
          <p:cNvPr id="39" name="Shape 37"/>
          <p:cNvSpPr/>
          <p:nvPr/>
        </p:nvSpPr>
        <p:spPr>
          <a:xfrm>
            <a:off x="2560320" y="2990088"/>
            <a:ext cx="1737360" cy="475488"/>
          </a:xfrm>
          <a:prstGeom prst="rect">
            <a:avLst/>
          </a:prstGeom>
          <a:solidFill>
            <a:srgbClr val="D6E8FF"/>
          </a:solidFill>
          <a:ln w="12700">
            <a:solidFill>
              <a:srgbClr val="CBD5E1"/>
            </a:solidFill>
            <a:prstDash val="solid"/>
          </a:ln>
        </p:spPr>
      </p:sp>
      <p:sp>
        <p:nvSpPr>
          <p:cNvPr id="40" name="Text 38"/>
          <p:cNvSpPr/>
          <p:nvPr/>
        </p:nvSpPr>
        <p:spPr>
          <a:xfrm>
            <a:off x="2560320" y="2990088"/>
            <a:ext cx="1737360" cy="475488"/>
          </a:xfrm>
          <a:prstGeom prst="rect">
            <a:avLst/>
          </a:prstGeom>
          <a:noFill/>
          <a:ln/>
        </p:spPr>
        <p:txBody>
          <a:bodyPr wrap="square" lIns="0" tIns="0" rIns="0" bIns="0" rtlCol="0" anchor="ctr"/>
          <a:lstStyle/>
          <a:p>
            <a:pPr algn="ctr" indent="0" marL="0">
              <a:buNone/>
            </a:pPr>
            <a:r>
              <a:rPr lang="en-US" sz="1150" b="1" dirty="0">
                <a:solidFill>
                  <a:srgbClr val="1B5EA6"/>
                </a:solidFill>
                <a:latin typeface="Calibri" pitchFamily="34" charset="0"/>
                <a:ea typeface="Calibri" pitchFamily="34" charset="-122"/>
                <a:cs typeface="Calibri" pitchFamily="34" charset="-120"/>
              </a:rPr>
              <a:t>High ⭐⭐⭐</a:t>
            </a:r>
            <a:endParaRPr lang="en-US" sz="1150" dirty="0"/>
          </a:p>
        </p:txBody>
      </p:sp>
      <p:sp>
        <p:nvSpPr>
          <p:cNvPr id="41" name="Shape 39"/>
          <p:cNvSpPr/>
          <p:nvPr/>
        </p:nvSpPr>
        <p:spPr>
          <a:xfrm>
            <a:off x="4297680" y="2990088"/>
            <a:ext cx="1737360" cy="475488"/>
          </a:xfrm>
          <a:prstGeom prst="rect">
            <a:avLst/>
          </a:prstGeom>
          <a:solidFill>
            <a:srgbClr val="F7F9FC"/>
          </a:solidFill>
          <a:ln w="12700">
            <a:solidFill>
              <a:srgbClr val="CBD5E1"/>
            </a:solidFill>
            <a:prstDash val="solid"/>
          </a:ln>
        </p:spPr>
      </p:sp>
      <p:sp>
        <p:nvSpPr>
          <p:cNvPr id="42" name="Text 40"/>
          <p:cNvSpPr/>
          <p:nvPr/>
        </p:nvSpPr>
        <p:spPr>
          <a:xfrm>
            <a:off x="4297680" y="299008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High</a:t>
            </a:r>
            <a:endParaRPr lang="en-US" sz="1150" dirty="0"/>
          </a:p>
        </p:txBody>
      </p:sp>
      <p:sp>
        <p:nvSpPr>
          <p:cNvPr id="43" name="Shape 41"/>
          <p:cNvSpPr/>
          <p:nvPr/>
        </p:nvSpPr>
        <p:spPr>
          <a:xfrm>
            <a:off x="6035040" y="2990088"/>
            <a:ext cx="1737360" cy="475488"/>
          </a:xfrm>
          <a:prstGeom prst="rect">
            <a:avLst/>
          </a:prstGeom>
          <a:solidFill>
            <a:srgbClr val="F7F9FC"/>
          </a:solidFill>
          <a:ln w="12700">
            <a:solidFill>
              <a:srgbClr val="CBD5E1"/>
            </a:solidFill>
            <a:prstDash val="solid"/>
          </a:ln>
        </p:spPr>
      </p:sp>
      <p:sp>
        <p:nvSpPr>
          <p:cNvPr id="44" name="Text 42"/>
          <p:cNvSpPr/>
          <p:nvPr/>
        </p:nvSpPr>
        <p:spPr>
          <a:xfrm>
            <a:off x="6035040" y="299008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Very High</a:t>
            </a:r>
            <a:endParaRPr lang="en-US" sz="1150" dirty="0"/>
          </a:p>
        </p:txBody>
      </p:sp>
      <p:sp>
        <p:nvSpPr>
          <p:cNvPr id="45" name="Shape 43"/>
          <p:cNvSpPr/>
          <p:nvPr/>
        </p:nvSpPr>
        <p:spPr>
          <a:xfrm>
            <a:off x="7772400" y="2990088"/>
            <a:ext cx="1737360" cy="475488"/>
          </a:xfrm>
          <a:prstGeom prst="rect">
            <a:avLst/>
          </a:prstGeom>
          <a:solidFill>
            <a:srgbClr val="F7F9FC"/>
          </a:solidFill>
          <a:ln w="12700">
            <a:solidFill>
              <a:srgbClr val="CBD5E1"/>
            </a:solidFill>
            <a:prstDash val="solid"/>
          </a:ln>
        </p:spPr>
      </p:sp>
      <p:sp>
        <p:nvSpPr>
          <p:cNvPr id="46" name="Text 44"/>
          <p:cNvSpPr/>
          <p:nvPr/>
        </p:nvSpPr>
        <p:spPr>
          <a:xfrm>
            <a:off x="7772400" y="299008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High</a:t>
            </a:r>
            <a:endParaRPr lang="en-US" sz="1150" dirty="0"/>
          </a:p>
        </p:txBody>
      </p:sp>
      <p:sp>
        <p:nvSpPr>
          <p:cNvPr id="47" name="Shape 45"/>
          <p:cNvSpPr/>
          <p:nvPr/>
        </p:nvSpPr>
        <p:spPr>
          <a:xfrm>
            <a:off x="274320" y="3493008"/>
            <a:ext cx="2286000" cy="475488"/>
          </a:xfrm>
          <a:prstGeom prst="rect">
            <a:avLst/>
          </a:prstGeom>
          <a:solidFill>
            <a:srgbClr val="FFFFFF"/>
          </a:solidFill>
          <a:ln w="12700">
            <a:solidFill>
              <a:srgbClr val="CBD5E1"/>
            </a:solidFill>
            <a:prstDash val="solid"/>
          </a:ln>
        </p:spPr>
      </p:sp>
      <p:sp>
        <p:nvSpPr>
          <p:cNvPr id="48" name="Text 46"/>
          <p:cNvSpPr/>
          <p:nvPr/>
        </p:nvSpPr>
        <p:spPr>
          <a:xfrm>
            <a:off x="274320" y="3493008"/>
            <a:ext cx="228600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Robustness</a:t>
            </a:r>
            <a:endParaRPr lang="en-US" sz="1150" dirty="0"/>
          </a:p>
        </p:txBody>
      </p:sp>
      <p:sp>
        <p:nvSpPr>
          <p:cNvPr id="49" name="Shape 47"/>
          <p:cNvSpPr/>
          <p:nvPr/>
        </p:nvSpPr>
        <p:spPr>
          <a:xfrm>
            <a:off x="2560320" y="3493008"/>
            <a:ext cx="1737360" cy="475488"/>
          </a:xfrm>
          <a:prstGeom prst="rect">
            <a:avLst/>
          </a:prstGeom>
          <a:solidFill>
            <a:srgbClr val="D6E8FF"/>
          </a:solidFill>
          <a:ln w="12700">
            <a:solidFill>
              <a:srgbClr val="CBD5E1"/>
            </a:solidFill>
            <a:prstDash val="solid"/>
          </a:ln>
        </p:spPr>
      </p:sp>
      <p:sp>
        <p:nvSpPr>
          <p:cNvPr id="50" name="Text 48"/>
          <p:cNvSpPr/>
          <p:nvPr/>
        </p:nvSpPr>
        <p:spPr>
          <a:xfrm>
            <a:off x="2560320" y="3493008"/>
            <a:ext cx="1737360" cy="475488"/>
          </a:xfrm>
          <a:prstGeom prst="rect">
            <a:avLst/>
          </a:prstGeom>
          <a:noFill/>
          <a:ln/>
        </p:spPr>
        <p:txBody>
          <a:bodyPr wrap="square" lIns="0" tIns="0" rIns="0" bIns="0" rtlCol="0" anchor="ctr"/>
          <a:lstStyle/>
          <a:p>
            <a:pPr algn="ctr" indent="0" marL="0">
              <a:buNone/>
            </a:pPr>
            <a:r>
              <a:rPr lang="en-US" sz="1150" b="1" dirty="0">
                <a:solidFill>
                  <a:srgbClr val="1B5EA6"/>
                </a:solidFill>
                <a:latin typeface="Calibri" pitchFamily="34" charset="0"/>
                <a:ea typeface="Calibri" pitchFamily="34" charset="-122"/>
                <a:cs typeface="Calibri" pitchFamily="34" charset="-120"/>
              </a:rPr>
              <a:t>Low ⚠</a:t>
            </a:r>
            <a:endParaRPr lang="en-US" sz="1150" dirty="0"/>
          </a:p>
        </p:txBody>
      </p:sp>
      <p:sp>
        <p:nvSpPr>
          <p:cNvPr id="51" name="Shape 49"/>
          <p:cNvSpPr/>
          <p:nvPr/>
        </p:nvSpPr>
        <p:spPr>
          <a:xfrm>
            <a:off x="4297680" y="3493008"/>
            <a:ext cx="1737360" cy="475488"/>
          </a:xfrm>
          <a:prstGeom prst="rect">
            <a:avLst/>
          </a:prstGeom>
          <a:solidFill>
            <a:srgbClr val="FFFFFF"/>
          </a:solidFill>
          <a:ln w="12700">
            <a:solidFill>
              <a:srgbClr val="CBD5E1"/>
            </a:solidFill>
            <a:prstDash val="solid"/>
          </a:ln>
        </p:spPr>
      </p:sp>
      <p:sp>
        <p:nvSpPr>
          <p:cNvPr id="52" name="Text 50"/>
          <p:cNvSpPr/>
          <p:nvPr/>
        </p:nvSpPr>
        <p:spPr>
          <a:xfrm>
            <a:off x="4297680" y="349300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High</a:t>
            </a:r>
            <a:endParaRPr lang="en-US" sz="1150" dirty="0"/>
          </a:p>
        </p:txBody>
      </p:sp>
      <p:sp>
        <p:nvSpPr>
          <p:cNvPr id="53" name="Shape 51"/>
          <p:cNvSpPr/>
          <p:nvPr/>
        </p:nvSpPr>
        <p:spPr>
          <a:xfrm>
            <a:off x="6035040" y="3493008"/>
            <a:ext cx="1737360" cy="475488"/>
          </a:xfrm>
          <a:prstGeom prst="rect">
            <a:avLst/>
          </a:prstGeom>
          <a:solidFill>
            <a:srgbClr val="FFFFFF"/>
          </a:solidFill>
          <a:ln w="12700">
            <a:solidFill>
              <a:srgbClr val="CBD5E1"/>
            </a:solidFill>
            <a:prstDash val="solid"/>
          </a:ln>
        </p:spPr>
      </p:sp>
      <p:sp>
        <p:nvSpPr>
          <p:cNvPr id="54" name="Text 52"/>
          <p:cNvSpPr/>
          <p:nvPr/>
        </p:nvSpPr>
        <p:spPr>
          <a:xfrm>
            <a:off x="6035040" y="349300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Very High</a:t>
            </a:r>
            <a:endParaRPr lang="en-US" sz="1150" dirty="0"/>
          </a:p>
        </p:txBody>
      </p:sp>
      <p:sp>
        <p:nvSpPr>
          <p:cNvPr id="55" name="Shape 53"/>
          <p:cNvSpPr/>
          <p:nvPr/>
        </p:nvSpPr>
        <p:spPr>
          <a:xfrm>
            <a:off x="7772400" y="3493008"/>
            <a:ext cx="1737360" cy="475488"/>
          </a:xfrm>
          <a:prstGeom prst="rect">
            <a:avLst/>
          </a:prstGeom>
          <a:solidFill>
            <a:srgbClr val="FFFFFF"/>
          </a:solidFill>
          <a:ln w="12700">
            <a:solidFill>
              <a:srgbClr val="CBD5E1"/>
            </a:solidFill>
            <a:prstDash val="solid"/>
          </a:ln>
        </p:spPr>
      </p:sp>
      <p:sp>
        <p:nvSpPr>
          <p:cNvPr id="56" name="Text 54"/>
          <p:cNvSpPr/>
          <p:nvPr/>
        </p:nvSpPr>
        <p:spPr>
          <a:xfrm>
            <a:off x="7772400" y="349300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Very High</a:t>
            </a:r>
            <a:endParaRPr lang="en-US" sz="1150" dirty="0"/>
          </a:p>
        </p:txBody>
      </p:sp>
      <p:sp>
        <p:nvSpPr>
          <p:cNvPr id="57" name="Shape 55"/>
          <p:cNvSpPr/>
          <p:nvPr/>
        </p:nvSpPr>
        <p:spPr>
          <a:xfrm>
            <a:off x="274320" y="3995928"/>
            <a:ext cx="2286000" cy="475488"/>
          </a:xfrm>
          <a:prstGeom prst="rect">
            <a:avLst/>
          </a:prstGeom>
          <a:solidFill>
            <a:srgbClr val="F7F9FC"/>
          </a:solidFill>
          <a:ln w="12700">
            <a:solidFill>
              <a:srgbClr val="CBD5E1"/>
            </a:solidFill>
            <a:prstDash val="solid"/>
          </a:ln>
        </p:spPr>
      </p:sp>
      <p:sp>
        <p:nvSpPr>
          <p:cNvPr id="58" name="Text 56"/>
          <p:cNvSpPr/>
          <p:nvPr/>
        </p:nvSpPr>
        <p:spPr>
          <a:xfrm>
            <a:off x="274320" y="3995928"/>
            <a:ext cx="228600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Best Format</a:t>
            </a:r>
            <a:endParaRPr lang="en-US" sz="1150" dirty="0"/>
          </a:p>
        </p:txBody>
      </p:sp>
      <p:sp>
        <p:nvSpPr>
          <p:cNvPr id="59" name="Shape 57"/>
          <p:cNvSpPr/>
          <p:nvPr/>
        </p:nvSpPr>
        <p:spPr>
          <a:xfrm>
            <a:off x="2560320" y="3995928"/>
            <a:ext cx="1737360" cy="475488"/>
          </a:xfrm>
          <a:prstGeom prst="rect">
            <a:avLst/>
          </a:prstGeom>
          <a:solidFill>
            <a:srgbClr val="D6E8FF"/>
          </a:solidFill>
          <a:ln w="12700">
            <a:solidFill>
              <a:srgbClr val="CBD5E1"/>
            </a:solidFill>
            <a:prstDash val="solid"/>
          </a:ln>
        </p:spPr>
      </p:sp>
      <p:sp>
        <p:nvSpPr>
          <p:cNvPr id="60" name="Text 58"/>
          <p:cNvSpPr/>
          <p:nvPr/>
        </p:nvSpPr>
        <p:spPr>
          <a:xfrm>
            <a:off x="2560320" y="3995928"/>
            <a:ext cx="1737360" cy="475488"/>
          </a:xfrm>
          <a:prstGeom prst="rect">
            <a:avLst/>
          </a:prstGeom>
          <a:noFill/>
          <a:ln/>
        </p:spPr>
        <p:txBody>
          <a:bodyPr wrap="square" lIns="0" tIns="0" rIns="0" bIns="0" rtlCol="0" anchor="ctr"/>
          <a:lstStyle/>
          <a:p>
            <a:pPr algn="ctr" indent="0" marL="0">
              <a:buNone/>
            </a:pPr>
            <a:r>
              <a:rPr lang="en-US" sz="1150" b="1" dirty="0">
                <a:solidFill>
                  <a:srgbClr val="1B5EA6"/>
                </a:solidFill>
                <a:latin typeface="Calibri" pitchFamily="34" charset="0"/>
                <a:ea typeface="Calibri" pitchFamily="34" charset="-122"/>
                <a:cs typeface="Calibri" pitchFamily="34" charset="-120"/>
              </a:rPr>
              <a:t>PNG (lossless)</a:t>
            </a:r>
            <a:endParaRPr lang="en-US" sz="1150" dirty="0"/>
          </a:p>
        </p:txBody>
      </p:sp>
      <p:sp>
        <p:nvSpPr>
          <p:cNvPr id="61" name="Shape 59"/>
          <p:cNvSpPr/>
          <p:nvPr/>
        </p:nvSpPr>
        <p:spPr>
          <a:xfrm>
            <a:off x="4297680" y="3995928"/>
            <a:ext cx="1737360" cy="475488"/>
          </a:xfrm>
          <a:prstGeom prst="rect">
            <a:avLst/>
          </a:prstGeom>
          <a:solidFill>
            <a:srgbClr val="F7F9FC"/>
          </a:solidFill>
          <a:ln w="12700">
            <a:solidFill>
              <a:srgbClr val="CBD5E1"/>
            </a:solidFill>
            <a:prstDash val="solid"/>
          </a:ln>
        </p:spPr>
      </p:sp>
      <p:sp>
        <p:nvSpPr>
          <p:cNvPr id="62" name="Text 60"/>
          <p:cNvSpPr/>
          <p:nvPr/>
        </p:nvSpPr>
        <p:spPr>
          <a:xfrm>
            <a:off x="4297680" y="399592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JPEG</a:t>
            </a:r>
            <a:endParaRPr lang="en-US" sz="1150" dirty="0"/>
          </a:p>
        </p:txBody>
      </p:sp>
      <p:sp>
        <p:nvSpPr>
          <p:cNvPr id="63" name="Shape 61"/>
          <p:cNvSpPr/>
          <p:nvPr/>
        </p:nvSpPr>
        <p:spPr>
          <a:xfrm>
            <a:off x="6035040" y="3995928"/>
            <a:ext cx="1737360" cy="475488"/>
          </a:xfrm>
          <a:prstGeom prst="rect">
            <a:avLst/>
          </a:prstGeom>
          <a:solidFill>
            <a:srgbClr val="F7F9FC"/>
          </a:solidFill>
          <a:ln w="12700">
            <a:solidFill>
              <a:srgbClr val="CBD5E1"/>
            </a:solidFill>
            <a:prstDash val="solid"/>
          </a:ln>
        </p:spPr>
      </p:sp>
      <p:sp>
        <p:nvSpPr>
          <p:cNvPr id="64" name="Text 62"/>
          <p:cNvSpPr/>
          <p:nvPr/>
        </p:nvSpPr>
        <p:spPr>
          <a:xfrm>
            <a:off x="6035040" y="399592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PNG/JPEG</a:t>
            </a:r>
            <a:endParaRPr lang="en-US" sz="1150" dirty="0"/>
          </a:p>
        </p:txBody>
      </p:sp>
      <p:sp>
        <p:nvSpPr>
          <p:cNvPr id="65" name="Shape 63"/>
          <p:cNvSpPr/>
          <p:nvPr/>
        </p:nvSpPr>
        <p:spPr>
          <a:xfrm>
            <a:off x="7772400" y="3995928"/>
            <a:ext cx="1737360" cy="475488"/>
          </a:xfrm>
          <a:prstGeom prst="rect">
            <a:avLst/>
          </a:prstGeom>
          <a:solidFill>
            <a:srgbClr val="F7F9FC"/>
          </a:solidFill>
          <a:ln w="12700">
            <a:solidFill>
              <a:srgbClr val="CBD5E1"/>
            </a:solidFill>
            <a:prstDash val="solid"/>
          </a:ln>
        </p:spPr>
      </p:sp>
      <p:sp>
        <p:nvSpPr>
          <p:cNvPr id="66" name="Text 64"/>
          <p:cNvSpPr/>
          <p:nvPr/>
        </p:nvSpPr>
        <p:spPr>
          <a:xfrm>
            <a:off x="7772400" y="3995928"/>
            <a:ext cx="1737360" cy="475488"/>
          </a:xfrm>
          <a:prstGeom prst="rect">
            <a:avLst/>
          </a:prstGeom>
          <a:noFill/>
          <a:ln/>
        </p:spPr>
        <p:txBody>
          <a:bodyPr wrap="square" lIns="0" tIns="0" rIns="0" bIns="0" rtlCol="0" anchor="ctr"/>
          <a:lstStyle/>
          <a:p>
            <a:pPr algn="ctr" indent="0" marL="0">
              <a:buNone/>
            </a:pPr>
            <a:r>
              <a:rPr lang="en-US" sz="1150" dirty="0">
                <a:solidFill>
                  <a:srgbClr val="1A2440"/>
                </a:solidFill>
                <a:latin typeface="Calibri" pitchFamily="34" charset="0"/>
                <a:ea typeface="Calibri" pitchFamily="34" charset="-122"/>
                <a:cs typeface="Calibri" pitchFamily="34" charset="-120"/>
              </a:rPr>
              <a:t>Any</a:t>
            </a:r>
            <a:endParaRPr lang="en-US" sz="1150" dirty="0"/>
          </a:p>
        </p:txBody>
      </p:sp>
      <p:sp>
        <p:nvSpPr>
          <p:cNvPr id="67" name="Text 65"/>
          <p:cNvSpPr/>
          <p:nvPr/>
        </p:nvSpPr>
        <p:spPr>
          <a:xfrm>
            <a:off x="274320" y="4663440"/>
            <a:ext cx="8686800" cy="347472"/>
          </a:xfrm>
          <a:prstGeom prst="rect">
            <a:avLst/>
          </a:prstGeom>
          <a:noFill/>
          <a:ln/>
        </p:spPr>
        <p:txBody>
          <a:bodyPr wrap="square" lIns="0" tIns="0" rIns="0" bIns="0"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LSB is chosen for its simplicity, high capacity, and strong educational value as a foundation for steganography study.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LITERATURE REVIEW</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Why PNG, Not JPEG?</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Format choice is critical for LSB steganography</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3931920" cy="3017520"/>
          </a:xfrm>
          <a:prstGeom prst="rect">
            <a:avLst/>
          </a:prstGeom>
          <a:solidFill>
            <a:srgbClr val="FFF3F3"/>
          </a:solidFill>
          <a:ln w="12700">
            <a:solidFill>
              <a:srgbClr val="E53E3E"/>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48640" y="1719072"/>
            <a:ext cx="3566160" cy="411480"/>
          </a:xfrm>
          <a:prstGeom prst="rect">
            <a:avLst/>
          </a:prstGeom>
          <a:noFill/>
          <a:ln/>
        </p:spPr>
        <p:txBody>
          <a:bodyPr wrap="square" lIns="0" tIns="0" rIns="0" bIns="0" rtlCol="0" anchor="ctr"/>
          <a:lstStyle/>
          <a:p>
            <a:pPr indent="0" marL="0">
              <a:buNone/>
            </a:pPr>
            <a:r>
              <a:rPr lang="en-US" sz="1800" b="1" dirty="0">
                <a:solidFill>
                  <a:srgbClr val="C53030"/>
                </a:solidFill>
                <a:latin typeface="Calibri" pitchFamily="34" charset="0"/>
                <a:ea typeface="Calibri" pitchFamily="34" charset="-122"/>
                <a:cs typeface="Calibri" pitchFamily="34" charset="-120"/>
              </a:rPr>
              <a:t>❌ JPEG</a:t>
            </a:r>
            <a:endParaRPr lang="en-US" sz="1800" dirty="0"/>
          </a:p>
        </p:txBody>
      </p:sp>
      <p:sp>
        <p:nvSpPr>
          <p:cNvPr id="9" name="Text 7"/>
          <p:cNvSpPr/>
          <p:nvPr/>
        </p:nvSpPr>
        <p:spPr>
          <a:xfrm>
            <a:off x="548640" y="2103120"/>
            <a:ext cx="3566160" cy="274320"/>
          </a:xfrm>
          <a:prstGeom prst="rect">
            <a:avLst/>
          </a:prstGeom>
          <a:noFill/>
          <a:ln/>
        </p:spPr>
        <p:txBody>
          <a:bodyPr wrap="square" lIns="0" tIns="0" rIns="0" bIns="0" rtlCol="0" anchor="ctr"/>
          <a:lstStyle/>
          <a:p>
            <a:pPr indent="0" marL="0">
              <a:buNone/>
            </a:pPr>
            <a:r>
              <a:rPr lang="en-US" sz="1100" i="1" dirty="0">
                <a:solidFill>
                  <a:srgbClr val="C53030"/>
                </a:solidFill>
                <a:latin typeface="Calibri" pitchFamily="34" charset="0"/>
                <a:ea typeface="Calibri" pitchFamily="34" charset="-122"/>
                <a:cs typeface="Calibri" pitchFamily="34" charset="-120"/>
              </a:rPr>
              <a:t>Joint Photographic Experts Group</a:t>
            </a:r>
            <a:endParaRPr lang="en-US" sz="1100" dirty="0"/>
          </a:p>
        </p:txBody>
      </p:sp>
      <p:sp>
        <p:nvSpPr>
          <p:cNvPr id="10" name="Text 8"/>
          <p:cNvSpPr/>
          <p:nvPr/>
        </p:nvSpPr>
        <p:spPr>
          <a:xfrm>
            <a:off x="548640" y="2423160"/>
            <a:ext cx="3566160" cy="2103120"/>
          </a:xfrm>
          <a:prstGeom prst="rect">
            <a:avLst/>
          </a:prstGeom>
          <a:noFill/>
          <a:ln/>
        </p:spPr>
        <p:txBody>
          <a:bodyPr wrap="square" lIns="50800" tIns="101600" rIns="50800" bIns="50800" rtlCol="0" anchor="t"/>
          <a:lstStyle/>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Uses lossy DCT-based compression</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Actively modifies pixel values when saving</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LSB data is destroyed after save</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Hidden message is corrupted — unrecoverable</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Smaller file size but NOT suitable for LSB</a:t>
            </a:r>
            <a:endParaRPr lang="en-US" sz="1250" dirty="0"/>
          </a:p>
        </p:txBody>
      </p:sp>
      <p:sp>
        <p:nvSpPr>
          <p:cNvPr id="11" name="Shape 9"/>
          <p:cNvSpPr/>
          <p:nvPr/>
        </p:nvSpPr>
        <p:spPr>
          <a:xfrm>
            <a:off x="4572000" y="1600200"/>
            <a:ext cx="4297680" cy="3017520"/>
          </a:xfrm>
          <a:prstGeom prst="rect">
            <a:avLst/>
          </a:prstGeom>
          <a:solidFill>
            <a:srgbClr val="D4F0E4"/>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12" name="Text 10"/>
          <p:cNvSpPr/>
          <p:nvPr/>
        </p:nvSpPr>
        <p:spPr>
          <a:xfrm>
            <a:off x="4754880" y="1719072"/>
            <a:ext cx="3840480" cy="411480"/>
          </a:xfrm>
          <a:prstGeom prst="rect">
            <a:avLst/>
          </a:prstGeom>
          <a:noFill/>
          <a:ln/>
        </p:spPr>
        <p:txBody>
          <a:bodyPr wrap="square" lIns="0" tIns="0" rIns="0" bIns="0" rtlCol="0" anchor="ctr"/>
          <a:lstStyle/>
          <a:p>
            <a:pPr indent="0" marL="0">
              <a:buNone/>
            </a:pPr>
            <a:r>
              <a:rPr lang="en-US" sz="1800" b="1" dirty="0">
                <a:solidFill>
                  <a:srgbClr val="1A7A4A"/>
                </a:solidFill>
                <a:latin typeface="Calibri" pitchFamily="34" charset="0"/>
                <a:ea typeface="Calibri" pitchFamily="34" charset="-122"/>
                <a:cs typeface="Calibri" pitchFamily="34" charset="-120"/>
              </a:rPr>
              <a:t>✅ PNG</a:t>
            </a:r>
            <a:endParaRPr lang="en-US" sz="1800" dirty="0"/>
          </a:p>
        </p:txBody>
      </p:sp>
      <p:sp>
        <p:nvSpPr>
          <p:cNvPr id="13" name="Text 11"/>
          <p:cNvSpPr/>
          <p:nvPr/>
        </p:nvSpPr>
        <p:spPr>
          <a:xfrm>
            <a:off x="4754880" y="2103120"/>
            <a:ext cx="3840480" cy="274320"/>
          </a:xfrm>
          <a:prstGeom prst="rect">
            <a:avLst/>
          </a:prstGeom>
          <a:noFill/>
          <a:ln/>
        </p:spPr>
        <p:txBody>
          <a:bodyPr wrap="square" lIns="0" tIns="0" rIns="0" bIns="0" rtlCol="0" anchor="ctr"/>
          <a:lstStyle/>
          <a:p>
            <a:pPr indent="0" marL="0">
              <a:buNone/>
            </a:pPr>
            <a:r>
              <a:rPr lang="en-US" sz="1100" i="1" dirty="0">
                <a:solidFill>
                  <a:srgbClr val="1A7A4A"/>
                </a:solidFill>
                <a:latin typeface="Calibri" pitchFamily="34" charset="0"/>
                <a:ea typeface="Calibri" pitchFamily="34" charset="-122"/>
                <a:cs typeface="Calibri" pitchFamily="34" charset="-120"/>
              </a:rPr>
              <a:t>Portable Network Graphics</a:t>
            </a:r>
            <a:endParaRPr lang="en-US" sz="1100" dirty="0"/>
          </a:p>
        </p:txBody>
      </p:sp>
      <p:sp>
        <p:nvSpPr>
          <p:cNvPr id="14" name="Text 12"/>
          <p:cNvSpPr/>
          <p:nvPr/>
        </p:nvSpPr>
        <p:spPr>
          <a:xfrm>
            <a:off x="4754880" y="2423160"/>
            <a:ext cx="3931920" cy="2103120"/>
          </a:xfrm>
          <a:prstGeom prst="rect">
            <a:avLst/>
          </a:prstGeom>
          <a:noFill/>
          <a:ln/>
        </p:spPr>
        <p:txBody>
          <a:bodyPr wrap="square" lIns="50800" tIns="101600" rIns="50800" bIns="50800" rtlCol="0" anchor="t"/>
          <a:lstStyle/>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Uses lossless DEFLATE compression</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Pixel values preserved intact after saving</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LSB data remains exactly as embedded</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Hidden message can be recovered perfectly</a:t>
            </a:r>
            <a:endParaRPr lang="en-US" sz="1250" dirty="0"/>
          </a:p>
          <a:p>
            <a:pPr marL="342900" indent="-342900">
              <a:spcAft>
                <a:spcPts val="600"/>
              </a:spcAft>
              <a:buSzPct val="100000"/>
              <a:buChar char="•"/>
            </a:pPr>
            <a:r>
              <a:rPr lang="en-US" sz="1250" dirty="0">
                <a:solidFill>
                  <a:srgbClr val="1A2440"/>
                </a:solidFill>
                <a:latin typeface="Calibri" pitchFamily="34" charset="0"/>
                <a:ea typeface="Calibri" pitchFamily="34" charset="-122"/>
                <a:cs typeface="Calibri" pitchFamily="34" charset="-120"/>
              </a:rPr>
              <a:t>24/32-bit color with manageable file size</a:t>
            </a:r>
            <a:endParaRPr lang="en-US" sz="1250" dirty="0"/>
          </a:p>
        </p:txBody>
      </p:sp>
      <p:sp>
        <p:nvSpPr>
          <p:cNvPr id="15" name="Text 13"/>
          <p:cNvSpPr/>
          <p:nvPr/>
        </p:nvSpPr>
        <p:spPr>
          <a:xfrm>
            <a:off x="365760" y="4681728"/>
            <a:ext cx="8412480" cy="34747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  BMP also lossless but produces very large files. PNG gives the best balance of lossless quality + manageable size.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LSB METHOD</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The LSB Concept</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Only the last bit of each pixel channel is modified</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pic>
        <p:nvPicPr>
          <p:cNvPr id="7" name="Image 0" descr="preencoded.png">    </p:cNvPr>
          <p:cNvPicPr>
            <a:picLocks noChangeAspect="1"/>
          </p:cNvPicPr>
          <p:nvPr/>
        </p:nvPicPr>
        <p:blipFill>
          <a:blip r:embed="rId1"/>
          <a:srcRect l="0" r="0" t="0" b="0"/>
          <a:stretch/>
        </p:blipFill>
        <p:spPr>
          <a:xfrm>
            <a:off x="457200" y="1508760"/>
            <a:ext cx="5669280" cy="3639312"/>
          </a:xfrm>
          <a:prstGeom prst="rect">
            <a:avLst/>
          </a:prstGeom>
        </p:spPr>
      </p:pic>
      <p:sp>
        <p:nvSpPr>
          <p:cNvPr id="8" name="Text 5"/>
          <p:cNvSpPr/>
          <p:nvPr/>
        </p:nvSpPr>
        <p:spPr>
          <a:xfrm>
            <a:off x="6446520" y="1600200"/>
            <a:ext cx="2468880" cy="320040"/>
          </a:xfrm>
          <a:prstGeom prst="rect">
            <a:avLst/>
          </a:prstGeom>
          <a:noFill/>
          <a:ln/>
        </p:spPr>
        <p:txBody>
          <a:bodyPr wrap="square" lIns="0" tIns="0" rIns="0" bIns="0" rtlCol="0" anchor="ctr"/>
          <a:lstStyle/>
          <a:p>
            <a:pPr indent="0" marL="0">
              <a:buNone/>
            </a:pPr>
            <a:r>
              <a:rPr lang="en-US" sz="1400" b="1" dirty="0">
                <a:solidFill>
                  <a:srgbClr val="0F2C5A"/>
                </a:solidFill>
                <a:latin typeface="Calibri" pitchFamily="34" charset="0"/>
                <a:ea typeface="Calibri" pitchFamily="34" charset="-122"/>
                <a:cs typeface="Calibri" pitchFamily="34" charset="-120"/>
              </a:rPr>
              <a:t>Key Insight</a:t>
            </a:r>
            <a:endParaRPr lang="en-US" sz="1400" dirty="0"/>
          </a:p>
        </p:txBody>
      </p:sp>
      <p:sp>
        <p:nvSpPr>
          <p:cNvPr id="9" name="Text 6"/>
          <p:cNvSpPr/>
          <p:nvPr/>
        </p:nvSpPr>
        <p:spPr>
          <a:xfrm>
            <a:off x="6446520" y="1965960"/>
            <a:ext cx="2468880" cy="2011680"/>
          </a:xfrm>
          <a:prstGeom prst="rect">
            <a:avLst/>
          </a:prstGeom>
          <a:noFill/>
          <a:ln/>
        </p:spPr>
        <p:txBody>
          <a:bodyPr wrap="square" lIns="50800" tIns="101600" rIns="50800" bIns="50800" rtlCol="0" anchor="t"/>
          <a:lstStyle/>
          <a:p>
            <a:pPr marL="342900" indent="-342900">
              <a:spcAft>
                <a:spcPts val="800"/>
              </a:spcAft>
              <a:buSzPct val="100000"/>
              <a:buChar char="•"/>
            </a:pPr>
            <a:r>
              <a:rPr lang="en-US" sz="1200" dirty="0">
                <a:solidFill>
                  <a:srgbClr val="1A2440"/>
                </a:solidFill>
                <a:latin typeface="Calibri" pitchFamily="34" charset="0"/>
                <a:ea typeface="Calibri" pitchFamily="34" charset="-122"/>
                <a:cs typeface="Calibri" pitchFamily="34" charset="-120"/>
              </a:rPr>
              <a:t>Pixel value 200 → 11001000</a:t>
            </a:r>
            <a:endParaRPr lang="en-US" sz="1200" dirty="0"/>
          </a:p>
          <a:p>
            <a:pPr marL="342900" indent="-342900">
              <a:spcAft>
                <a:spcPts val="800"/>
              </a:spcAft>
              <a:buSzPct val="100000"/>
              <a:buChar char="•"/>
            </a:pPr>
            <a:r>
              <a:rPr lang="en-US" sz="1200" dirty="0">
                <a:solidFill>
                  <a:srgbClr val="1A2440"/>
                </a:solidFill>
                <a:latin typeface="Calibri" pitchFamily="34" charset="0"/>
                <a:ea typeface="Calibri" pitchFamily="34" charset="-122"/>
                <a:cs typeface="Calibri" pitchFamily="34" charset="-120"/>
              </a:rPr>
              <a:t>Replace LSB with message bit '1'</a:t>
            </a:r>
            <a:endParaRPr lang="en-US" sz="1200" dirty="0"/>
          </a:p>
          <a:p>
            <a:pPr marL="342900" indent="-342900">
              <a:spcAft>
                <a:spcPts val="800"/>
              </a:spcAft>
              <a:buSzPct val="100000"/>
              <a:buChar char="•"/>
            </a:pPr>
            <a:r>
              <a:rPr lang="en-US" sz="1200" dirty="0">
                <a:solidFill>
                  <a:srgbClr val="1A2440"/>
                </a:solidFill>
                <a:latin typeface="Calibri" pitchFamily="34" charset="0"/>
                <a:ea typeface="Calibri" pitchFamily="34" charset="-122"/>
                <a:cs typeface="Calibri" pitchFamily="34" charset="-120"/>
              </a:rPr>
              <a:t>New value: 201 → 11001001</a:t>
            </a:r>
            <a:endParaRPr lang="en-US" sz="1200" dirty="0"/>
          </a:p>
          <a:p>
            <a:pPr marL="342900" indent="-342900">
              <a:spcAft>
                <a:spcPts val="800"/>
              </a:spcAft>
              <a:buSzPct val="100000"/>
              <a:buChar char="•"/>
            </a:pPr>
            <a:r>
              <a:rPr lang="en-US" sz="1200" dirty="0">
                <a:solidFill>
                  <a:srgbClr val="1A2440"/>
                </a:solidFill>
                <a:latin typeface="Calibri" pitchFamily="34" charset="0"/>
                <a:ea typeface="Calibri" pitchFamily="34" charset="-122"/>
                <a:cs typeface="Calibri" pitchFamily="34" charset="-120"/>
              </a:rPr>
              <a:t>Change = only 1 out of 255 levels</a:t>
            </a:r>
            <a:endParaRPr lang="en-US" sz="1200" dirty="0"/>
          </a:p>
          <a:p>
            <a:pPr marL="342900" indent="-342900">
              <a:spcAft>
                <a:spcPts val="800"/>
              </a:spcAft>
              <a:buSzPct val="100000"/>
              <a:buChar char="•"/>
            </a:pPr>
            <a:r>
              <a:rPr lang="en-US" sz="1200" dirty="0">
                <a:solidFill>
                  <a:srgbClr val="1A2440"/>
                </a:solidFill>
                <a:latin typeface="Calibri" pitchFamily="34" charset="0"/>
                <a:ea typeface="Calibri" pitchFamily="34" charset="-122"/>
                <a:cs typeface="Calibri" pitchFamily="34" charset="-120"/>
              </a:rPr>
              <a:t>Human eye cannot detect this</a:t>
            </a:r>
            <a:endParaRPr lang="en-US" sz="1200" dirty="0"/>
          </a:p>
        </p:txBody>
      </p:sp>
      <p:sp>
        <p:nvSpPr>
          <p:cNvPr id="10" name="Shape 7"/>
          <p:cNvSpPr/>
          <p:nvPr/>
        </p:nvSpPr>
        <p:spPr>
          <a:xfrm>
            <a:off x="6446520" y="4023360"/>
            <a:ext cx="2468880" cy="777240"/>
          </a:xfrm>
          <a:prstGeom prst="rect">
            <a:avLst/>
          </a:prstGeom>
          <a:solidFill>
            <a:srgbClr val="D6E8FF"/>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1" name="Text 8"/>
          <p:cNvSpPr/>
          <p:nvPr/>
        </p:nvSpPr>
        <p:spPr>
          <a:xfrm>
            <a:off x="6537960" y="4069080"/>
            <a:ext cx="2286000" cy="228600"/>
          </a:xfrm>
          <a:prstGeom prst="rect">
            <a:avLst/>
          </a:prstGeom>
          <a:noFill/>
          <a:ln/>
        </p:spPr>
        <p:txBody>
          <a:bodyPr wrap="square" lIns="0" tIns="0" rIns="0" bIns="0" rtlCol="0" anchor="ctr"/>
          <a:lstStyle/>
          <a:p>
            <a:pPr indent="0" marL="0">
              <a:buNone/>
            </a:pPr>
            <a:r>
              <a:rPr lang="en-US" sz="1000" b="1" dirty="0">
                <a:solidFill>
                  <a:srgbClr val="1B5EA6"/>
                </a:solidFill>
                <a:latin typeface="Consolas" pitchFamily="34" charset="0"/>
                <a:ea typeface="Consolas" pitchFamily="34" charset="-122"/>
                <a:cs typeface="Consolas" pitchFamily="34" charset="-120"/>
              </a:rPr>
              <a:t>Bitwise operation in code:</a:t>
            </a:r>
            <a:endParaRPr lang="en-US" sz="1000" dirty="0"/>
          </a:p>
        </p:txBody>
      </p:sp>
      <p:sp>
        <p:nvSpPr>
          <p:cNvPr id="12" name="Text 9"/>
          <p:cNvSpPr/>
          <p:nvPr/>
        </p:nvSpPr>
        <p:spPr>
          <a:xfrm>
            <a:off x="6537960" y="4297680"/>
            <a:ext cx="2286000" cy="320040"/>
          </a:xfrm>
          <a:prstGeom prst="rect">
            <a:avLst/>
          </a:prstGeom>
          <a:noFill/>
          <a:ln/>
        </p:spPr>
        <p:txBody>
          <a:bodyPr wrap="square" lIns="0" tIns="0" rIns="0" bIns="0" rtlCol="0" anchor="ctr"/>
          <a:lstStyle/>
          <a:p>
            <a:pPr indent="0" marL="0">
              <a:buNone/>
            </a:pPr>
            <a:r>
              <a:rPr lang="en-US" sz="1300" b="1" dirty="0">
                <a:solidFill>
                  <a:srgbClr val="0F2C5A"/>
                </a:solidFill>
                <a:latin typeface="Consolas" pitchFamily="34" charset="0"/>
                <a:ea typeface="Consolas" pitchFamily="34" charset="-122"/>
                <a:cs typeface="Consolas" pitchFamily="34" charset="-120"/>
              </a:rPr>
              <a:t>(pixel &amp; 0xFE) | bit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SYSTEM DESIGN</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System Overview</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High-level program flow and menu choices</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pic>
        <p:nvPicPr>
          <p:cNvPr id="7" name="Image 0" descr="preencoded.png">    </p:cNvPr>
          <p:cNvPicPr>
            <a:picLocks noChangeAspect="1"/>
          </p:cNvPicPr>
          <p:nvPr/>
        </p:nvPicPr>
        <p:blipFill>
          <a:blip r:embed="rId1"/>
          <a:srcRect l="0" r="0" t="0" b="0"/>
          <a:stretch/>
        </p:blipFill>
        <p:spPr>
          <a:xfrm>
            <a:off x="1005840" y="1417320"/>
            <a:ext cx="7132320" cy="36393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ENCODING</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Encoding Workflow</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Hiding a secret message inside a PNG image</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pic>
        <p:nvPicPr>
          <p:cNvPr id="7" name="Image 0" descr="preencoded.png">    </p:cNvPr>
          <p:cNvPicPr>
            <a:picLocks noChangeAspect="1"/>
          </p:cNvPicPr>
          <p:nvPr/>
        </p:nvPicPr>
        <p:blipFill>
          <a:blip r:embed="rId1"/>
          <a:srcRect l="0" r="0" t="0" b="0"/>
          <a:stretch/>
        </p:blipFill>
        <p:spPr>
          <a:xfrm>
            <a:off x="274320" y="1417320"/>
            <a:ext cx="4114800" cy="3429000"/>
          </a:xfrm>
          <a:prstGeom prst="rect">
            <a:avLst/>
          </a:prstGeom>
        </p:spPr>
      </p:pic>
      <p:sp>
        <p:nvSpPr>
          <p:cNvPr id="8" name="Text 5"/>
          <p:cNvSpPr/>
          <p:nvPr/>
        </p:nvSpPr>
        <p:spPr>
          <a:xfrm>
            <a:off x="4663440" y="1572768"/>
            <a:ext cx="4206240" cy="320040"/>
          </a:xfrm>
          <a:prstGeom prst="rect">
            <a:avLst/>
          </a:prstGeom>
          <a:noFill/>
          <a:ln/>
        </p:spPr>
        <p:txBody>
          <a:bodyPr wrap="square" lIns="0" tIns="0" rIns="0" bIns="0" rtlCol="0" anchor="ctr"/>
          <a:lstStyle/>
          <a:p>
            <a:pPr indent="0" marL="0">
              <a:buNone/>
            </a:pPr>
            <a:r>
              <a:rPr lang="en-US" sz="1500" b="1" dirty="0">
                <a:solidFill>
                  <a:srgbClr val="1B5EA6"/>
                </a:solidFill>
                <a:latin typeface="Calibri" pitchFamily="34" charset="0"/>
                <a:ea typeface="Calibri" pitchFamily="34" charset="-122"/>
                <a:cs typeface="Calibri" pitchFamily="34" charset="-120"/>
              </a:rPr>
              <a:t>Step-by-Step</a:t>
            </a:r>
            <a:endParaRPr lang="en-US" sz="1500" dirty="0"/>
          </a:p>
        </p:txBody>
      </p:sp>
      <p:sp>
        <p:nvSpPr>
          <p:cNvPr id="9" name="Shape 6"/>
          <p:cNvSpPr/>
          <p:nvPr/>
        </p:nvSpPr>
        <p:spPr>
          <a:xfrm>
            <a:off x="4663440" y="1965960"/>
            <a:ext cx="329184" cy="32004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0" name="Text 7"/>
          <p:cNvSpPr/>
          <p:nvPr/>
        </p:nvSpPr>
        <p:spPr>
          <a:xfrm>
            <a:off x="4663440" y="1965960"/>
            <a:ext cx="329184" cy="32004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1" name="Text 8"/>
          <p:cNvSpPr/>
          <p:nvPr/>
        </p:nvSpPr>
        <p:spPr>
          <a:xfrm>
            <a:off x="5074920" y="1984248"/>
            <a:ext cx="3749040" cy="292608"/>
          </a:xfrm>
          <a:prstGeom prst="rect">
            <a:avLst/>
          </a:prstGeom>
          <a:noFill/>
          <a:ln/>
        </p:spPr>
        <p:txBody>
          <a:bodyPr wrap="square" lIns="0" tIns="0" rIns="0" bIns="0" rtlCol="0" anchor="ctr"/>
          <a:lstStyle/>
          <a:p>
            <a:pPr indent="0" marL="0">
              <a:buNone/>
            </a:pPr>
            <a:r>
              <a:rPr lang="en-US" sz="1200" dirty="0">
                <a:solidFill>
                  <a:srgbClr val="1A2440"/>
                </a:solidFill>
                <a:latin typeface="Calibri" pitchFamily="34" charset="0"/>
                <a:ea typeface="Calibri" pitchFamily="34" charset="-122"/>
                <a:cs typeface="Calibri" pitchFamily="34" charset="-120"/>
              </a:rPr>
              <a:t>Input PNG cover image + secret message</a:t>
            </a:r>
            <a:endParaRPr lang="en-US" sz="1200" dirty="0"/>
          </a:p>
        </p:txBody>
      </p:sp>
      <p:sp>
        <p:nvSpPr>
          <p:cNvPr id="12" name="Shape 9"/>
          <p:cNvSpPr/>
          <p:nvPr/>
        </p:nvSpPr>
        <p:spPr>
          <a:xfrm>
            <a:off x="4663440" y="2423160"/>
            <a:ext cx="329184" cy="32004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3" name="Text 10"/>
          <p:cNvSpPr/>
          <p:nvPr/>
        </p:nvSpPr>
        <p:spPr>
          <a:xfrm>
            <a:off x="4663440" y="2423160"/>
            <a:ext cx="329184" cy="32004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Text 11"/>
          <p:cNvSpPr/>
          <p:nvPr/>
        </p:nvSpPr>
        <p:spPr>
          <a:xfrm>
            <a:off x="5074920" y="2441448"/>
            <a:ext cx="3749040" cy="292608"/>
          </a:xfrm>
          <a:prstGeom prst="rect">
            <a:avLst/>
          </a:prstGeom>
          <a:noFill/>
          <a:ln/>
        </p:spPr>
        <p:txBody>
          <a:bodyPr wrap="square" lIns="0" tIns="0" rIns="0" bIns="0" rtlCol="0" anchor="ctr"/>
          <a:lstStyle/>
          <a:p>
            <a:pPr indent="0" marL="0">
              <a:buNone/>
            </a:pPr>
            <a:r>
              <a:rPr lang="en-US" sz="1200" dirty="0">
                <a:solidFill>
                  <a:srgbClr val="1A2440"/>
                </a:solidFill>
                <a:latin typeface="Calibri" pitchFamily="34" charset="0"/>
                <a:ea typeface="Calibri" pitchFamily="34" charset="-122"/>
                <a:cs typeface="Calibri" pitchFamily="34" charset="-120"/>
              </a:rPr>
              <a:t>Validate file exists and is PNG format</a:t>
            </a:r>
            <a:endParaRPr lang="en-US" sz="1200" dirty="0"/>
          </a:p>
        </p:txBody>
      </p:sp>
      <p:sp>
        <p:nvSpPr>
          <p:cNvPr id="15" name="Shape 12"/>
          <p:cNvSpPr/>
          <p:nvPr/>
        </p:nvSpPr>
        <p:spPr>
          <a:xfrm>
            <a:off x="4663440" y="2880360"/>
            <a:ext cx="329184" cy="32004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6" name="Text 13"/>
          <p:cNvSpPr/>
          <p:nvPr/>
        </p:nvSpPr>
        <p:spPr>
          <a:xfrm>
            <a:off x="4663440" y="2880360"/>
            <a:ext cx="329184" cy="32004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4"/>
          <p:cNvSpPr/>
          <p:nvPr/>
        </p:nvSpPr>
        <p:spPr>
          <a:xfrm>
            <a:off x="5074920" y="2898648"/>
            <a:ext cx="3749040" cy="292608"/>
          </a:xfrm>
          <a:prstGeom prst="rect">
            <a:avLst/>
          </a:prstGeom>
          <a:noFill/>
          <a:ln/>
        </p:spPr>
        <p:txBody>
          <a:bodyPr wrap="square" lIns="0" tIns="0" rIns="0" bIns="0" rtlCol="0" anchor="ctr"/>
          <a:lstStyle/>
          <a:p>
            <a:pPr indent="0" marL="0">
              <a:buNone/>
            </a:pPr>
            <a:r>
              <a:rPr lang="en-US" sz="1200" dirty="0">
                <a:solidFill>
                  <a:srgbClr val="1A2440"/>
                </a:solidFill>
                <a:latin typeface="Calibri" pitchFamily="34" charset="0"/>
                <a:ea typeface="Calibri" pitchFamily="34" charset="-122"/>
                <a:cs typeface="Calibri" pitchFamily="34" charset="-120"/>
              </a:rPr>
              <a:t>Convert each character to 8-bit binary</a:t>
            </a:r>
            <a:endParaRPr lang="en-US" sz="1200" dirty="0"/>
          </a:p>
        </p:txBody>
      </p:sp>
      <p:sp>
        <p:nvSpPr>
          <p:cNvPr id="18" name="Shape 15"/>
          <p:cNvSpPr/>
          <p:nvPr/>
        </p:nvSpPr>
        <p:spPr>
          <a:xfrm>
            <a:off x="4663440" y="3337560"/>
            <a:ext cx="329184" cy="32004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19" name="Text 16"/>
          <p:cNvSpPr/>
          <p:nvPr/>
        </p:nvSpPr>
        <p:spPr>
          <a:xfrm>
            <a:off x="4663440" y="3337560"/>
            <a:ext cx="329184" cy="32004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0" name="Text 17"/>
          <p:cNvSpPr/>
          <p:nvPr/>
        </p:nvSpPr>
        <p:spPr>
          <a:xfrm>
            <a:off x="5074920" y="3355848"/>
            <a:ext cx="3749040" cy="292608"/>
          </a:xfrm>
          <a:prstGeom prst="rect">
            <a:avLst/>
          </a:prstGeom>
          <a:noFill/>
          <a:ln/>
        </p:spPr>
        <p:txBody>
          <a:bodyPr wrap="square" lIns="0" tIns="0" rIns="0" bIns="0" rtlCol="0" anchor="ctr"/>
          <a:lstStyle/>
          <a:p>
            <a:pPr indent="0" marL="0">
              <a:buNone/>
            </a:pPr>
            <a:r>
              <a:rPr lang="en-US" sz="1200" dirty="0">
                <a:solidFill>
                  <a:srgbClr val="1A2440"/>
                </a:solidFill>
                <a:latin typeface="Calibri" pitchFamily="34" charset="0"/>
                <a:ea typeface="Calibri" pitchFamily="34" charset="-122"/>
                <a:cs typeface="Calibri" pitchFamily="34" charset="-120"/>
              </a:rPr>
              <a:t>Append 16-bit delimiter (0000000000000000)</a:t>
            </a:r>
            <a:endParaRPr lang="en-US" sz="1200" dirty="0"/>
          </a:p>
        </p:txBody>
      </p:sp>
      <p:sp>
        <p:nvSpPr>
          <p:cNvPr id="21" name="Shape 18"/>
          <p:cNvSpPr/>
          <p:nvPr/>
        </p:nvSpPr>
        <p:spPr>
          <a:xfrm>
            <a:off x="4663440" y="3794760"/>
            <a:ext cx="329184" cy="32004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22" name="Text 19"/>
          <p:cNvSpPr/>
          <p:nvPr/>
        </p:nvSpPr>
        <p:spPr>
          <a:xfrm>
            <a:off x="4663440" y="3794760"/>
            <a:ext cx="329184" cy="32004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p:nvPr/>
        </p:nvSpPr>
        <p:spPr>
          <a:xfrm>
            <a:off x="5074920" y="3813048"/>
            <a:ext cx="3749040" cy="292608"/>
          </a:xfrm>
          <a:prstGeom prst="rect">
            <a:avLst/>
          </a:prstGeom>
          <a:noFill/>
          <a:ln/>
        </p:spPr>
        <p:txBody>
          <a:bodyPr wrap="square" lIns="0" tIns="0" rIns="0" bIns="0" rtlCol="0" anchor="ctr"/>
          <a:lstStyle/>
          <a:p>
            <a:pPr indent="0" marL="0">
              <a:buNone/>
            </a:pPr>
            <a:r>
              <a:rPr lang="en-US" sz="1200" dirty="0">
                <a:solidFill>
                  <a:srgbClr val="1A2440"/>
                </a:solidFill>
                <a:latin typeface="Calibri" pitchFamily="34" charset="0"/>
                <a:ea typeface="Calibri" pitchFamily="34" charset="-122"/>
                <a:cs typeface="Calibri" pitchFamily="34" charset="-120"/>
              </a:rPr>
              <a:t>Embed bits into pixel LSBs: R, G, B per pixel</a:t>
            </a:r>
            <a:endParaRPr lang="en-US" sz="1200" dirty="0"/>
          </a:p>
        </p:txBody>
      </p:sp>
      <p:sp>
        <p:nvSpPr>
          <p:cNvPr id="24" name="Shape 21"/>
          <p:cNvSpPr/>
          <p:nvPr/>
        </p:nvSpPr>
        <p:spPr>
          <a:xfrm>
            <a:off x="4663440" y="4251960"/>
            <a:ext cx="329184" cy="32004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25" name="Text 22"/>
          <p:cNvSpPr/>
          <p:nvPr/>
        </p:nvSpPr>
        <p:spPr>
          <a:xfrm>
            <a:off x="4663440" y="4251960"/>
            <a:ext cx="329184" cy="32004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6" name="Text 23"/>
          <p:cNvSpPr/>
          <p:nvPr/>
        </p:nvSpPr>
        <p:spPr>
          <a:xfrm>
            <a:off x="5074920" y="4270248"/>
            <a:ext cx="3749040" cy="292608"/>
          </a:xfrm>
          <a:prstGeom prst="rect">
            <a:avLst/>
          </a:prstGeom>
          <a:noFill/>
          <a:ln/>
        </p:spPr>
        <p:txBody>
          <a:bodyPr wrap="square" lIns="0" tIns="0" rIns="0" bIns="0" rtlCol="0" anchor="ctr"/>
          <a:lstStyle/>
          <a:p>
            <a:pPr indent="0" marL="0">
              <a:buNone/>
            </a:pPr>
            <a:r>
              <a:rPr lang="en-US" sz="1200" dirty="0">
                <a:solidFill>
                  <a:srgbClr val="1A2440"/>
                </a:solidFill>
                <a:latin typeface="Calibri" pitchFamily="34" charset="0"/>
                <a:ea typeface="Calibri" pitchFamily="34" charset="-122"/>
                <a:cs typeface="Calibri" pitchFamily="34" charset="-120"/>
              </a:rPr>
              <a:t>Save result as stego-image PNG</a:t>
            </a:r>
            <a:endParaRPr lang="en-US" sz="1200" dirty="0"/>
          </a:p>
        </p:txBody>
      </p:sp>
      <p:sp>
        <p:nvSpPr>
          <p:cNvPr id="27" name="Shape 24"/>
          <p:cNvSpPr/>
          <p:nvPr/>
        </p:nvSpPr>
        <p:spPr>
          <a:xfrm>
            <a:off x="4663440" y="4736592"/>
            <a:ext cx="4206240" cy="320040"/>
          </a:xfrm>
          <a:prstGeom prst="rect">
            <a:avLst/>
          </a:prstGeom>
          <a:solidFill>
            <a:srgbClr val="D6E8FF"/>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28" name="Text 25"/>
          <p:cNvSpPr/>
          <p:nvPr/>
        </p:nvSpPr>
        <p:spPr>
          <a:xfrm>
            <a:off x="4754880" y="4754880"/>
            <a:ext cx="4023360" cy="256032"/>
          </a:xfrm>
          <a:prstGeom prst="rect">
            <a:avLst/>
          </a:prstGeom>
          <a:noFill/>
          <a:ln/>
        </p:spPr>
        <p:txBody>
          <a:bodyPr wrap="square" lIns="0" tIns="0" rIns="0" bIns="0" rtlCol="0" anchor="ctr"/>
          <a:lstStyle/>
          <a:p>
            <a:pPr indent="0" marL="0">
              <a:buNone/>
            </a:pPr>
            <a:r>
              <a:rPr lang="en-US" sz="1200" b="1" dirty="0">
                <a:solidFill>
                  <a:srgbClr val="1B5EA6"/>
                </a:solidFill>
                <a:latin typeface="Consolas" pitchFamily="34" charset="0"/>
                <a:ea typeface="Consolas" pitchFamily="34" charset="-122"/>
                <a:cs typeface="Consolas" pitchFamily="34" charset="-120"/>
              </a:rPr>
              <a:t>Capacity: C = (W × H × 3) / 8  bytes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DECODING</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Decoding Workflow</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Extracting the hidden message from a stego-image</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pic>
        <p:nvPicPr>
          <p:cNvPr id="7" name="Image 0" descr="preencoded.png">    </p:cNvPr>
          <p:cNvPicPr>
            <a:picLocks noChangeAspect="1"/>
          </p:cNvPicPr>
          <p:nvPr/>
        </p:nvPicPr>
        <p:blipFill>
          <a:blip r:embed="rId1"/>
          <a:srcRect l="0" r="0" t="0" b="0"/>
          <a:stretch/>
        </p:blipFill>
        <p:spPr>
          <a:xfrm>
            <a:off x="274320" y="1417320"/>
            <a:ext cx="3931920" cy="3639312"/>
          </a:xfrm>
          <a:prstGeom prst="rect">
            <a:avLst/>
          </a:prstGeom>
        </p:spPr>
      </p:pic>
      <p:sp>
        <p:nvSpPr>
          <p:cNvPr id="8" name="Text 5"/>
          <p:cNvSpPr/>
          <p:nvPr/>
        </p:nvSpPr>
        <p:spPr>
          <a:xfrm>
            <a:off x="4434840" y="1572768"/>
            <a:ext cx="4434840" cy="320040"/>
          </a:xfrm>
          <a:prstGeom prst="rect">
            <a:avLst/>
          </a:prstGeom>
          <a:noFill/>
          <a:ln/>
        </p:spPr>
        <p:txBody>
          <a:bodyPr wrap="square" lIns="0" tIns="0" rIns="0" bIns="0" rtlCol="0" anchor="ctr"/>
          <a:lstStyle/>
          <a:p>
            <a:pPr indent="0" marL="0">
              <a:buNone/>
            </a:pPr>
            <a:r>
              <a:rPr lang="en-US" sz="1500" b="1" dirty="0">
                <a:solidFill>
                  <a:srgbClr val="1A7A4A"/>
                </a:solidFill>
                <a:latin typeface="Calibri" pitchFamily="34" charset="0"/>
                <a:ea typeface="Calibri" pitchFamily="34" charset="-122"/>
                <a:cs typeface="Calibri" pitchFamily="34" charset="-120"/>
              </a:rPr>
              <a:t>Step-by-Step</a:t>
            </a:r>
            <a:endParaRPr lang="en-US" sz="1500" dirty="0"/>
          </a:p>
        </p:txBody>
      </p:sp>
      <p:sp>
        <p:nvSpPr>
          <p:cNvPr id="9" name="Shape 6"/>
          <p:cNvSpPr/>
          <p:nvPr/>
        </p:nvSpPr>
        <p:spPr>
          <a:xfrm>
            <a:off x="4434840" y="1965960"/>
            <a:ext cx="329184" cy="347472"/>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10" name="Text 7"/>
          <p:cNvSpPr/>
          <p:nvPr/>
        </p:nvSpPr>
        <p:spPr>
          <a:xfrm>
            <a:off x="4434840" y="1965960"/>
            <a:ext cx="329184"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8"/>
          <p:cNvSpPr/>
          <p:nvPr/>
        </p:nvSpPr>
        <p:spPr>
          <a:xfrm>
            <a:off x="4846320" y="1984248"/>
            <a:ext cx="4069080" cy="310896"/>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Input stego-image PNG path</a:t>
            </a:r>
            <a:endParaRPr lang="en-US" sz="1250" dirty="0"/>
          </a:p>
        </p:txBody>
      </p:sp>
      <p:sp>
        <p:nvSpPr>
          <p:cNvPr id="12" name="Shape 9"/>
          <p:cNvSpPr/>
          <p:nvPr/>
        </p:nvSpPr>
        <p:spPr>
          <a:xfrm>
            <a:off x="4434840" y="2459736"/>
            <a:ext cx="329184" cy="347472"/>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13" name="Text 10"/>
          <p:cNvSpPr/>
          <p:nvPr/>
        </p:nvSpPr>
        <p:spPr>
          <a:xfrm>
            <a:off x="4434840" y="2459736"/>
            <a:ext cx="329184"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1"/>
          <p:cNvSpPr/>
          <p:nvPr/>
        </p:nvSpPr>
        <p:spPr>
          <a:xfrm>
            <a:off x="4846320" y="2478024"/>
            <a:ext cx="4069080" cy="310896"/>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Validate the file exists</a:t>
            </a:r>
            <a:endParaRPr lang="en-US" sz="1250" dirty="0"/>
          </a:p>
        </p:txBody>
      </p:sp>
      <p:sp>
        <p:nvSpPr>
          <p:cNvPr id="15" name="Shape 12"/>
          <p:cNvSpPr/>
          <p:nvPr/>
        </p:nvSpPr>
        <p:spPr>
          <a:xfrm>
            <a:off x="4434840" y="2953512"/>
            <a:ext cx="329184" cy="347472"/>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16" name="Text 13"/>
          <p:cNvSpPr/>
          <p:nvPr/>
        </p:nvSpPr>
        <p:spPr>
          <a:xfrm>
            <a:off x="4434840" y="2953512"/>
            <a:ext cx="329184"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4"/>
          <p:cNvSpPr/>
          <p:nvPr/>
        </p:nvSpPr>
        <p:spPr>
          <a:xfrm>
            <a:off x="4846320" y="2971800"/>
            <a:ext cx="4069080" cy="310896"/>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Read pixels row by row — extract LSB from R, G, B</a:t>
            </a:r>
            <a:endParaRPr lang="en-US" sz="1250" dirty="0"/>
          </a:p>
        </p:txBody>
      </p:sp>
      <p:sp>
        <p:nvSpPr>
          <p:cNvPr id="18" name="Shape 15"/>
          <p:cNvSpPr/>
          <p:nvPr/>
        </p:nvSpPr>
        <p:spPr>
          <a:xfrm>
            <a:off x="4434840" y="3447288"/>
            <a:ext cx="329184" cy="347472"/>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19" name="Text 16"/>
          <p:cNvSpPr/>
          <p:nvPr/>
        </p:nvSpPr>
        <p:spPr>
          <a:xfrm>
            <a:off x="4434840" y="3447288"/>
            <a:ext cx="329184"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7"/>
          <p:cNvSpPr/>
          <p:nvPr/>
        </p:nvSpPr>
        <p:spPr>
          <a:xfrm>
            <a:off x="4846320" y="3465576"/>
            <a:ext cx="4069080" cy="310896"/>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Accumulate bits; group every 8 bits into a character</a:t>
            </a:r>
            <a:endParaRPr lang="en-US" sz="1250" dirty="0"/>
          </a:p>
        </p:txBody>
      </p:sp>
      <p:sp>
        <p:nvSpPr>
          <p:cNvPr id="21" name="Shape 18"/>
          <p:cNvSpPr/>
          <p:nvPr/>
        </p:nvSpPr>
        <p:spPr>
          <a:xfrm>
            <a:off x="4434840" y="3941064"/>
            <a:ext cx="329184" cy="347472"/>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22" name="Text 19"/>
          <p:cNvSpPr/>
          <p:nvPr/>
        </p:nvSpPr>
        <p:spPr>
          <a:xfrm>
            <a:off x="4434840" y="3941064"/>
            <a:ext cx="329184"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0"/>
          <p:cNvSpPr/>
          <p:nvPr/>
        </p:nvSpPr>
        <p:spPr>
          <a:xfrm>
            <a:off x="4846320" y="3959352"/>
            <a:ext cx="4069080" cy="310896"/>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Detect 16-bit delimiter (0000000000000000) to stop</a:t>
            </a:r>
            <a:endParaRPr lang="en-US" sz="1250" dirty="0"/>
          </a:p>
        </p:txBody>
      </p:sp>
      <p:sp>
        <p:nvSpPr>
          <p:cNvPr id="24" name="Shape 21"/>
          <p:cNvSpPr/>
          <p:nvPr/>
        </p:nvSpPr>
        <p:spPr>
          <a:xfrm>
            <a:off x="4434840" y="4434840"/>
            <a:ext cx="329184" cy="347472"/>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25" name="Text 22"/>
          <p:cNvSpPr/>
          <p:nvPr/>
        </p:nvSpPr>
        <p:spPr>
          <a:xfrm>
            <a:off x="4434840" y="4434840"/>
            <a:ext cx="329184" cy="347472"/>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6" name="Text 23"/>
          <p:cNvSpPr/>
          <p:nvPr/>
        </p:nvSpPr>
        <p:spPr>
          <a:xfrm>
            <a:off x="4846320" y="4453128"/>
            <a:ext cx="4069080" cy="310896"/>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Output the fully reconstructed hidden message</a:t>
            </a:r>
            <a:endParaRPr lang="en-US" sz="1250" dirty="0"/>
          </a:p>
        </p:txBody>
      </p:sp>
      <p:sp>
        <p:nvSpPr>
          <p:cNvPr id="27" name="Shape 24"/>
          <p:cNvSpPr/>
          <p:nvPr/>
        </p:nvSpPr>
        <p:spPr>
          <a:xfrm>
            <a:off x="4434840" y="4663440"/>
            <a:ext cx="4434840" cy="347472"/>
          </a:xfrm>
          <a:prstGeom prst="rect">
            <a:avLst/>
          </a:prstGeom>
          <a:solidFill>
            <a:srgbClr val="D4F0E4"/>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28" name="Text 25"/>
          <p:cNvSpPr/>
          <p:nvPr/>
        </p:nvSpPr>
        <p:spPr>
          <a:xfrm>
            <a:off x="4526280" y="4709160"/>
            <a:ext cx="4251960" cy="256032"/>
          </a:xfrm>
          <a:prstGeom prst="rect">
            <a:avLst/>
          </a:prstGeom>
          <a:noFill/>
          <a:ln/>
        </p:spPr>
        <p:txBody>
          <a:bodyPr wrap="square" lIns="0" tIns="0" rIns="0" bIns="0" rtlCol="0" anchor="ctr"/>
          <a:lstStyle/>
          <a:p>
            <a:pPr indent="0" marL="0">
              <a:buNone/>
            </a:pPr>
            <a:r>
              <a:rPr lang="en-US" sz="1200" b="1" dirty="0">
                <a:solidFill>
                  <a:srgbClr val="1A7A4A"/>
                </a:solidFill>
                <a:latin typeface="Consolas" pitchFamily="34" charset="0"/>
                <a:ea typeface="Consolas" pitchFamily="34" charset="-122"/>
                <a:cs typeface="Consolas" pitchFamily="34" charset="-120"/>
              </a:rPr>
              <a:t>LSB extraction: bit = pixel_value &amp; 0x01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IMPLEMENTATION</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Project Structure</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Modular Python architecture</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3931920" cy="32461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02920" y="1719072"/>
            <a:ext cx="3611880" cy="3017520"/>
          </a:xfrm>
          <a:prstGeom prst="rect">
            <a:avLst/>
          </a:prstGeom>
          <a:noFill/>
          <a:ln/>
        </p:spPr>
        <p:txBody>
          <a:bodyPr wrap="square" lIns="50800" tIns="50800" rIns="50800" bIns="50800" rtlCol="0" anchor="t"/>
          <a:lstStyle/>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lsb-steganography/</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main.py</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encoder.py</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decoder.py</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utils.py</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README.md</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images/</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input/</a:t>
            </a:r>
            <a:endParaRPr lang="en-US" sz="1300" dirty="0"/>
          </a:p>
          <a:p>
            <a:pPr indent="0" marL="0">
              <a:lnSpc>
                <a:spcPct val="155000"/>
              </a:lnSpc>
              <a:buNone/>
            </a:pPr>
            <a:r>
              <a:rPr lang="en-US" sz="1300" dirty="0">
                <a:solidFill>
                  <a:srgbClr val="A8D8FF"/>
                </a:solidFill>
                <a:latin typeface="Consolas" pitchFamily="34" charset="0"/>
                <a:ea typeface="Consolas" pitchFamily="34" charset="-122"/>
                <a:cs typeface="Consolas" pitchFamily="34" charset="-120"/>
              </a:rPr>
              <a:t>       └── output/</a:t>
            </a:r>
            <a:endParaRPr lang="en-US" sz="1300" dirty="0"/>
          </a:p>
        </p:txBody>
      </p:sp>
      <p:sp>
        <p:nvSpPr>
          <p:cNvPr id="9" name="Shape 7"/>
          <p:cNvSpPr/>
          <p:nvPr/>
        </p:nvSpPr>
        <p:spPr>
          <a:xfrm>
            <a:off x="4480560" y="1600200"/>
            <a:ext cx="4389120" cy="713232"/>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0" name="Shape 8"/>
          <p:cNvSpPr/>
          <p:nvPr/>
        </p:nvSpPr>
        <p:spPr>
          <a:xfrm>
            <a:off x="4480560" y="1600200"/>
            <a:ext cx="164592" cy="713232"/>
          </a:xfrm>
          <a:prstGeom prst="rect">
            <a:avLst/>
          </a:prstGeom>
          <a:solidFill>
            <a:srgbClr val="F5A623"/>
          </a:solidFill>
          <a:ln w="12700">
            <a:solidFill>
              <a:srgbClr val="F5A623"/>
            </a:solidFill>
            <a:prstDash val="solid"/>
          </a:ln>
        </p:spPr>
      </p:sp>
      <p:sp>
        <p:nvSpPr>
          <p:cNvPr id="11" name="Text 9"/>
          <p:cNvSpPr/>
          <p:nvPr/>
        </p:nvSpPr>
        <p:spPr>
          <a:xfrm>
            <a:off x="4736592" y="1655064"/>
            <a:ext cx="4023360" cy="274320"/>
          </a:xfrm>
          <a:prstGeom prst="rect">
            <a:avLst/>
          </a:prstGeom>
          <a:noFill/>
          <a:ln/>
        </p:spPr>
        <p:txBody>
          <a:bodyPr wrap="square" lIns="0" tIns="0" rIns="0" bIns="0" rtlCol="0" anchor="ctr"/>
          <a:lstStyle/>
          <a:p>
            <a:pPr indent="0" marL="0">
              <a:buNone/>
            </a:pPr>
            <a:r>
              <a:rPr lang="en-US" sz="1400" b="1" dirty="0">
                <a:solidFill>
                  <a:srgbClr val="F5A623"/>
                </a:solidFill>
                <a:latin typeface="Consolas" pitchFamily="34" charset="0"/>
                <a:ea typeface="Consolas" pitchFamily="34" charset="-122"/>
                <a:cs typeface="Consolas" pitchFamily="34" charset="-120"/>
              </a:rPr>
              <a:t>main.py</a:t>
            </a:r>
            <a:endParaRPr lang="en-US" sz="1400" dirty="0"/>
          </a:p>
        </p:txBody>
      </p:sp>
      <p:sp>
        <p:nvSpPr>
          <p:cNvPr id="12" name="Text 10"/>
          <p:cNvSpPr/>
          <p:nvPr/>
        </p:nvSpPr>
        <p:spPr>
          <a:xfrm>
            <a:off x="4736592" y="1947672"/>
            <a:ext cx="4023360" cy="32918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Entry point — CLI menu, user input, routing to encoder/decoder</a:t>
            </a:r>
            <a:endParaRPr lang="en-US" sz="1150" dirty="0"/>
          </a:p>
        </p:txBody>
      </p:sp>
      <p:sp>
        <p:nvSpPr>
          <p:cNvPr id="13" name="Shape 11"/>
          <p:cNvSpPr/>
          <p:nvPr/>
        </p:nvSpPr>
        <p:spPr>
          <a:xfrm>
            <a:off x="4480560" y="2395728"/>
            <a:ext cx="4389120" cy="713232"/>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4" name="Shape 12"/>
          <p:cNvSpPr/>
          <p:nvPr/>
        </p:nvSpPr>
        <p:spPr>
          <a:xfrm>
            <a:off x="4480560" y="2395728"/>
            <a:ext cx="164592" cy="713232"/>
          </a:xfrm>
          <a:prstGeom prst="rect">
            <a:avLst/>
          </a:prstGeom>
          <a:solidFill>
            <a:srgbClr val="1B5EA6"/>
          </a:solidFill>
          <a:ln w="12700">
            <a:solidFill>
              <a:srgbClr val="1B5EA6"/>
            </a:solidFill>
            <a:prstDash val="solid"/>
          </a:ln>
        </p:spPr>
      </p:sp>
      <p:sp>
        <p:nvSpPr>
          <p:cNvPr id="15" name="Text 13"/>
          <p:cNvSpPr/>
          <p:nvPr/>
        </p:nvSpPr>
        <p:spPr>
          <a:xfrm>
            <a:off x="4736592" y="2450592"/>
            <a:ext cx="4023360" cy="274320"/>
          </a:xfrm>
          <a:prstGeom prst="rect">
            <a:avLst/>
          </a:prstGeom>
          <a:noFill/>
          <a:ln/>
        </p:spPr>
        <p:txBody>
          <a:bodyPr wrap="square" lIns="0" tIns="0" rIns="0" bIns="0" rtlCol="0" anchor="ctr"/>
          <a:lstStyle/>
          <a:p>
            <a:pPr indent="0" marL="0">
              <a:buNone/>
            </a:pPr>
            <a:r>
              <a:rPr lang="en-US" sz="1400" b="1" dirty="0">
                <a:solidFill>
                  <a:srgbClr val="1B5EA6"/>
                </a:solidFill>
                <a:latin typeface="Consolas" pitchFamily="34" charset="0"/>
                <a:ea typeface="Consolas" pitchFamily="34" charset="-122"/>
                <a:cs typeface="Consolas" pitchFamily="34" charset="-120"/>
              </a:rPr>
              <a:t>encoder.py</a:t>
            </a:r>
            <a:endParaRPr lang="en-US" sz="1400" dirty="0"/>
          </a:p>
        </p:txBody>
      </p:sp>
      <p:sp>
        <p:nvSpPr>
          <p:cNvPr id="16" name="Text 14"/>
          <p:cNvSpPr/>
          <p:nvPr/>
        </p:nvSpPr>
        <p:spPr>
          <a:xfrm>
            <a:off x="4736592" y="2743200"/>
            <a:ext cx="4023360" cy="32918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Reads image, converts text to binary, embeds bits into RGB LSB</a:t>
            </a:r>
            <a:endParaRPr lang="en-US" sz="1150" dirty="0"/>
          </a:p>
        </p:txBody>
      </p:sp>
      <p:sp>
        <p:nvSpPr>
          <p:cNvPr id="17" name="Shape 15"/>
          <p:cNvSpPr/>
          <p:nvPr/>
        </p:nvSpPr>
        <p:spPr>
          <a:xfrm>
            <a:off x="4480560" y="3191256"/>
            <a:ext cx="4389120" cy="713232"/>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8" name="Shape 16"/>
          <p:cNvSpPr/>
          <p:nvPr/>
        </p:nvSpPr>
        <p:spPr>
          <a:xfrm>
            <a:off x="4480560" y="3191256"/>
            <a:ext cx="164592" cy="713232"/>
          </a:xfrm>
          <a:prstGeom prst="rect">
            <a:avLst/>
          </a:prstGeom>
          <a:solidFill>
            <a:srgbClr val="1A7A4A"/>
          </a:solidFill>
          <a:ln w="12700">
            <a:solidFill>
              <a:srgbClr val="1A7A4A"/>
            </a:solidFill>
            <a:prstDash val="solid"/>
          </a:ln>
        </p:spPr>
      </p:sp>
      <p:sp>
        <p:nvSpPr>
          <p:cNvPr id="19" name="Text 17"/>
          <p:cNvSpPr/>
          <p:nvPr/>
        </p:nvSpPr>
        <p:spPr>
          <a:xfrm>
            <a:off x="4736592" y="3246120"/>
            <a:ext cx="4023360" cy="274320"/>
          </a:xfrm>
          <a:prstGeom prst="rect">
            <a:avLst/>
          </a:prstGeom>
          <a:noFill/>
          <a:ln/>
        </p:spPr>
        <p:txBody>
          <a:bodyPr wrap="square" lIns="0" tIns="0" rIns="0" bIns="0" rtlCol="0" anchor="ctr"/>
          <a:lstStyle/>
          <a:p>
            <a:pPr indent="0" marL="0">
              <a:buNone/>
            </a:pPr>
            <a:r>
              <a:rPr lang="en-US" sz="1400" b="1" dirty="0">
                <a:solidFill>
                  <a:srgbClr val="1A7A4A"/>
                </a:solidFill>
                <a:latin typeface="Consolas" pitchFamily="34" charset="0"/>
                <a:ea typeface="Consolas" pitchFamily="34" charset="-122"/>
                <a:cs typeface="Consolas" pitchFamily="34" charset="-120"/>
              </a:rPr>
              <a:t>decoder.py</a:t>
            </a:r>
            <a:endParaRPr lang="en-US" sz="1400" dirty="0"/>
          </a:p>
        </p:txBody>
      </p:sp>
      <p:sp>
        <p:nvSpPr>
          <p:cNvPr id="20" name="Text 18"/>
          <p:cNvSpPr/>
          <p:nvPr/>
        </p:nvSpPr>
        <p:spPr>
          <a:xfrm>
            <a:off x="4736592" y="3538728"/>
            <a:ext cx="4023360" cy="32918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Reads stego-image, extracts LSBs, detects delimiter, returns text</a:t>
            </a:r>
            <a:endParaRPr lang="en-US" sz="1150" dirty="0"/>
          </a:p>
        </p:txBody>
      </p:sp>
      <p:sp>
        <p:nvSpPr>
          <p:cNvPr id="21" name="Shape 19"/>
          <p:cNvSpPr/>
          <p:nvPr/>
        </p:nvSpPr>
        <p:spPr>
          <a:xfrm>
            <a:off x="4480560" y="3986784"/>
            <a:ext cx="4389120" cy="713232"/>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22" name="Shape 20"/>
          <p:cNvSpPr/>
          <p:nvPr/>
        </p:nvSpPr>
        <p:spPr>
          <a:xfrm>
            <a:off x="4480560" y="3986784"/>
            <a:ext cx="164592" cy="713232"/>
          </a:xfrm>
          <a:prstGeom prst="rect">
            <a:avLst/>
          </a:prstGeom>
          <a:solidFill>
            <a:srgbClr val="7C3AED"/>
          </a:solidFill>
          <a:ln w="12700">
            <a:solidFill>
              <a:srgbClr val="7C3AED"/>
            </a:solidFill>
            <a:prstDash val="solid"/>
          </a:ln>
        </p:spPr>
      </p:sp>
      <p:sp>
        <p:nvSpPr>
          <p:cNvPr id="23" name="Text 21"/>
          <p:cNvSpPr/>
          <p:nvPr/>
        </p:nvSpPr>
        <p:spPr>
          <a:xfrm>
            <a:off x="4736592" y="4041648"/>
            <a:ext cx="4023360" cy="274320"/>
          </a:xfrm>
          <a:prstGeom prst="rect">
            <a:avLst/>
          </a:prstGeom>
          <a:noFill/>
          <a:ln/>
        </p:spPr>
        <p:txBody>
          <a:bodyPr wrap="square" lIns="0" tIns="0" rIns="0" bIns="0" rtlCol="0" anchor="ctr"/>
          <a:lstStyle/>
          <a:p>
            <a:pPr indent="0" marL="0">
              <a:buNone/>
            </a:pPr>
            <a:r>
              <a:rPr lang="en-US" sz="1400" b="1" dirty="0">
                <a:solidFill>
                  <a:srgbClr val="7C3AED"/>
                </a:solidFill>
                <a:latin typeface="Consolas" pitchFamily="34" charset="0"/>
                <a:ea typeface="Consolas" pitchFamily="34" charset="-122"/>
                <a:cs typeface="Consolas" pitchFamily="34" charset="-120"/>
              </a:rPr>
              <a:t>utils.py</a:t>
            </a:r>
            <a:endParaRPr lang="en-US" sz="1400" dirty="0"/>
          </a:p>
        </p:txBody>
      </p:sp>
      <p:sp>
        <p:nvSpPr>
          <p:cNvPr id="24" name="Text 22"/>
          <p:cNvSpPr/>
          <p:nvPr/>
        </p:nvSpPr>
        <p:spPr>
          <a:xfrm>
            <a:off x="4736592" y="4334256"/>
            <a:ext cx="4023360" cy="329184"/>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Helper functions: text↔binary, delimiter, capacity calculator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IMPLEMENTATION</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main.py — CLI &amp; Menu</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Program entry point and user interaction</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4937760" cy="3246120"/>
          </a:xfrm>
          <a:prstGeom prst="rect">
            <a:avLst/>
          </a:prstGeom>
          <a:solidFill>
            <a:srgbClr val="0F1929"/>
          </a:solidFill>
          <a:ln w="12700">
            <a:solidFill>
              <a:srgbClr val="0F1929"/>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02920" y="1719072"/>
            <a:ext cx="4663440" cy="3063240"/>
          </a:xfrm>
          <a:prstGeom prst="rect">
            <a:avLst/>
          </a:prstGeom>
          <a:noFill/>
          <a:ln/>
        </p:spPr>
        <p:txBody>
          <a:bodyPr wrap="square" lIns="50800" tIns="50800" rIns="50800" bIns="50800" rtlCol="0" anchor="t"/>
          <a:lstStyle/>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def show_menu():</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print("=" * 50)</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print("  LSB Steganography")</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print("[1] Encode - Hide message")</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print("[2] Decode - Extract message")</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print("[3] Exit")</a:t>
            </a:r>
            <a:endParaRPr lang="en-US" sz="1150" dirty="0"/>
          </a:p>
          <a:p>
            <a:pPr indent="0" marL="0">
              <a:lnSpc>
                <a:spcPct val="145000"/>
              </a:lnSpc>
              <a:buNone/>
            </a:pP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while True:</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choice = input("Choose [1/2/3]: ")</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if choice == '1': run_encoder()</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elif choice == '2': run_decoder()</a:t>
            </a:r>
            <a:endParaRPr lang="en-US" sz="1150" dirty="0"/>
          </a:p>
          <a:p>
            <a:pPr indent="0" marL="0">
              <a:lnSpc>
                <a:spcPct val="145000"/>
              </a:lnSpc>
              <a:buNone/>
            </a:pPr>
            <a:r>
              <a:rPr lang="en-US" sz="1150" dirty="0">
                <a:solidFill>
                  <a:srgbClr val="9FDDFF"/>
                </a:solidFill>
                <a:latin typeface="Consolas" pitchFamily="34" charset="0"/>
                <a:ea typeface="Consolas" pitchFamily="34" charset="-122"/>
                <a:cs typeface="Consolas" pitchFamily="34" charset="-120"/>
              </a:rPr>
              <a:t>  elif choice == '3': break</a:t>
            </a:r>
            <a:endParaRPr lang="en-US" sz="1150" dirty="0"/>
          </a:p>
        </p:txBody>
      </p:sp>
      <p:sp>
        <p:nvSpPr>
          <p:cNvPr id="9" name="Text 7"/>
          <p:cNvSpPr/>
          <p:nvPr/>
        </p:nvSpPr>
        <p:spPr>
          <a:xfrm>
            <a:off x="5577840" y="1600200"/>
            <a:ext cx="3337560" cy="320040"/>
          </a:xfrm>
          <a:prstGeom prst="rect">
            <a:avLst/>
          </a:prstGeom>
          <a:noFill/>
          <a:ln/>
        </p:spPr>
        <p:txBody>
          <a:bodyPr wrap="square" lIns="0" tIns="0" rIns="0" bIns="0" rtlCol="0" anchor="ctr"/>
          <a:lstStyle/>
          <a:p>
            <a:pPr indent="0" marL="0">
              <a:buNone/>
            </a:pPr>
            <a:r>
              <a:rPr lang="en-US" sz="1400" b="1" dirty="0">
                <a:solidFill>
                  <a:srgbClr val="0F2C5A"/>
                </a:solidFill>
                <a:latin typeface="Calibri" pitchFamily="34" charset="0"/>
                <a:ea typeface="Calibri" pitchFamily="34" charset="-122"/>
                <a:cs typeface="Calibri" pitchFamily="34" charset="-120"/>
              </a:rPr>
              <a:t>Key Features</a:t>
            </a:r>
            <a:endParaRPr lang="en-US" sz="1400" dirty="0"/>
          </a:p>
        </p:txBody>
      </p:sp>
      <p:sp>
        <p:nvSpPr>
          <p:cNvPr id="10" name="Shape 8"/>
          <p:cNvSpPr/>
          <p:nvPr/>
        </p:nvSpPr>
        <p:spPr>
          <a:xfrm>
            <a:off x="5577840" y="1993392"/>
            <a:ext cx="3337560" cy="6583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1" name="Text 9"/>
          <p:cNvSpPr/>
          <p:nvPr/>
        </p:nvSpPr>
        <p:spPr>
          <a:xfrm>
            <a:off x="5715000" y="2048256"/>
            <a:ext cx="3063240" cy="237744"/>
          </a:xfrm>
          <a:prstGeom prst="rect">
            <a:avLst/>
          </a:prstGeom>
          <a:noFill/>
          <a:ln/>
        </p:spPr>
        <p:txBody>
          <a:bodyPr wrap="square" lIns="0" tIns="0" rIns="0" bIns="0" rtlCol="0" anchor="ctr"/>
          <a:lstStyle/>
          <a:p>
            <a:pPr indent="0" marL="0">
              <a:buNone/>
            </a:pPr>
            <a:r>
              <a:rPr lang="en-US" sz="1250" b="1" dirty="0">
                <a:solidFill>
                  <a:srgbClr val="0F2C5A"/>
                </a:solidFill>
                <a:latin typeface="Calibri" pitchFamily="34" charset="0"/>
                <a:ea typeface="Calibri" pitchFamily="34" charset="-122"/>
                <a:cs typeface="Calibri" pitchFamily="34" charset="-120"/>
              </a:rPr>
              <a:t>Menu Loop</a:t>
            </a:r>
            <a:endParaRPr lang="en-US" sz="1250" dirty="0"/>
          </a:p>
        </p:txBody>
      </p:sp>
      <p:sp>
        <p:nvSpPr>
          <p:cNvPr id="12" name="Text 10"/>
          <p:cNvSpPr/>
          <p:nvPr/>
        </p:nvSpPr>
        <p:spPr>
          <a:xfrm>
            <a:off x="5715000" y="2313432"/>
            <a:ext cx="306324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Runs until user exits — choices 1, 2, or 3</a:t>
            </a:r>
            <a:endParaRPr lang="en-US" sz="1100" dirty="0"/>
          </a:p>
        </p:txBody>
      </p:sp>
      <p:sp>
        <p:nvSpPr>
          <p:cNvPr id="13" name="Shape 11"/>
          <p:cNvSpPr/>
          <p:nvPr/>
        </p:nvSpPr>
        <p:spPr>
          <a:xfrm>
            <a:off x="5577840" y="2743200"/>
            <a:ext cx="3337560" cy="6583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4" name="Text 12"/>
          <p:cNvSpPr/>
          <p:nvPr/>
        </p:nvSpPr>
        <p:spPr>
          <a:xfrm>
            <a:off x="5715000" y="2798064"/>
            <a:ext cx="3063240" cy="237744"/>
          </a:xfrm>
          <a:prstGeom prst="rect">
            <a:avLst/>
          </a:prstGeom>
          <a:noFill/>
          <a:ln/>
        </p:spPr>
        <p:txBody>
          <a:bodyPr wrap="square" lIns="0" tIns="0" rIns="0" bIns="0" rtlCol="0" anchor="ctr"/>
          <a:lstStyle/>
          <a:p>
            <a:pPr indent="0" marL="0">
              <a:buNone/>
            </a:pPr>
            <a:r>
              <a:rPr lang="en-US" sz="1250" b="1" dirty="0">
                <a:solidFill>
                  <a:srgbClr val="0F2C5A"/>
                </a:solidFill>
                <a:latin typeface="Calibri" pitchFamily="34" charset="0"/>
                <a:ea typeface="Calibri" pitchFamily="34" charset="-122"/>
                <a:cs typeface="Calibri" pitchFamily="34" charset="-120"/>
              </a:rPr>
              <a:t>Input Validation</a:t>
            </a:r>
            <a:endParaRPr lang="en-US" sz="1250" dirty="0"/>
          </a:p>
        </p:txBody>
      </p:sp>
      <p:sp>
        <p:nvSpPr>
          <p:cNvPr id="15" name="Text 13"/>
          <p:cNvSpPr/>
          <p:nvPr/>
        </p:nvSpPr>
        <p:spPr>
          <a:xfrm>
            <a:off x="5715000" y="3063240"/>
            <a:ext cx="306324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Checks file path exists and is .png format</a:t>
            </a:r>
            <a:endParaRPr lang="en-US" sz="1100" dirty="0"/>
          </a:p>
        </p:txBody>
      </p:sp>
      <p:sp>
        <p:nvSpPr>
          <p:cNvPr id="16" name="Shape 14"/>
          <p:cNvSpPr/>
          <p:nvPr/>
        </p:nvSpPr>
        <p:spPr>
          <a:xfrm>
            <a:off x="5577840" y="3493008"/>
            <a:ext cx="3337560" cy="6583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7" name="Text 15"/>
          <p:cNvSpPr/>
          <p:nvPr/>
        </p:nvSpPr>
        <p:spPr>
          <a:xfrm>
            <a:off x="5715000" y="3547872"/>
            <a:ext cx="3063240" cy="237744"/>
          </a:xfrm>
          <a:prstGeom prst="rect">
            <a:avLst/>
          </a:prstGeom>
          <a:noFill/>
          <a:ln/>
        </p:spPr>
        <p:txBody>
          <a:bodyPr wrap="square" lIns="0" tIns="0" rIns="0" bIns="0" rtlCol="0" anchor="ctr"/>
          <a:lstStyle/>
          <a:p>
            <a:pPr indent="0" marL="0">
              <a:buNone/>
            </a:pPr>
            <a:r>
              <a:rPr lang="en-US" sz="1250" b="1" dirty="0">
                <a:solidFill>
                  <a:srgbClr val="0F2C5A"/>
                </a:solidFill>
                <a:latin typeface="Calibri" pitchFamily="34" charset="0"/>
                <a:ea typeface="Calibri" pitchFamily="34" charset="-122"/>
                <a:cs typeface="Calibri" pitchFamily="34" charset="-120"/>
              </a:rPr>
              <a:t>Auto Directories</a:t>
            </a:r>
            <a:endParaRPr lang="en-US" sz="1250" dirty="0"/>
          </a:p>
        </p:txBody>
      </p:sp>
      <p:sp>
        <p:nvSpPr>
          <p:cNvPr id="18" name="Text 16"/>
          <p:cNvSpPr/>
          <p:nvPr/>
        </p:nvSpPr>
        <p:spPr>
          <a:xfrm>
            <a:off x="5715000" y="3813048"/>
            <a:ext cx="306324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Creates images/input and images/output automatically</a:t>
            </a:r>
            <a:endParaRPr lang="en-US" sz="1100" dirty="0"/>
          </a:p>
        </p:txBody>
      </p:sp>
      <p:sp>
        <p:nvSpPr>
          <p:cNvPr id="19" name="Shape 17"/>
          <p:cNvSpPr/>
          <p:nvPr/>
        </p:nvSpPr>
        <p:spPr>
          <a:xfrm>
            <a:off x="5577840" y="4242816"/>
            <a:ext cx="3337560" cy="6583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20" name="Text 18"/>
          <p:cNvSpPr/>
          <p:nvPr/>
        </p:nvSpPr>
        <p:spPr>
          <a:xfrm>
            <a:off x="5715000" y="4297680"/>
            <a:ext cx="3063240" cy="237744"/>
          </a:xfrm>
          <a:prstGeom prst="rect">
            <a:avLst/>
          </a:prstGeom>
          <a:noFill/>
          <a:ln/>
        </p:spPr>
        <p:txBody>
          <a:bodyPr wrap="square" lIns="0" tIns="0" rIns="0" bIns="0" rtlCol="0" anchor="ctr"/>
          <a:lstStyle/>
          <a:p>
            <a:pPr indent="0" marL="0">
              <a:buNone/>
            </a:pPr>
            <a:r>
              <a:rPr lang="en-US" sz="1250" b="1" dirty="0">
                <a:solidFill>
                  <a:srgbClr val="0F2C5A"/>
                </a:solidFill>
                <a:latin typeface="Calibri" pitchFamily="34" charset="0"/>
                <a:ea typeface="Calibri" pitchFamily="34" charset="-122"/>
                <a:cs typeface="Calibri" pitchFamily="34" charset="-120"/>
              </a:rPr>
              <a:t>Error Handling</a:t>
            </a:r>
            <a:endParaRPr lang="en-US" sz="1250" dirty="0"/>
          </a:p>
        </p:txBody>
      </p:sp>
      <p:sp>
        <p:nvSpPr>
          <p:cNvPr id="21" name="Text 19"/>
          <p:cNvSpPr/>
          <p:nvPr/>
        </p:nvSpPr>
        <p:spPr>
          <a:xfrm>
            <a:off x="5715000" y="4562856"/>
            <a:ext cx="306324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Friendly error messages; never crashes silently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1B5EA6"/>
          </a:solidFill>
          <a:ln w="12700">
            <a:solidFill>
              <a:srgbClr val="1B5EA6"/>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IMPLEMENTATION</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encoder.py — Embedding Logic</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How messages are hidden in pixel channels</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4937760" cy="3246120"/>
          </a:xfrm>
          <a:prstGeom prst="rect">
            <a:avLst/>
          </a:prstGeom>
          <a:solidFill>
            <a:srgbClr val="0B1929"/>
          </a:solidFill>
          <a:ln w="12700">
            <a:solidFill>
              <a:srgbClr val="0B1929"/>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02920" y="1719072"/>
            <a:ext cx="4663440" cy="3063240"/>
          </a:xfrm>
          <a:prstGeom prst="rect">
            <a:avLst/>
          </a:prstGeom>
          <a:noFill/>
          <a:ln/>
        </p:spPr>
        <p:txBody>
          <a:bodyPr wrap="square" lIns="50800" tIns="50800" rIns="50800" bIns="50800" rtlCol="0" anchor="t"/>
          <a:lstStyle/>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Key encoding operation</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binary_msg = text_to_binary(message)</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 get_delimiter()</a:t>
            </a:r>
            <a:endParaRPr lang="en-US" sz="1100" dirty="0"/>
          </a:p>
          <a:p>
            <a:pPr indent="0" marL="0">
              <a:lnSpc>
                <a:spcPct val="140000"/>
              </a:lnSpc>
              <a:buNone/>
            </a:pP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for row in range(height):</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for col in range(width):</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for channel in range(3):  # R,G,B</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if bit_index &lt; total_bits:</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pv = pixel_array[row,col,channel]</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bit = int(binary_msg[bit_index])</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 Clear LSB, set to message bit</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pixel_array[row,col,channel]</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 (pv &amp; 0xFE) | bit</a:t>
            </a:r>
            <a:endParaRPr lang="en-US" sz="1100" dirty="0"/>
          </a:p>
          <a:p>
            <a:pPr indent="0" marL="0">
              <a:lnSpc>
                <a:spcPct val="140000"/>
              </a:lnSpc>
              <a:buNone/>
            </a:pPr>
            <a:r>
              <a:rPr lang="en-US" sz="1100" dirty="0">
                <a:solidFill>
                  <a:srgbClr val="9FDDFF"/>
                </a:solidFill>
                <a:latin typeface="Consolas" pitchFamily="34" charset="0"/>
                <a:ea typeface="Consolas" pitchFamily="34" charset="-122"/>
                <a:cs typeface="Consolas" pitchFamily="34" charset="-120"/>
              </a:rPr>
              <a:t>        bit_index += 1</a:t>
            </a:r>
            <a:endParaRPr lang="en-US" sz="1100" dirty="0"/>
          </a:p>
        </p:txBody>
      </p:sp>
      <p:sp>
        <p:nvSpPr>
          <p:cNvPr id="9" name="Text 7"/>
          <p:cNvSpPr/>
          <p:nvPr/>
        </p:nvSpPr>
        <p:spPr>
          <a:xfrm>
            <a:off x="5577840" y="1600200"/>
            <a:ext cx="3337560" cy="320040"/>
          </a:xfrm>
          <a:prstGeom prst="rect">
            <a:avLst/>
          </a:prstGeom>
          <a:noFill/>
          <a:ln/>
        </p:spPr>
        <p:txBody>
          <a:bodyPr wrap="square" lIns="0" tIns="0" rIns="0" bIns="0" rtlCol="0" anchor="ctr"/>
          <a:lstStyle/>
          <a:p>
            <a:pPr indent="0" marL="0">
              <a:buNone/>
            </a:pPr>
            <a:r>
              <a:rPr lang="en-US" sz="1400" b="1" dirty="0">
                <a:solidFill>
                  <a:srgbClr val="1B5EA6"/>
                </a:solidFill>
                <a:latin typeface="Calibri" pitchFamily="34" charset="0"/>
                <a:ea typeface="Calibri" pitchFamily="34" charset="-122"/>
                <a:cs typeface="Calibri" pitchFamily="34" charset="-120"/>
              </a:rPr>
              <a:t>How It Works</a:t>
            </a:r>
            <a:endParaRPr lang="en-US" sz="1400" dirty="0"/>
          </a:p>
        </p:txBody>
      </p:sp>
      <p:sp>
        <p:nvSpPr>
          <p:cNvPr id="10" name="Shape 8"/>
          <p:cNvSpPr/>
          <p:nvPr/>
        </p:nvSpPr>
        <p:spPr>
          <a:xfrm>
            <a:off x="5577840" y="2084832"/>
            <a:ext cx="228600" cy="228600"/>
          </a:xfrm>
          <a:prstGeom prst="rect">
            <a:avLst/>
          </a:prstGeom>
          <a:solidFill>
            <a:srgbClr val="1B5EA6"/>
          </a:solidFill>
          <a:ln w="12700">
            <a:solidFill>
              <a:srgbClr val="1B5EA6"/>
            </a:solidFill>
            <a:prstDash val="solid"/>
          </a:ln>
        </p:spPr>
      </p:sp>
      <p:sp>
        <p:nvSpPr>
          <p:cNvPr id="11" name="Text 9"/>
          <p:cNvSpPr/>
          <p:nvPr/>
        </p:nvSpPr>
        <p:spPr>
          <a:xfrm>
            <a:off x="5897880" y="2057400"/>
            <a:ext cx="3017520" cy="228600"/>
          </a:xfrm>
          <a:prstGeom prst="rect">
            <a:avLst/>
          </a:prstGeom>
          <a:noFill/>
          <a:ln/>
        </p:spPr>
        <p:txBody>
          <a:bodyPr wrap="square" lIns="0" tIns="0" rIns="0" bIns="0" rtlCol="0" anchor="ctr"/>
          <a:lstStyle/>
          <a:p>
            <a:pPr indent="0" marL="0">
              <a:buNone/>
            </a:pPr>
            <a:r>
              <a:rPr lang="en-US" sz="1250" b="1" dirty="0">
                <a:solidFill>
                  <a:srgbClr val="1B5EA6"/>
                </a:solidFill>
                <a:latin typeface="Calibri" pitchFamily="34" charset="0"/>
                <a:ea typeface="Calibri" pitchFamily="34" charset="-122"/>
                <a:cs typeface="Calibri" pitchFamily="34" charset="-120"/>
              </a:rPr>
              <a:t>Convert</a:t>
            </a:r>
            <a:endParaRPr lang="en-US" sz="1250" dirty="0"/>
          </a:p>
        </p:txBody>
      </p:sp>
      <p:sp>
        <p:nvSpPr>
          <p:cNvPr id="12" name="Text 10"/>
          <p:cNvSpPr/>
          <p:nvPr/>
        </p:nvSpPr>
        <p:spPr>
          <a:xfrm>
            <a:off x="5897880" y="2313432"/>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Each character → 8-bit binary string</a:t>
            </a:r>
            <a:endParaRPr lang="en-US" sz="1150" dirty="0"/>
          </a:p>
        </p:txBody>
      </p:sp>
      <p:sp>
        <p:nvSpPr>
          <p:cNvPr id="13" name="Shape 11"/>
          <p:cNvSpPr/>
          <p:nvPr/>
        </p:nvSpPr>
        <p:spPr>
          <a:xfrm>
            <a:off x="5577840" y="2697480"/>
            <a:ext cx="228600" cy="228600"/>
          </a:xfrm>
          <a:prstGeom prst="rect">
            <a:avLst/>
          </a:prstGeom>
          <a:solidFill>
            <a:srgbClr val="1B5EA6"/>
          </a:solidFill>
          <a:ln w="12700">
            <a:solidFill>
              <a:srgbClr val="1B5EA6"/>
            </a:solidFill>
            <a:prstDash val="solid"/>
          </a:ln>
        </p:spPr>
      </p:sp>
      <p:sp>
        <p:nvSpPr>
          <p:cNvPr id="14" name="Text 12"/>
          <p:cNvSpPr/>
          <p:nvPr/>
        </p:nvSpPr>
        <p:spPr>
          <a:xfrm>
            <a:off x="5897880" y="2670048"/>
            <a:ext cx="3017520" cy="228600"/>
          </a:xfrm>
          <a:prstGeom prst="rect">
            <a:avLst/>
          </a:prstGeom>
          <a:noFill/>
          <a:ln/>
        </p:spPr>
        <p:txBody>
          <a:bodyPr wrap="square" lIns="0" tIns="0" rIns="0" bIns="0" rtlCol="0" anchor="ctr"/>
          <a:lstStyle/>
          <a:p>
            <a:pPr indent="0" marL="0">
              <a:buNone/>
            </a:pPr>
            <a:r>
              <a:rPr lang="en-US" sz="1250" b="1" dirty="0">
                <a:solidFill>
                  <a:srgbClr val="1B5EA6"/>
                </a:solidFill>
                <a:latin typeface="Calibri" pitchFamily="34" charset="0"/>
                <a:ea typeface="Calibri" pitchFamily="34" charset="-122"/>
                <a:cs typeface="Calibri" pitchFamily="34" charset="-120"/>
              </a:rPr>
              <a:t>Delimiter</a:t>
            </a:r>
            <a:endParaRPr lang="en-US" sz="1250" dirty="0"/>
          </a:p>
        </p:txBody>
      </p:sp>
      <p:sp>
        <p:nvSpPr>
          <p:cNvPr id="15" name="Text 13"/>
          <p:cNvSpPr/>
          <p:nvPr/>
        </p:nvSpPr>
        <p:spPr>
          <a:xfrm>
            <a:off x="5897880" y="2926080"/>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16 zero bits appended as end marker</a:t>
            </a:r>
            <a:endParaRPr lang="en-US" sz="1150" dirty="0"/>
          </a:p>
        </p:txBody>
      </p:sp>
      <p:sp>
        <p:nvSpPr>
          <p:cNvPr id="16" name="Shape 14"/>
          <p:cNvSpPr/>
          <p:nvPr/>
        </p:nvSpPr>
        <p:spPr>
          <a:xfrm>
            <a:off x="5577840" y="3310128"/>
            <a:ext cx="228600" cy="228600"/>
          </a:xfrm>
          <a:prstGeom prst="rect">
            <a:avLst/>
          </a:prstGeom>
          <a:solidFill>
            <a:srgbClr val="1B5EA6"/>
          </a:solidFill>
          <a:ln w="12700">
            <a:solidFill>
              <a:srgbClr val="1B5EA6"/>
            </a:solidFill>
            <a:prstDash val="solid"/>
          </a:ln>
        </p:spPr>
      </p:sp>
      <p:sp>
        <p:nvSpPr>
          <p:cNvPr id="17" name="Text 15"/>
          <p:cNvSpPr/>
          <p:nvPr/>
        </p:nvSpPr>
        <p:spPr>
          <a:xfrm>
            <a:off x="5897880" y="3282696"/>
            <a:ext cx="3017520" cy="228600"/>
          </a:xfrm>
          <a:prstGeom prst="rect">
            <a:avLst/>
          </a:prstGeom>
          <a:noFill/>
          <a:ln/>
        </p:spPr>
        <p:txBody>
          <a:bodyPr wrap="square" lIns="0" tIns="0" rIns="0" bIns="0" rtlCol="0" anchor="ctr"/>
          <a:lstStyle/>
          <a:p>
            <a:pPr indent="0" marL="0">
              <a:buNone/>
            </a:pPr>
            <a:r>
              <a:rPr lang="en-US" sz="1250" b="1" dirty="0">
                <a:solidFill>
                  <a:srgbClr val="1B5EA6"/>
                </a:solidFill>
                <a:latin typeface="Calibri" pitchFamily="34" charset="0"/>
                <a:ea typeface="Calibri" pitchFamily="34" charset="-122"/>
                <a:cs typeface="Calibri" pitchFamily="34" charset="-120"/>
              </a:rPr>
              <a:t>Iterate</a:t>
            </a:r>
            <a:endParaRPr lang="en-US" sz="1250" dirty="0"/>
          </a:p>
        </p:txBody>
      </p:sp>
      <p:sp>
        <p:nvSpPr>
          <p:cNvPr id="18" name="Text 16"/>
          <p:cNvSpPr/>
          <p:nvPr/>
        </p:nvSpPr>
        <p:spPr>
          <a:xfrm>
            <a:off x="5897880" y="3538728"/>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Pixels row by row, R → G → B per pixel</a:t>
            </a:r>
            <a:endParaRPr lang="en-US" sz="1150" dirty="0"/>
          </a:p>
        </p:txBody>
      </p:sp>
      <p:sp>
        <p:nvSpPr>
          <p:cNvPr id="19" name="Shape 17"/>
          <p:cNvSpPr/>
          <p:nvPr/>
        </p:nvSpPr>
        <p:spPr>
          <a:xfrm>
            <a:off x="5577840" y="3922776"/>
            <a:ext cx="228600" cy="228600"/>
          </a:xfrm>
          <a:prstGeom prst="rect">
            <a:avLst/>
          </a:prstGeom>
          <a:solidFill>
            <a:srgbClr val="1B5EA6"/>
          </a:solidFill>
          <a:ln w="12700">
            <a:solidFill>
              <a:srgbClr val="1B5EA6"/>
            </a:solidFill>
            <a:prstDash val="solid"/>
          </a:ln>
        </p:spPr>
      </p:sp>
      <p:sp>
        <p:nvSpPr>
          <p:cNvPr id="20" name="Text 18"/>
          <p:cNvSpPr/>
          <p:nvPr/>
        </p:nvSpPr>
        <p:spPr>
          <a:xfrm>
            <a:off x="5897880" y="3895344"/>
            <a:ext cx="3017520" cy="228600"/>
          </a:xfrm>
          <a:prstGeom prst="rect">
            <a:avLst/>
          </a:prstGeom>
          <a:noFill/>
          <a:ln/>
        </p:spPr>
        <p:txBody>
          <a:bodyPr wrap="square" lIns="0" tIns="0" rIns="0" bIns="0" rtlCol="0" anchor="ctr"/>
          <a:lstStyle/>
          <a:p>
            <a:pPr indent="0" marL="0">
              <a:buNone/>
            </a:pPr>
            <a:r>
              <a:rPr lang="en-US" sz="1250" b="1" dirty="0">
                <a:solidFill>
                  <a:srgbClr val="1B5EA6"/>
                </a:solidFill>
                <a:latin typeface="Calibri" pitchFamily="34" charset="0"/>
                <a:ea typeface="Calibri" pitchFamily="34" charset="-122"/>
                <a:cs typeface="Calibri" pitchFamily="34" charset="-120"/>
              </a:rPr>
              <a:t>Bit Mask</a:t>
            </a:r>
            <a:endParaRPr lang="en-US" sz="1250" dirty="0"/>
          </a:p>
        </p:txBody>
      </p:sp>
      <p:sp>
        <p:nvSpPr>
          <p:cNvPr id="21" name="Text 19"/>
          <p:cNvSpPr/>
          <p:nvPr/>
        </p:nvSpPr>
        <p:spPr>
          <a:xfrm>
            <a:off x="5897880" y="4151376"/>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(pixel &amp; 0xFE) clears LSB; OR sets new bit</a:t>
            </a:r>
            <a:endParaRPr lang="en-US" sz="1150" dirty="0"/>
          </a:p>
        </p:txBody>
      </p:sp>
      <p:sp>
        <p:nvSpPr>
          <p:cNvPr id="22" name="Shape 20"/>
          <p:cNvSpPr/>
          <p:nvPr/>
        </p:nvSpPr>
        <p:spPr>
          <a:xfrm>
            <a:off x="5577840" y="4535424"/>
            <a:ext cx="228600" cy="228600"/>
          </a:xfrm>
          <a:prstGeom prst="rect">
            <a:avLst/>
          </a:prstGeom>
          <a:solidFill>
            <a:srgbClr val="1B5EA6"/>
          </a:solidFill>
          <a:ln w="12700">
            <a:solidFill>
              <a:srgbClr val="1B5EA6"/>
            </a:solidFill>
            <a:prstDash val="solid"/>
          </a:ln>
        </p:spPr>
      </p:sp>
      <p:sp>
        <p:nvSpPr>
          <p:cNvPr id="23" name="Text 21"/>
          <p:cNvSpPr/>
          <p:nvPr/>
        </p:nvSpPr>
        <p:spPr>
          <a:xfrm>
            <a:off x="5897880" y="4507992"/>
            <a:ext cx="3017520" cy="228600"/>
          </a:xfrm>
          <a:prstGeom prst="rect">
            <a:avLst/>
          </a:prstGeom>
          <a:noFill/>
          <a:ln/>
        </p:spPr>
        <p:txBody>
          <a:bodyPr wrap="square" lIns="0" tIns="0" rIns="0" bIns="0" rtlCol="0" anchor="ctr"/>
          <a:lstStyle/>
          <a:p>
            <a:pPr indent="0" marL="0">
              <a:buNone/>
            </a:pPr>
            <a:r>
              <a:rPr lang="en-US" sz="1250" b="1" dirty="0">
                <a:solidFill>
                  <a:srgbClr val="1B5EA6"/>
                </a:solidFill>
                <a:latin typeface="Calibri" pitchFamily="34" charset="0"/>
                <a:ea typeface="Calibri" pitchFamily="34" charset="-122"/>
                <a:cs typeface="Calibri" pitchFamily="34" charset="-120"/>
              </a:rPr>
              <a:t>Save</a:t>
            </a:r>
            <a:endParaRPr lang="en-US" sz="1250" dirty="0"/>
          </a:p>
        </p:txBody>
      </p:sp>
      <p:sp>
        <p:nvSpPr>
          <p:cNvPr id="24" name="Text 22"/>
          <p:cNvSpPr/>
          <p:nvPr/>
        </p:nvSpPr>
        <p:spPr>
          <a:xfrm>
            <a:off x="5897880" y="4764024"/>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stego_image.save(output, format='PNG')</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1A7A4A"/>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IMPLEMENTATION</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decoder.py — Extraction Logic</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Reading hidden bits back from the stego-image</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4937760" cy="3246120"/>
          </a:xfrm>
          <a:prstGeom prst="rect">
            <a:avLst/>
          </a:prstGeom>
          <a:solidFill>
            <a:srgbClr val="0B1F12"/>
          </a:solidFill>
          <a:ln w="12700">
            <a:solidFill>
              <a:srgbClr val="0B1F12"/>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02920" y="1719072"/>
            <a:ext cx="4663440" cy="3063240"/>
          </a:xfrm>
          <a:prstGeom prst="rect">
            <a:avLst/>
          </a:prstGeom>
          <a:noFill/>
          <a:ln/>
        </p:spPr>
        <p:txBody>
          <a:bodyPr wrap="square" lIns="50800" tIns="50800" rIns="50800" bIns="50800" rtlCol="0" anchor="t"/>
          <a:lstStyle/>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Key decoding operation</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binary_string = ''</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delimiter = get_delimiter()  # 16 zeros</a:t>
            </a:r>
            <a:endParaRPr lang="en-US" sz="1100" dirty="0"/>
          </a:p>
          <a:p>
            <a:pPr indent="0" marL="0">
              <a:lnSpc>
                <a:spcPct val="140000"/>
              </a:lnSpc>
              <a:buNone/>
            </a:pP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for row in range(height):</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for col in range(width):</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for channel in range(3):  # R,G,B</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 Extract LSB from pixel</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lsb = pixel_array[row,col,channel]</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&amp; 0x01</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binary_string += str(lsb)</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 Check every 8 bits for delimiter</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if binary_string[-16:] == delimiter:</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return binary_to_text(</a:t>
            </a:r>
            <a:endParaRPr lang="en-US" sz="1100" dirty="0"/>
          </a:p>
          <a:p>
            <a:pPr indent="0" marL="0">
              <a:lnSpc>
                <a:spcPct val="140000"/>
              </a:lnSpc>
              <a:buNone/>
            </a:pPr>
            <a:r>
              <a:rPr lang="en-US" sz="1100" dirty="0">
                <a:solidFill>
                  <a:srgbClr val="A8FFCA"/>
                </a:solidFill>
                <a:latin typeface="Consolas" pitchFamily="34" charset="0"/>
                <a:ea typeface="Consolas" pitchFamily="34" charset="-122"/>
                <a:cs typeface="Consolas" pitchFamily="34" charset="-120"/>
              </a:rPr>
              <a:t>          binary_string[:-16])</a:t>
            </a:r>
            <a:endParaRPr lang="en-US" sz="1100" dirty="0"/>
          </a:p>
        </p:txBody>
      </p:sp>
      <p:sp>
        <p:nvSpPr>
          <p:cNvPr id="9" name="Text 7"/>
          <p:cNvSpPr/>
          <p:nvPr/>
        </p:nvSpPr>
        <p:spPr>
          <a:xfrm>
            <a:off x="5577840" y="1600200"/>
            <a:ext cx="3337560" cy="320040"/>
          </a:xfrm>
          <a:prstGeom prst="rect">
            <a:avLst/>
          </a:prstGeom>
          <a:noFill/>
          <a:ln/>
        </p:spPr>
        <p:txBody>
          <a:bodyPr wrap="square" lIns="0" tIns="0" rIns="0" bIns="0" rtlCol="0" anchor="ctr"/>
          <a:lstStyle/>
          <a:p>
            <a:pPr indent="0" marL="0">
              <a:buNone/>
            </a:pPr>
            <a:r>
              <a:rPr lang="en-US" sz="1400" b="1" dirty="0">
                <a:solidFill>
                  <a:srgbClr val="1A7A4A"/>
                </a:solidFill>
                <a:latin typeface="Calibri" pitchFamily="34" charset="0"/>
                <a:ea typeface="Calibri" pitchFamily="34" charset="-122"/>
                <a:cs typeface="Calibri" pitchFamily="34" charset="-120"/>
              </a:rPr>
              <a:t>How It Works</a:t>
            </a:r>
            <a:endParaRPr lang="en-US" sz="1400" dirty="0"/>
          </a:p>
        </p:txBody>
      </p:sp>
      <p:sp>
        <p:nvSpPr>
          <p:cNvPr id="10" name="Shape 8"/>
          <p:cNvSpPr/>
          <p:nvPr/>
        </p:nvSpPr>
        <p:spPr>
          <a:xfrm>
            <a:off x="5577840" y="2084832"/>
            <a:ext cx="228600" cy="228600"/>
          </a:xfrm>
          <a:prstGeom prst="rect">
            <a:avLst/>
          </a:prstGeom>
          <a:solidFill>
            <a:srgbClr val="1A7A4A"/>
          </a:solidFill>
          <a:ln w="12700">
            <a:solidFill>
              <a:srgbClr val="1A7A4A"/>
            </a:solidFill>
            <a:prstDash val="solid"/>
          </a:ln>
        </p:spPr>
      </p:sp>
      <p:sp>
        <p:nvSpPr>
          <p:cNvPr id="11" name="Text 9"/>
          <p:cNvSpPr/>
          <p:nvPr/>
        </p:nvSpPr>
        <p:spPr>
          <a:xfrm>
            <a:off x="5897880" y="2057400"/>
            <a:ext cx="3017520" cy="228600"/>
          </a:xfrm>
          <a:prstGeom prst="rect">
            <a:avLst/>
          </a:prstGeom>
          <a:noFill/>
          <a:ln/>
        </p:spPr>
        <p:txBody>
          <a:bodyPr wrap="square" lIns="0" tIns="0" rIns="0" bIns="0" rtlCol="0" anchor="ctr"/>
          <a:lstStyle/>
          <a:p>
            <a:pPr indent="0" marL="0">
              <a:buNone/>
            </a:pPr>
            <a:r>
              <a:rPr lang="en-US" sz="1250" b="1" dirty="0">
                <a:solidFill>
                  <a:srgbClr val="1A7A4A"/>
                </a:solidFill>
                <a:latin typeface="Calibri" pitchFamily="34" charset="0"/>
                <a:ea typeface="Calibri" pitchFamily="34" charset="-122"/>
                <a:cs typeface="Calibri" pitchFamily="34" charset="-120"/>
              </a:rPr>
              <a:t>Extract</a:t>
            </a:r>
            <a:endParaRPr lang="en-US" sz="1250" dirty="0"/>
          </a:p>
        </p:txBody>
      </p:sp>
      <p:sp>
        <p:nvSpPr>
          <p:cNvPr id="12" name="Text 10"/>
          <p:cNvSpPr/>
          <p:nvPr/>
        </p:nvSpPr>
        <p:spPr>
          <a:xfrm>
            <a:off x="5897880" y="2313432"/>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pixel &amp; 0x01 gives the LSB (0 or 1)</a:t>
            </a:r>
            <a:endParaRPr lang="en-US" sz="1150" dirty="0"/>
          </a:p>
        </p:txBody>
      </p:sp>
      <p:sp>
        <p:nvSpPr>
          <p:cNvPr id="13" name="Shape 11"/>
          <p:cNvSpPr/>
          <p:nvPr/>
        </p:nvSpPr>
        <p:spPr>
          <a:xfrm>
            <a:off x="5577840" y="2697480"/>
            <a:ext cx="228600" cy="228600"/>
          </a:xfrm>
          <a:prstGeom prst="rect">
            <a:avLst/>
          </a:prstGeom>
          <a:solidFill>
            <a:srgbClr val="1A7A4A"/>
          </a:solidFill>
          <a:ln w="12700">
            <a:solidFill>
              <a:srgbClr val="1A7A4A"/>
            </a:solidFill>
            <a:prstDash val="solid"/>
          </a:ln>
        </p:spPr>
      </p:sp>
      <p:sp>
        <p:nvSpPr>
          <p:cNvPr id="14" name="Text 12"/>
          <p:cNvSpPr/>
          <p:nvPr/>
        </p:nvSpPr>
        <p:spPr>
          <a:xfrm>
            <a:off x="5897880" y="2670048"/>
            <a:ext cx="3017520" cy="228600"/>
          </a:xfrm>
          <a:prstGeom prst="rect">
            <a:avLst/>
          </a:prstGeom>
          <a:noFill/>
          <a:ln/>
        </p:spPr>
        <p:txBody>
          <a:bodyPr wrap="square" lIns="0" tIns="0" rIns="0" bIns="0" rtlCol="0" anchor="ctr"/>
          <a:lstStyle/>
          <a:p>
            <a:pPr indent="0" marL="0">
              <a:buNone/>
            </a:pPr>
            <a:r>
              <a:rPr lang="en-US" sz="1250" b="1" dirty="0">
                <a:solidFill>
                  <a:srgbClr val="1A7A4A"/>
                </a:solidFill>
                <a:latin typeface="Calibri" pitchFamily="34" charset="0"/>
                <a:ea typeface="Calibri" pitchFamily="34" charset="-122"/>
                <a:cs typeface="Calibri" pitchFamily="34" charset="-120"/>
              </a:rPr>
              <a:t>Accumulate</a:t>
            </a:r>
            <a:endParaRPr lang="en-US" sz="1250" dirty="0"/>
          </a:p>
        </p:txBody>
      </p:sp>
      <p:sp>
        <p:nvSpPr>
          <p:cNvPr id="15" name="Text 13"/>
          <p:cNvSpPr/>
          <p:nvPr/>
        </p:nvSpPr>
        <p:spPr>
          <a:xfrm>
            <a:off x="5897880" y="2926080"/>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Bits are appended to a growing string</a:t>
            </a:r>
            <a:endParaRPr lang="en-US" sz="1150" dirty="0"/>
          </a:p>
        </p:txBody>
      </p:sp>
      <p:sp>
        <p:nvSpPr>
          <p:cNvPr id="16" name="Shape 14"/>
          <p:cNvSpPr/>
          <p:nvPr/>
        </p:nvSpPr>
        <p:spPr>
          <a:xfrm>
            <a:off x="5577840" y="3310128"/>
            <a:ext cx="228600" cy="228600"/>
          </a:xfrm>
          <a:prstGeom prst="rect">
            <a:avLst/>
          </a:prstGeom>
          <a:solidFill>
            <a:srgbClr val="1A7A4A"/>
          </a:solidFill>
          <a:ln w="12700">
            <a:solidFill>
              <a:srgbClr val="1A7A4A"/>
            </a:solidFill>
            <a:prstDash val="solid"/>
          </a:ln>
        </p:spPr>
      </p:sp>
      <p:sp>
        <p:nvSpPr>
          <p:cNvPr id="17" name="Text 15"/>
          <p:cNvSpPr/>
          <p:nvPr/>
        </p:nvSpPr>
        <p:spPr>
          <a:xfrm>
            <a:off x="5897880" y="3282696"/>
            <a:ext cx="3017520" cy="228600"/>
          </a:xfrm>
          <a:prstGeom prst="rect">
            <a:avLst/>
          </a:prstGeom>
          <a:noFill/>
          <a:ln/>
        </p:spPr>
        <p:txBody>
          <a:bodyPr wrap="square" lIns="0" tIns="0" rIns="0" bIns="0" rtlCol="0" anchor="ctr"/>
          <a:lstStyle/>
          <a:p>
            <a:pPr indent="0" marL="0">
              <a:buNone/>
            </a:pPr>
            <a:r>
              <a:rPr lang="en-US" sz="1250" b="1" dirty="0">
                <a:solidFill>
                  <a:srgbClr val="1A7A4A"/>
                </a:solidFill>
                <a:latin typeface="Calibri" pitchFamily="34" charset="0"/>
                <a:ea typeface="Calibri" pitchFamily="34" charset="-122"/>
                <a:cs typeface="Calibri" pitchFamily="34" charset="-120"/>
              </a:rPr>
              <a:t>Group</a:t>
            </a:r>
            <a:endParaRPr lang="en-US" sz="1250" dirty="0"/>
          </a:p>
        </p:txBody>
      </p:sp>
      <p:sp>
        <p:nvSpPr>
          <p:cNvPr id="18" name="Text 16"/>
          <p:cNvSpPr/>
          <p:nvPr/>
        </p:nvSpPr>
        <p:spPr>
          <a:xfrm>
            <a:off x="5897880" y="3538728"/>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Every 8 bits = 1 character (1 byte)</a:t>
            </a:r>
            <a:endParaRPr lang="en-US" sz="1150" dirty="0"/>
          </a:p>
        </p:txBody>
      </p:sp>
      <p:sp>
        <p:nvSpPr>
          <p:cNvPr id="19" name="Shape 17"/>
          <p:cNvSpPr/>
          <p:nvPr/>
        </p:nvSpPr>
        <p:spPr>
          <a:xfrm>
            <a:off x="5577840" y="3922776"/>
            <a:ext cx="228600" cy="228600"/>
          </a:xfrm>
          <a:prstGeom prst="rect">
            <a:avLst/>
          </a:prstGeom>
          <a:solidFill>
            <a:srgbClr val="1A7A4A"/>
          </a:solidFill>
          <a:ln w="12700">
            <a:solidFill>
              <a:srgbClr val="1A7A4A"/>
            </a:solidFill>
            <a:prstDash val="solid"/>
          </a:ln>
        </p:spPr>
      </p:sp>
      <p:sp>
        <p:nvSpPr>
          <p:cNvPr id="20" name="Text 18"/>
          <p:cNvSpPr/>
          <p:nvPr/>
        </p:nvSpPr>
        <p:spPr>
          <a:xfrm>
            <a:off x="5897880" y="3895344"/>
            <a:ext cx="3017520" cy="228600"/>
          </a:xfrm>
          <a:prstGeom prst="rect">
            <a:avLst/>
          </a:prstGeom>
          <a:noFill/>
          <a:ln/>
        </p:spPr>
        <p:txBody>
          <a:bodyPr wrap="square" lIns="0" tIns="0" rIns="0" bIns="0" rtlCol="0" anchor="ctr"/>
          <a:lstStyle/>
          <a:p>
            <a:pPr indent="0" marL="0">
              <a:buNone/>
            </a:pPr>
            <a:r>
              <a:rPr lang="en-US" sz="1250" b="1" dirty="0">
                <a:solidFill>
                  <a:srgbClr val="1A7A4A"/>
                </a:solidFill>
                <a:latin typeface="Calibri" pitchFamily="34" charset="0"/>
                <a:ea typeface="Calibri" pitchFamily="34" charset="-122"/>
                <a:cs typeface="Calibri" pitchFamily="34" charset="-120"/>
              </a:rPr>
              <a:t>Detect End</a:t>
            </a:r>
            <a:endParaRPr lang="en-US" sz="1250" dirty="0"/>
          </a:p>
        </p:txBody>
      </p:sp>
      <p:sp>
        <p:nvSpPr>
          <p:cNvPr id="21" name="Text 19"/>
          <p:cNvSpPr/>
          <p:nvPr/>
        </p:nvSpPr>
        <p:spPr>
          <a:xfrm>
            <a:off x="5897880" y="4151376"/>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Check last 16 bits for delimiter sequence</a:t>
            </a:r>
            <a:endParaRPr lang="en-US" sz="1150" dirty="0"/>
          </a:p>
        </p:txBody>
      </p:sp>
      <p:sp>
        <p:nvSpPr>
          <p:cNvPr id="22" name="Shape 20"/>
          <p:cNvSpPr/>
          <p:nvPr/>
        </p:nvSpPr>
        <p:spPr>
          <a:xfrm>
            <a:off x="5577840" y="4535424"/>
            <a:ext cx="228600" cy="228600"/>
          </a:xfrm>
          <a:prstGeom prst="rect">
            <a:avLst/>
          </a:prstGeom>
          <a:solidFill>
            <a:srgbClr val="1A7A4A"/>
          </a:solidFill>
          <a:ln w="12700">
            <a:solidFill>
              <a:srgbClr val="1A7A4A"/>
            </a:solidFill>
            <a:prstDash val="solid"/>
          </a:ln>
        </p:spPr>
      </p:sp>
      <p:sp>
        <p:nvSpPr>
          <p:cNvPr id="23" name="Text 21"/>
          <p:cNvSpPr/>
          <p:nvPr/>
        </p:nvSpPr>
        <p:spPr>
          <a:xfrm>
            <a:off x="5897880" y="4507992"/>
            <a:ext cx="3017520" cy="228600"/>
          </a:xfrm>
          <a:prstGeom prst="rect">
            <a:avLst/>
          </a:prstGeom>
          <a:noFill/>
          <a:ln/>
        </p:spPr>
        <p:txBody>
          <a:bodyPr wrap="square" lIns="0" tIns="0" rIns="0" bIns="0" rtlCol="0" anchor="ctr"/>
          <a:lstStyle/>
          <a:p>
            <a:pPr indent="0" marL="0">
              <a:buNone/>
            </a:pPr>
            <a:r>
              <a:rPr lang="en-US" sz="1250" b="1" dirty="0">
                <a:solidFill>
                  <a:srgbClr val="1A7A4A"/>
                </a:solidFill>
                <a:latin typeface="Calibri" pitchFamily="34" charset="0"/>
                <a:ea typeface="Calibri" pitchFamily="34" charset="-122"/>
                <a:cs typeface="Calibri" pitchFamily="34" charset="-120"/>
              </a:rPr>
              <a:t>Return</a:t>
            </a:r>
            <a:endParaRPr lang="en-US" sz="1250" dirty="0"/>
          </a:p>
        </p:txBody>
      </p:sp>
      <p:sp>
        <p:nvSpPr>
          <p:cNvPr id="24" name="Text 22"/>
          <p:cNvSpPr/>
          <p:nvPr/>
        </p:nvSpPr>
        <p:spPr>
          <a:xfrm>
            <a:off x="5897880" y="4764024"/>
            <a:ext cx="3017520" cy="228600"/>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Strip delimiter, convert binary → text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7C3AED"/>
          </a:solidFill>
          <a:ln w="12700">
            <a:solidFill>
              <a:srgbClr val="7C3AED"/>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IMPLEMENTATION</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utils.py — Helper Functions</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Shared utilities used by encoder and decoder</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4206240" cy="15727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8" name="Shape 6"/>
          <p:cNvSpPr/>
          <p:nvPr/>
        </p:nvSpPr>
        <p:spPr>
          <a:xfrm>
            <a:off x="365760" y="1600200"/>
            <a:ext cx="4206240" cy="347472"/>
          </a:xfrm>
          <a:prstGeom prst="rect">
            <a:avLst/>
          </a:prstGeom>
          <a:solidFill>
            <a:srgbClr val="1B5EA6"/>
          </a:solidFill>
          <a:ln w="12700">
            <a:solidFill>
              <a:srgbClr val="1B5EA6"/>
            </a:solidFill>
            <a:prstDash val="solid"/>
          </a:ln>
        </p:spPr>
      </p:sp>
      <p:sp>
        <p:nvSpPr>
          <p:cNvPr id="9" name="Text 7"/>
          <p:cNvSpPr/>
          <p:nvPr/>
        </p:nvSpPr>
        <p:spPr>
          <a:xfrm>
            <a:off x="457200" y="1600200"/>
            <a:ext cx="4023360" cy="347472"/>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text_to_binary(text)</a:t>
            </a:r>
            <a:endParaRPr lang="en-US" sz="1150" dirty="0"/>
          </a:p>
        </p:txBody>
      </p:sp>
      <p:sp>
        <p:nvSpPr>
          <p:cNvPr id="10" name="Text 8"/>
          <p:cNvSpPr/>
          <p:nvPr/>
        </p:nvSpPr>
        <p:spPr>
          <a:xfrm>
            <a:off x="457200" y="1993392"/>
            <a:ext cx="4023360" cy="685800"/>
          </a:xfrm>
          <a:prstGeom prst="rect">
            <a:avLst/>
          </a:prstGeom>
          <a:noFill/>
          <a:ln/>
        </p:spPr>
        <p:txBody>
          <a:bodyPr wrap="square" lIns="0" tIns="0" rIns="0" bIns="0" rtlCol="0" anchor="ctr"/>
          <a:lstStyle/>
          <a:p>
            <a:pPr indent="0" marL="0">
              <a:buNone/>
            </a:pPr>
            <a:r>
              <a:rPr lang="en-US" sz="1150" dirty="0">
                <a:solidFill>
                  <a:srgbClr val="1A2440"/>
                </a:solidFill>
                <a:latin typeface="Calibri" pitchFamily="34" charset="0"/>
                <a:ea typeface="Calibri" pitchFamily="34" charset="-122"/>
                <a:cs typeface="Calibri" pitchFamily="34" charset="-120"/>
              </a:rPr>
              <a:t>Converts each character to its 8-bit binary representation using ord(). Returns a concatenated binary string.</a:t>
            </a:r>
            <a:endParaRPr lang="en-US" sz="1150" dirty="0"/>
          </a:p>
        </p:txBody>
      </p:sp>
      <p:sp>
        <p:nvSpPr>
          <p:cNvPr id="11" name="Text 9"/>
          <p:cNvSpPr/>
          <p:nvPr/>
        </p:nvSpPr>
        <p:spPr>
          <a:xfrm>
            <a:off x="457200" y="2807208"/>
            <a:ext cx="4023360" cy="274320"/>
          </a:xfrm>
          <a:prstGeom prst="rect">
            <a:avLst/>
          </a:prstGeom>
          <a:noFill/>
          <a:ln/>
        </p:spPr>
        <p:txBody>
          <a:bodyPr wrap="square" lIns="0" tIns="0" rIns="0" bIns="0" rtlCol="0" anchor="ctr"/>
          <a:lstStyle/>
          <a:p>
            <a:pPr indent="0" marL="0">
              <a:buNone/>
            </a:pPr>
            <a:r>
              <a:rPr lang="en-US" sz="1100" i="1" dirty="0">
                <a:solidFill>
                  <a:srgbClr val="6B7280"/>
                </a:solidFill>
                <a:latin typeface="Consolas" pitchFamily="34" charset="0"/>
                <a:ea typeface="Consolas" pitchFamily="34" charset="-122"/>
                <a:cs typeface="Consolas" pitchFamily="34" charset="-120"/>
              </a:rPr>
              <a:t>'Hi' → '0100100001101001'</a:t>
            </a:r>
            <a:endParaRPr lang="en-US" sz="1100" dirty="0"/>
          </a:p>
        </p:txBody>
      </p:sp>
      <p:sp>
        <p:nvSpPr>
          <p:cNvPr id="12" name="Shape 10"/>
          <p:cNvSpPr/>
          <p:nvPr/>
        </p:nvSpPr>
        <p:spPr>
          <a:xfrm>
            <a:off x="4800600" y="1600200"/>
            <a:ext cx="4206240" cy="15727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3" name="Shape 11"/>
          <p:cNvSpPr/>
          <p:nvPr/>
        </p:nvSpPr>
        <p:spPr>
          <a:xfrm>
            <a:off x="4800600" y="1600200"/>
            <a:ext cx="4206240" cy="347472"/>
          </a:xfrm>
          <a:prstGeom prst="rect">
            <a:avLst/>
          </a:prstGeom>
          <a:solidFill>
            <a:srgbClr val="1A7A4A"/>
          </a:solidFill>
          <a:ln w="12700">
            <a:solidFill>
              <a:srgbClr val="1A7A4A"/>
            </a:solidFill>
            <a:prstDash val="solid"/>
          </a:ln>
        </p:spPr>
      </p:sp>
      <p:sp>
        <p:nvSpPr>
          <p:cNvPr id="14" name="Text 12"/>
          <p:cNvSpPr/>
          <p:nvPr/>
        </p:nvSpPr>
        <p:spPr>
          <a:xfrm>
            <a:off x="4892040" y="1600200"/>
            <a:ext cx="4023360" cy="347472"/>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binary_to_text(binary)</a:t>
            </a:r>
            <a:endParaRPr lang="en-US" sz="1150" dirty="0"/>
          </a:p>
        </p:txBody>
      </p:sp>
      <p:sp>
        <p:nvSpPr>
          <p:cNvPr id="15" name="Text 13"/>
          <p:cNvSpPr/>
          <p:nvPr/>
        </p:nvSpPr>
        <p:spPr>
          <a:xfrm>
            <a:off x="4892040" y="1993392"/>
            <a:ext cx="4023360" cy="685800"/>
          </a:xfrm>
          <a:prstGeom prst="rect">
            <a:avLst/>
          </a:prstGeom>
          <a:noFill/>
          <a:ln/>
        </p:spPr>
        <p:txBody>
          <a:bodyPr wrap="square" lIns="0" tIns="0" rIns="0" bIns="0" rtlCol="0" anchor="ctr"/>
          <a:lstStyle/>
          <a:p>
            <a:pPr indent="0" marL="0">
              <a:buNone/>
            </a:pPr>
            <a:r>
              <a:rPr lang="en-US" sz="1150" dirty="0">
                <a:solidFill>
                  <a:srgbClr val="1A2440"/>
                </a:solidFill>
                <a:latin typeface="Calibri" pitchFamily="34" charset="0"/>
                <a:ea typeface="Calibri" pitchFamily="34" charset="-122"/>
                <a:cs typeface="Calibri" pitchFamily="34" charset="-120"/>
              </a:rPr>
              <a:t>Groups every 8 bits and converts each byte to its corresponding character using chr(int(byte, 2)).</a:t>
            </a:r>
            <a:endParaRPr lang="en-US" sz="1150" dirty="0"/>
          </a:p>
        </p:txBody>
      </p:sp>
      <p:sp>
        <p:nvSpPr>
          <p:cNvPr id="16" name="Text 14"/>
          <p:cNvSpPr/>
          <p:nvPr/>
        </p:nvSpPr>
        <p:spPr>
          <a:xfrm>
            <a:off x="4892040" y="2807208"/>
            <a:ext cx="4023360" cy="274320"/>
          </a:xfrm>
          <a:prstGeom prst="rect">
            <a:avLst/>
          </a:prstGeom>
          <a:noFill/>
          <a:ln/>
        </p:spPr>
        <p:txBody>
          <a:bodyPr wrap="square" lIns="0" tIns="0" rIns="0" bIns="0" rtlCol="0" anchor="ctr"/>
          <a:lstStyle/>
          <a:p>
            <a:pPr indent="0" marL="0">
              <a:buNone/>
            </a:pPr>
            <a:r>
              <a:rPr lang="en-US" sz="1100" i="1" dirty="0">
                <a:solidFill>
                  <a:srgbClr val="6B7280"/>
                </a:solidFill>
                <a:latin typeface="Consolas" pitchFamily="34" charset="0"/>
                <a:ea typeface="Consolas" pitchFamily="34" charset="-122"/>
                <a:cs typeface="Consolas" pitchFamily="34" charset="-120"/>
              </a:rPr>
              <a:t>'01000001' → 'A'</a:t>
            </a:r>
            <a:endParaRPr lang="en-US" sz="1100" dirty="0"/>
          </a:p>
        </p:txBody>
      </p:sp>
      <p:sp>
        <p:nvSpPr>
          <p:cNvPr id="17" name="Shape 15"/>
          <p:cNvSpPr/>
          <p:nvPr/>
        </p:nvSpPr>
        <p:spPr>
          <a:xfrm>
            <a:off x="365760" y="3310128"/>
            <a:ext cx="4206240" cy="15727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8" name="Shape 16"/>
          <p:cNvSpPr/>
          <p:nvPr/>
        </p:nvSpPr>
        <p:spPr>
          <a:xfrm>
            <a:off x="365760" y="3310128"/>
            <a:ext cx="4206240" cy="347472"/>
          </a:xfrm>
          <a:prstGeom prst="rect">
            <a:avLst/>
          </a:prstGeom>
          <a:solidFill>
            <a:srgbClr val="D97706"/>
          </a:solidFill>
          <a:ln w="12700">
            <a:solidFill>
              <a:srgbClr val="D97706"/>
            </a:solidFill>
            <a:prstDash val="solid"/>
          </a:ln>
        </p:spPr>
      </p:sp>
      <p:sp>
        <p:nvSpPr>
          <p:cNvPr id="19" name="Text 17"/>
          <p:cNvSpPr/>
          <p:nvPr/>
        </p:nvSpPr>
        <p:spPr>
          <a:xfrm>
            <a:off x="457200" y="3310128"/>
            <a:ext cx="4023360" cy="347472"/>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get_delimiter()</a:t>
            </a:r>
            <a:endParaRPr lang="en-US" sz="1150" dirty="0"/>
          </a:p>
        </p:txBody>
      </p:sp>
      <p:sp>
        <p:nvSpPr>
          <p:cNvPr id="20" name="Text 18"/>
          <p:cNvSpPr/>
          <p:nvPr/>
        </p:nvSpPr>
        <p:spPr>
          <a:xfrm>
            <a:off x="457200" y="3703320"/>
            <a:ext cx="4023360" cy="685800"/>
          </a:xfrm>
          <a:prstGeom prst="rect">
            <a:avLst/>
          </a:prstGeom>
          <a:noFill/>
          <a:ln/>
        </p:spPr>
        <p:txBody>
          <a:bodyPr wrap="square" lIns="0" tIns="0" rIns="0" bIns="0" rtlCol="0" anchor="ctr"/>
          <a:lstStyle/>
          <a:p>
            <a:pPr indent="0" marL="0">
              <a:buNone/>
            </a:pPr>
            <a:r>
              <a:rPr lang="en-US" sz="1150" dirty="0">
                <a:solidFill>
                  <a:srgbClr val="1A2440"/>
                </a:solidFill>
                <a:latin typeface="Calibri" pitchFamily="34" charset="0"/>
                <a:ea typeface="Calibri" pitchFamily="34" charset="-122"/>
                <a:cs typeface="Calibri" pitchFamily="34" charset="-120"/>
              </a:rPr>
              <a:t>Returns the 16-bit end-of-message marker: '0000000000000000' (two null characters). Signals where the message ends.</a:t>
            </a:r>
            <a:endParaRPr lang="en-US" sz="1150" dirty="0"/>
          </a:p>
        </p:txBody>
      </p:sp>
      <p:sp>
        <p:nvSpPr>
          <p:cNvPr id="21" name="Text 19"/>
          <p:cNvSpPr/>
          <p:nvPr/>
        </p:nvSpPr>
        <p:spPr>
          <a:xfrm>
            <a:off x="457200" y="4517136"/>
            <a:ext cx="4023360" cy="274320"/>
          </a:xfrm>
          <a:prstGeom prst="rect">
            <a:avLst/>
          </a:prstGeom>
          <a:noFill/>
          <a:ln/>
        </p:spPr>
        <p:txBody>
          <a:bodyPr wrap="square" lIns="0" tIns="0" rIns="0" bIns="0" rtlCol="0" anchor="ctr"/>
          <a:lstStyle/>
          <a:p>
            <a:pPr indent="0" marL="0">
              <a:buNone/>
            </a:pPr>
            <a:r>
              <a:rPr lang="en-US" sz="1100" i="1" dirty="0">
                <a:solidFill>
                  <a:srgbClr val="6B7280"/>
                </a:solidFill>
                <a:latin typeface="Consolas" pitchFamily="34" charset="0"/>
                <a:ea typeface="Consolas" pitchFamily="34" charset="-122"/>
                <a:cs typeface="Consolas" pitchFamily="34" charset="-120"/>
              </a:rPr>
              <a:t>returns '0000000000000000'</a:t>
            </a:r>
            <a:endParaRPr lang="en-US" sz="1100" dirty="0"/>
          </a:p>
        </p:txBody>
      </p:sp>
      <p:sp>
        <p:nvSpPr>
          <p:cNvPr id="22" name="Shape 20"/>
          <p:cNvSpPr/>
          <p:nvPr/>
        </p:nvSpPr>
        <p:spPr>
          <a:xfrm>
            <a:off x="4800600" y="3310128"/>
            <a:ext cx="4206240" cy="1572768"/>
          </a:xfrm>
          <a:prstGeom prst="rect">
            <a:avLst/>
          </a:prstGeom>
          <a:solidFill>
            <a:srgbClr val="F7F9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23" name="Shape 21"/>
          <p:cNvSpPr/>
          <p:nvPr/>
        </p:nvSpPr>
        <p:spPr>
          <a:xfrm>
            <a:off x="4800600" y="3310128"/>
            <a:ext cx="4206240" cy="347472"/>
          </a:xfrm>
          <a:prstGeom prst="rect">
            <a:avLst/>
          </a:prstGeom>
          <a:solidFill>
            <a:srgbClr val="7C3AED"/>
          </a:solidFill>
          <a:ln w="12700">
            <a:solidFill>
              <a:srgbClr val="7C3AED"/>
            </a:solidFill>
            <a:prstDash val="solid"/>
          </a:ln>
        </p:spPr>
      </p:sp>
      <p:sp>
        <p:nvSpPr>
          <p:cNvPr id="24" name="Text 22"/>
          <p:cNvSpPr/>
          <p:nvPr/>
        </p:nvSpPr>
        <p:spPr>
          <a:xfrm>
            <a:off x="4892040" y="3310128"/>
            <a:ext cx="4023360" cy="347472"/>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calculate_max_capacity(w, h)</a:t>
            </a:r>
            <a:endParaRPr lang="en-US" sz="1150" dirty="0"/>
          </a:p>
        </p:txBody>
      </p:sp>
      <p:sp>
        <p:nvSpPr>
          <p:cNvPr id="25" name="Text 23"/>
          <p:cNvSpPr/>
          <p:nvPr/>
        </p:nvSpPr>
        <p:spPr>
          <a:xfrm>
            <a:off x="4892040" y="3703320"/>
            <a:ext cx="4023360" cy="685800"/>
          </a:xfrm>
          <a:prstGeom prst="rect">
            <a:avLst/>
          </a:prstGeom>
          <a:noFill/>
          <a:ln/>
        </p:spPr>
        <p:txBody>
          <a:bodyPr wrap="square" lIns="0" tIns="0" rIns="0" bIns="0" rtlCol="0" anchor="ctr"/>
          <a:lstStyle/>
          <a:p>
            <a:pPr indent="0" marL="0">
              <a:buNone/>
            </a:pPr>
            <a:r>
              <a:rPr lang="en-US" sz="1150" dirty="0">
                <a:solidFill>
                  <a:srgbClr val="1A2440"/>
                </a:solidFill>
                <a:latin typeface="Calibri" pitchFamily="34" charset="0"/>
                <a:ea typeface="Calibri" pitchFamily="34" charset="-122"/>
                <a:cs typeface="Calibri" pitchFamily="34" charset="-120"/>
              </a:rPr>
              <a:t>Calculates how many text characters an image can hold: (width × height × 3) ÷ 8 bytes.</a:t>
            </a:r>
            <a:endParaRPr lang="en-US" sz="1150" dirty="0"/>
          </a:p>
        </p:txBody>
      </p:sp>
      <p:sp>
        <p:nvSpPr>
          <p:cNvPr id="26" name="Text 24"/>
          <p:cNvSpPr/>
          <p:nvPr/>
        </p:nvSpPr>
        <p:spPr>
          <a:xfrm>
            <a:off x="4892040" y="4517136"/>
            <a:ext cx="4023360" cy="274320"/>
          </a:xfrm>
          <a:prstGeom prst="rect">
            <a:avLst/>
          </a:prstGeom>
          <a:noFill/>
          <a:ln/>
        </p:spPr>
        <p:txBody>
          <a:bodyPr wrap="square" lIns="0" tIns="0" rIns="0" bIns="0" rtlCol="0" anchor="ctr"/>
          <a:lstStyle/>
          <a:p>
            <a:pPr indent="0" marL="0">
              <a:buNone/>
            </a:pPr>
            <a:r>
              <a:rPr lang="en-US" sz="1100" i="1" dirty="0">
                <a:solidFill>
                  <a:srgbClr val="6B7280"/>
                </a:solidFill>
                <a:latin typeface="Consolas" pitchFamily="34" charset="0"/>
                <a:ea typeface="Consolas" pitchFamily="34" charset="-122"/>
                <a:cs typeface="Consolas" pitchFamily="34" charset="-120"/>
              </a:rPr>
              <a:t>800×600 image → 180,000 chars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DEMO / RESULTS</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Implementation Demo</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Expected output and placeholder for screenshots</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4114800" cy="1920240"/>
          </a:xfrm>
          <a:prstGeom prst="rect">
            <a:avLst/>
          </a:prstGeom>
          <a:solidFill>
            <a:srgbClr val="0F1929"/>
          </a:solidFill>
          <a:ln w="12700">
            <a:solidFill>
              <a:srgbClr val="0F1929"/>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02920" y="1664208"/>
            <a:ext cx="3840480" cy="256032"/>
          </a:xfrm>
          <a:prstGeom prst="rect">
            <a:avLst/>
          </a:prstGeom>
          <a:noFill/>
          <a:ln/>
        </p:spPr>
        <p:txBody>
          <a:bodyPr wrap="square" lIns="0" tIns="0" rIns="0" bIns="0" rtlCol="0" anchor="ctr"/>
          <a:lstStyle/>
          <a:p>
            <a:pPr indent="0" marL="0">
              <a:buNone/>
            </a:pPr>
            <a:r>
              <a:rPr lang="en-US" sz="1000" b="1" dirty="0">
                <a:solidFill>
                  <a:srgbClr val="64748B"/>
                </a:solidFill>
                <a:latin typeface="Consolas" pitchFamily="34" charset="0"/>
                <a:ea typeface="Consolas" pitchFamily="34" charset="-122"/>
                <a:cs typeface="Consolas" pitchFamily="34" charset="-120"/>
              </a:rPr>
              <a:t>ENCODING OUTPUT</a:t>
            </a:r>
            <a:endParaRPr lang="en-US" sz="1000" dirty="0"/>
          </a:p>
        </p:txBody>
      </p:sp>
      <p:sp>
        <p:nvSpPr>
          <p:cNvPr id="9" name="Text 7"/>
          <p:cNvSpPr/>
          <p:nvPr/>
        </p:nvSpPr>
        <p:spPr>
          <a:xfrm>
            <a:off x="502920" y="1938528"/>
            <a:ext cx="3840480" cy="1508760"/>
          </a:xfrm>
          <a:prstGeom prst="rect">
            <a:avLst/>
          </a:prstGeom>
          <a:noFill/>
          <a:ln/>
        </p:spPr>
        <p:txBody>
          <a:bodyPr wrap="square" lIns="25400" tIns="25400" rIns="25400" bIns="25400" rtlCol="0" anchor="t"/>
          <a:lstStyle/>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 python main.py</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  [1] Encode  [2] Decode  [3] Exit</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Choose: 1</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Enter cover image: flower.png</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Enter secret message: Hello World!</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Enter output path: output/stego.png</a:t>
            </a:r>
            <a:endParaRPr lang="en-US" sz="1000" dirty="0"/>
          </a:p>
          <a:p>
            <a:pPr indent="0" marL="0">
              <a:lnSpc>
                <a:spcPct val="140000"/>
              </a:lnSpc>
              <a:buNone/>
            </a:pP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[OK] Encoding successful!</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     - Cover : flower.png (800x600 px)</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     - Message: 12 chars (112 bits used)</a:t>
            </a:r>
            <a:endParaRPr lang="en-US" sz="1000" dirty="0"/>
          </a:p>
          <a:p>
            <a:pPr indent="0" marL="0">
              <a:lnSpc>
                <a:spcPct val="140000"/>
              </a:lnSpc>
              <a:buNone/>
            </a:pPr>
            <a:r>
              <a:rPr lang="en-US" sz="1000" dirty="0">
                <a:solidFill>
                  <a:srgbClr val="9FDDFF"/>
                </a:solidFill>
                <a:latin typeface="Consolas" pitchFamily="34" charset="0"/>
                <a:ea typeface="Consolas" pitchFamily="34" charset="-122"/>
                <a:cs typeface="Consolas" pitchFamily="34" charset="-120"/>
              </a:rPr>
              <a:t>     - Stego : output/stego.png</a:t>
            </a:r>
            <a:endParaRPr lang="en-US" sz="1000" dirty="0"/>
          </a:p>
        </p:txBody>
      </p:sp>
      <p:sp>
        <p:nvSpPr>
          <p:cNvPr id="10" name="Shape 8"/>
          <p:cNvSpPr/>
          <p:nvPr/>
        </p:nvSpPr>
        <p:spPr>
          <a:xfrm>
            <a:off x="4663440" y="1600200"/>
            <a:ext cx="4114800" cy="1920240"/>
          </a:xfrm>
          <a:prstGeom prst="rect">
            <a:avLst/>
          </a:prstGeom>
          <a:solidFill>
            <a:srgbClr val="0B1F12"/>
          </a:solidFill>
          <a:ln w="12700">
            <a:solidFill>
              <a:srgbClr val="0B1F12"/>
            </a:solidFill>
            <a:prstDash val="solid"/>
          </a:ln>
          <a:effectLst>
            <a:outerShdw sx="100000" sy="100000" kx="0" ky="0" algn="bl" rotWithShape="0" blurRad="127000" dist="38100" dir="8100000">
              <a:srgbClr val="000000">
                <a:alpha val="10000"/>
              </a:srgbClr>
            </a:outerShdw>
          </a:effectLst>
        </p:spPr>
      </p:sp>
      <p:sp>
        <p:nvSpPr>
          <p:cNvPr id="11" name="Text 9"/>
          <p:cNvSpPr/>
          <p:nvPr/>
        </p:nvSpPr>
        <p:spPr>
          <a:xfrm>
            <a:off x="4800600" y="1664208"/>
            <a:ext cx="3840480" cy="256032"/>
          </a:xfrm>
          <a:prstGeom prst="rect">
            <a:avLst/>
          </a:prstGeom>
          <a:noFill/>
          <a:ln/>
        </p:spPr>
        <p:txBody>
          <a:bodyPr wrap="square" lIns="0" tIns="0" rIns="0" bIns="0" rtlCol="0" anchor="ctr"/>
          <a:lstStyle/>
          <a:p>
            <a:pPr indent="0" marL="0">
              <a:buNone/>
            </a:pPr>
            <a:r>
              <a:rPr lang="en-US" sz="1000" b="1" dirty="0">
                <a:solidFill>
                  <a:srgbClr val="64748B"/>
                </a:solidFill>
                <a:latin typeface="Consolas" pitchFamily="34" charset="0"/>
                <a:ea typeface="Consolas" pitchFamily="34" charset="-122"/>
                <a:cs typeface="Consolas" pitchFamily="34" charset="-120"/>
              </a:rPr>
              <a:t>DECODING OUTPUT</a:t>
            </a:r>
            <a:endParaRPr lang="en-US" sz="1000" dirty="0"/>
          </a:p>
        </p:txBody>
      </p:sp>
      <p:sp>
        <p:nvSpPr>
          <p:cNvPr id="12" name="Text 10"/>
          <p:cNvSpPr/>
          <p:nvPr/>
        </p:nvSpPr>
        <p:spPr>
          <a:xfrm>
            <a:off x="4800600" y="1938528"/>
            <a:ext cx="3840480" cy="1508760"/>
          </a:xfrm>
          <a:prstGeom prst="rect">
            <a:avLst/>
          </a:prstGeom>
          <a:noFill/>
          <a:ln/>
        </p:spPr>
        <p:txBody>
          <a:bodyPr wrap="square" lIns="25400" tIns="25400" rIns="25400" bIns="25400" rtlCol="0" anchor="t"/>
          <a:lstStyle/>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 python main.py</a:t>
            </a: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  [1] Encode  [2] Decode  [3] Exit</a:t>
            </a: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Choose: 2</a:t>
            </a: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Enter stego-image PNG: output/stego.png</a:t>
            </a:r>
            <a:endParaRPr lang="en-US" sz="1000" dirty="0"/>
          </a:p>
          <a:p>
            <a:pPr indent="0" marL="0">
              <a:lnSpc>
                <a:spcPct val="140000"/>
              </a:lnSpc>
              <a:buNone/>
            </a:pP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[OK] Decoding successful!</a:t>
            </a: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     - Stego  : output/stego.png</a:t>
            </a: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     - Message: 12 characters found</a:t>
            </a:r>
            <a:endParaRPr lang="en-US" sz="1000" dirty="0"/>
          </a:p>
          <a:p>
            <a:pPr indent="0" marL="0">
              <a:lnSpc>
                <a:spcPct val="140000"/>
              </a:lnSpc>
              <a:buNone/>
            </a:pP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[HIDDEN MESSAGE FOUND]:</a:t>
            </a:r>
            <a:endParaRPr lang="en-US" sz="1000" dirty="0"/>
          </a:p>
          <a:p>
            <a:pPr indent="0" marL="0">
              <a:lnSpc>
                <a:spcPct val="140000"/>
              </a:lnSpc>
              <a:buNone/>
            </a:pPr>
            <a:r>
              <a:rPr lang="en-US" sz="1000" dirty="0">
                <a:solidFill>
                  <a:srgbClr val="A8FFCA"/>
                </a:solidFill>
                <a:latin typeface="Consolas" pitchFamily="34" charset="0"/>
                <a:ea typeface="Consolas" pitchFamily="34" charset="-122"/>
                <a:cs typeface="Consolas" pitchFamily="34" charset="-120"/>
              </a:rPr>
              <a:t>Hello World!</a:t>
            </a:r>
            <a:endParaRPr lang="en-US" sz="1000" dirty="0"/>
          </a:p>
        </p:txBody>
      </p:sp>
      <p:sp>
        <p:nvSpPr>
          <p:cNvPr id="13" name="Shape 11"/>
          <p:cNvSpPr/>
          <p:nvPr/>
        </p:nvSpPr>
        <p:spPr>
          <a:xfrm>
            <a:off x="365760" y="3611880"/>
            <a:ext cx="8412480" cy="1298448"/>
          </a:xfrm>
          <a:prstGeom prst="rect">
            <a:avLst/>
          </a:prstGeom>
          <a:solidFill>
            <a:srgbClr val="F8FAFC"/>
          </a:solidFill>
          <a:ln w="12700">
            <a:solidFill>
              <a:srgbClr val="CBD5E1"/>
            </a:solidFill>
            <a:prstDash val="solid"/>
          </a:ln>
          <a:effectLst>
            <a:outerShdw sx="100000" sy="100000" kx="0" ky="0" algn="bl" rotWithShape="0" blurRad="127000" dist="38100" dir="8100000">
              <a:srgbClr val="000000">
                <a:alpha val="10000"/>
              </a:srgbClr>
            </a:outerShdw>
          </a:effectLst>
        </p:spPr>
      </p:sp>
      <p:sp>
        <p:nvSpPr>
          <p:cNvPr id="14" name="Text 12"/>
          <p:cNvSpPr/>
          <p:nvPr/>
        </p:nvSpPr>
        <p:spPr>
          <a:xfrm>
            <a:off x="365760" y="3611880"/>
            <a:ext cx="8412480" cy="347472"/>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  Screenshot / Demo Placeholder</a:t>
            </a:r>
            <a:endParaRPr lang="en-US" sz="1200" dirty="0"/>
          </a:p>
        </p:txBody>
      </p:sp>
      <p:sp>
        <p:nvSpPr>
          <p:cNvPr id="15" name="Text 13"/>
          <p:cNvSpPr/>
          <p:nvPr/>
        </p:nvSpPr>
        <p:spPr>
          <a:xfrm>
            <a:off x="548640" y="3977640"/>
            <a:ext cx="8046720" cy="8229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Replace this area with screenshots of your actual program output:</a:t>
            </a:r>
            <a:endParaRPr lang="en-US" sz="1100" dirty="0"/>
          </a:p>
          <a:p>
            <a:pPr algn="ctr" indent="0" marL="0">
              <a:buNone/>
            </a:pPr>
            <a:r>
              <a:rPr lang="en-US" sz="1100" i="1" dirty="0">
                <a:solidFill>
                  <a:srgbClr val="6B7280"/>
                </a:solidFill>
                <a:latin typeface="Calibri" pitchFamily="34" charset="0"/>
                <a:ea typeface="Calibri" pitchFamily="34" charset="-122"/>
                <a:cs typeface="Calibri" pitchFamily="34" charset="-120"/>
              </a:rPr>
              <a:t>original cover image → stego-image side-by-side, terminal output, or PSNR/MSE measurement results.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64592"/>
            <a:ext cx="1371600" cy="274320"/>
          </a:xfrm>
          <a:prstGeom prst="rect">
            <a:avLst/>
          </a:prstGeom>
          <a:solidFill>
            <a:srgbClr val="0F2C5A"/>
          </a:solidFill>
          <a:ln w="12700">
            <a:solidFill>
              <a:srgbClr val="0F2C5A"/>
            </a:solidFill>
            <a:prstDash val="solid"/>
          </a:ln>
          <a:effectLst>
            <a:outerShdw sx="100000" sy="100000" kx="0" ky="0" algn="bl" rotWithShape="0" blurRad="127000" dist="38100" dir="8100000">
              <a:srgbClr val="000000">
                <a:alpha val="10000"/>
              </a:srgbClr>
            </a:outerShdw>
          </a:effectLst>
        </p:spPr>
      </p:sp>
      <p:sp>
        <p:nvSpPr>
          <p:cNvPr id="3" name="Text 1"/>
          <p:cNvSpPr/>
          <p:nvPr/>
        </p:nvSpPr>
        <p:spPr>
          <a:xfrm>
            <a:off x="365760" y="164592"/>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rPr>
              <a:t>EVALUATION</a:t>
            </a:r>
            <a:endParaRPr lang="en-US" sz="900" dirty="0"/>
          </a:p>
        </p:txBody>
      </p:sp>
      <p:sp>
        <p:nvSpPr>
          <p:cNvPr id="4" name="Text 2"/>
          <p:cNvSpPr/>
          <p:nvPr/>
        </p:nvSpPr>
        <p:spPr>
          <a:xfrm>
            <a:off x="365760" y="530352"/>
            <a:ext cx="8412480" cy="658368"/>
          </a:xfrm>
          <a:prstGeom prst="rect">
            <a:avLst/>
          </a:prstGeom>
          <a:noFill/>
          <a:ln/>
        </p:spPr>
        <p:txBody>
          <a:bodyPr wrap="square" lIns="0" tIns="0" rIns="0" bIns="0" rtlCol="0" anchor="ctr"/>
          <a:lstStyle/>
          <a:p>
            <a:pPr indent="0" marL="0">
              <a:buNone/>
            </a:pPr>
            <a:r>
              <a:rPr lang="en-US" sz="3200" b="1" dirty="0">
                <a:solidFill>
                  <a:srgbClr val="0F2C5A"/>
                </a:solidFill>
                <a:latin typeface="Calibri" pitchFamily="34" charset="0"/>
                <a:ea typeface="Calibri" pitchFamily="34" charset="-122"/>
                <a:cs typeface="Calibri" pitchFamily="34" charset="-120"/>
              </a:rPr>
              <a:t>Strengths &amp; Limitations</a:t>
            </a:r>
            <a:endParaRPr lang="en-US" sz="3200" dirty="0"/>
          </a:p>
        </p:txBody>
      </p:sp>
      <p:sp>
        <p:nvSpPr>
          <p:cNvPr id="5" name="Text 3"/>
          <p:cNvSpPr/>
          <p:nvPr/>
        </p:nvSpPr>
        <p:spPr>
          <a:xfrm>
            <a:off x="365760" y="1143000"/>
            <a:ext cx="8412480" cy="329184"/>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Honest analysis of the LSB approach</a:t>
            </a:r>
            <a:endParaRPr lang="en-US" sz="1400" dirty="0"/>
          </a:p>
        </p:txBody>
      </p:sp>
      <p:sp>
        <p:nvSpPr>
          <p:cNvPr id="6" name="Shape 4"/>
          <p:cNvSpPr/>
          <p:nvPr/>
        </p:nvSpPr>
        <p:spPr>
          <a:xfrm>
            <a:off x="365760" y="1463040"/>
            <a:ext cx="8412480" cy="22860"/>
          </a:xfrm>
          <a:prstGeom prst="rect">
            <a:avLst/>
          </a:prstGeom>
          <a:solidFill>
            <a:srgbClr val="CBD5E1"/>
          </a:solidFill>
          <a:ln w="12700">
            <a:solidFill>
              <a:srgbClr val="CBD5E1"/>
            </a:solidFill>
            <a:prstDash val="solid"/>
          </a:ln>
        </p:spPr>
      </p:sp>
      <p:sp>
        <p:nvSpPr>
          <p:cNvPr id="7" name="Shape 5"/>
          <p:cNvSpPr/>
          <p:nvPr/>
        </p:nvSpPr>
        <p:spPr>
          <a:xfrm>
            <a:off x="365760" y="1600200"/>
            <a:ext cx="3931920" cy="3154680"/>
          </a:xfrm>
          <a:prstGeom prst="rect">
            <a:avLst/>
          </a:prstGeom>
          <a:solidFill>
            <a:srgbClr val="D4F0E4"/>
          </a:solidFill>
          <a:ln w="12700">
            <a:solidFill>
              <a:srgbClr val="1A7A4A"/>
            </a:solidFill>
            <a:prstDash val="solid"/>
          </a:ln>
          <a:effectLst>
            <a:outerShdw sx="100000" sy="100000" kx="0" ky="0" algn="bl" rotWithShape="0" blurRad="127000" dist="38100" dir="8100000">
              <a:srgbClr val="000000">
                <a:alpha val="10000"/>
              </a:srgbClr>
            </a:outerShdw>
          </a:effectLst>
        </p:spPr>
      </p:sp>
      <p:sp>
        <p:nvSpPr>
          <p:cNvPr id="8" name="Text 6"/>
          <p:cNvSpPr/>
          <p:nvPr/>
        </p:nvSpPr>
        <p:spPr>
          <a:xfrm>
            <a:off x="548640" y="1691640"/>
            <a:ext cx="3566160" cy="347472"/>
          </a:xfrm>
          <a:prstGeom prst="rect">
            <a:avLst/>
          </a:prstGeom>
          <a:noFill/>
          <a:ln/>
        </p:spPr>
        <p:txBody>
          <a:bodyPr wrap="square" lIns="0" tIns="0" rIns="0" bIns="0" rtlCol="0" anchor="ctr"/>
          <a:lstStyle/>
          <a:p>
            <a:pPr indent="0" marL="0">
              <a:buNone/>
            </a:pPr>
            <a:r>
              <a:rPr lang="en-US" sz="1600" b="1" dirty="0">
                <a:solidFill>
                  <a:srgbClr val="1A7A4A"/>
                </a:solidFill>
                <a:latin typeface="Calibri" pitchFamily="34" charset="0"/>
                <a:ea typeface="Calibri" pitchFamily="34" charset="-122"/>
                <a:cs typeface="Calibri" pitchFamily="34" charset="-120"/>
              </a:rPr>
              <a:t>✅ Strengths</a:t>
            </a:r>
            <a:endParaRPr lang="en-US" sz="1600" dirty="0"/>
          </a:p>
        </p:txBody>
      </p:sp>
      <p:sp>
        <p:nvSpPr>
          <p:cNvPr id="9" name="Text 7"/>
          <p:cNvSpPr/>
          <p:nvPr/>
        </p:nvSpPr>
        <p:spPr>
          <a:xfrm>
            <a:off x="548640" y="2084832"/>
            <a:ext cx="3566160" cy="2606040"/>
          </a:xfrm>
          <a:prstGeom prst="rect">
            <a:avLst/>
          </a:prstGeom>
          <a:noFill/>
          <a:ln/>
        </p:spPr>
        <p:txBody>
          <a:bodyPr wrap="square" lIns="50800" tIns="101600" rIns="50800" bIns="50800" rtlCol="0" anchor="t"/>
          <a:lstStyle/>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Simple to implement — minimal code required</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High embedding capacity — up to (W×H×3)/8 characters</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Imperceptible changes — max ±1 pixel value</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PSNR typically &gt; 40 dB — excellent quality</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Lossless recovery — no data corruption</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PNG format ensures pixel integrity</a:t>
            </a:r>
            <a:endParaRPr lang="en-US" sz="1250" dirty="0"/>
          </a:p>
        </p:txBody>
      </p:sp>
      <p:sp>
        <p:nvSpPr>
          <p:cNvPr id="10" name="Shape 8"/>
          <p:cNvSpPr/>
          <p:nvPr/>
        </p:nvSpPr>
        <p:spPr>
          <a:xfrm>
            <a:off x="4480560" y="1600200"/>
            <a:ext cx="4389120" cy="3154680"/>
          </a:xfrm>
          <a:prstGeom prst="rect">
            <a:avLst/>
          </a:prstGeom>
          <a:solidFill>
            <a:srgbClr val="FFF5F5"/>
          </a:solidFill>
          <a:ln w="12700">
            <a:solidFill>
              <a:srgbClr val="E53E3E"/>
            </a:solidFill>
            <a:prstDash val="solid"/>
          </a:ln>
          <a:effectLst>
            <a:outerShdw sx="100000" sy="100000" kx="0" ky="0" algn="bl" rotWithShape="0" blurRad="127000" dist="38100" dir="8100000">
              <a:srgbClr val="000000">
                <a:alpha val="10000"/>
              </a:srgbClr>
            </a:outerShdw>
          </a:effectLst>
        </p:spPr>
      </p:sp>
      <p:sp>
        <p:nvSpPr>
          <p:cNvPr id="11" name="Text 9"/>
          <p:cNvSpPr/>
          <p:nvPr/>
        </p:nvSpPr>
        <p:spPr>
          <a:xfrm>
            <a:off x="4663440" y="1691640"/>
            <a:ext cx="3931920" cy="347472"/>
          </a:xfrm>
          <a:prstGeom prst="rect">
            <a:avLst/>
          </a:prstGeom>
          <a:noFill/>
          <a:ln/>
        </p:spPr>
        <p:txBody>
          <a:bodyPr wrap="square" lIns="0" tIns="0" rIns="0" bIns="0" rtlCol="0" anchor="ctr"/>
          <a:lstStyle/>
          <a:p>
            <a:pPr indent="0" marL="0">
              <a:buNone/>
            </a:pPr>
            <a:r>
              <a:rPr lang="en-US" sz="1600" b="1" dirty="0">
                <a:solidFill>
                  <a:srgbClr val="C53030"/>
                </a:solidFill>
                <a:latin typeface="Calibri" pitchFamily="34" charset="0"/>
                <a:ea typeface="Calibri" pitchFamily="34" charset="-122"/>
                <a:cs typeface="Calibri" pitchFamily="34" charset="-120"/>
              </a:rPr>
              <a:t>⚠  Limitations</a:t>
            </a:r>
            <a:endParaRPr lang="en-US" sz="1600" dirty="0"/>
          </a:p>
        </p:txBody>
      </p:sp>
      <p:sp>
        <p:nvSpPr>
          <p:cNvPr id="12" name="Text 10"/>
          <p:cNvSpPr/>
          <p:nvPr/>
        </p:nvSpPr>
        <p:spPr>
          <a:xfrm>
            <a:off x="4663440" y="2084832"/>
            <a:ext cx="4023360" cy="2606040"/>
          </a:xfrm>
          <a:prstGeom prst="rect">
            <a:avLst/>
          </a:prstGeom>
          <a:noFill/>
          <a:ln/>
        </p:spPr>
        <p:txBody>
          <a:bodyPr wrap="square" lIns="50800" tIns="101600" rIns="50800" bIns="50800" rtlCol="0" anchor="t"/>
          <a:lstStyle/>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Not robust against compression — JPEG destroys LSB data</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Vulnerable to steganalysis — LSB histogram analysis can detect embedding</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No encryption — message is hidden but not encrypted</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Only PNG supported — other formats not handled</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No alpha channel — only RGB channels used</a:t>
            </a:r>
            <a:endParaRPr lang="en-US" sz="1250" dirty="0"/>
          </a:p>
          <a:p>
            <a:pPr marL="342900" indent="-342900">
              <a:spcAft>
                <a:spcPts val="700"/>
              </a:spcAft>
              <a:buSzPct val="100000"/>
              <a:buChar char="•"/>
            </a:pPr>
            <a:r>
              <a:rPr lang="en-US" sz="1250" dirty="0">
                <a:solidFill>
                  <a:srgbClr val="1A2440"/>
                </a:solidFill>
                <a:latin typeface="Calibri" pitchFamily="34" charset="0"/>
                <a:ea typeface="Calibri" pitchFamily="34" charset="-122"/>
                <a:cs typeface="Calibri" pitchFamily="34" charset="-120"/>
              </a:rPr>
              <a:t>Sequential embedding — no randomization or spread spectrum</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C5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w="12700">
            <a:solidFill>
              <a:srgbClr val="F5A623"/>
            </a:solidFill>
            <a:prstDash val="solid"/>
          </a:ln>
        </p:spPr>
      </p:sp>
      <p:sp>
        <p:nvSpPr>
          <p:cNvPr id="3" name="Text 1"/>
          <p:cNvSpPr/>
          <p:nvPr/>
        </p:nvSpPr>
        <p:spPr>
          <a:xfrm>
            <a:off x="457200" y="411480"/>
            <a:ext cx="8412480" cy="6400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4" name="Shape 2"/>
          <p:cNvSpPr/>
          <p:nvPr/>
        </p:nvSpPr>
        <p:spPr>
          <a:xfrm>
            <a:off x="457200" y="1207008"/>
            <a:ext cx="8321040" cy="658368"/>
          </a:xfrm>
          <a:prstGeom prst="rect">
            <a:avLst/>
          </a:prstGeom>
          <a:solidFill>
            <a:srgbClr val="FFFFFF"/>
          </a:solidFill>
          <a:ln w="12700">
            <a:solidFill>
              <a:srgbClr val="FFFFFF"/>
            </a:solidFill>
            <a:prstDash val="solid"/>
          </a:ln>
          <a:effectLst>
            <a:outerShdw sx="100000" sy="100000" kx="0" ky="0" algn="bl" rotWithShape="0" blurRad="127000" dist="38100" dir="8100000">
              <a:srgbClr val="000000">
                <a:alpha val="10000"/>
              </a:srgbClr>
            </a:outerShdw>
          </a:effectLst>
        </p:spPr>
      </p:sp>
      <p:sp>
        <p:nvSpPr>
          <p:cNvPr id="5" name="Shape 3"/>
          <p:cNvSpPr/>
          <p:nvPr/>
        </p:nvSpPr>
        <p:spPr>
          <a:xfrm>
            <a:off x="457200" y="1207008"/>
            <a:ext cx="384048" cy="658368"/>
          </a:xfrm>
          <a:prstGeom prst="rect">
            <a:avLst/>
          </a:prstGeom>
          <a:solidFill>
            <a:srgbClr val="2878C8"/>
          </a:solidFill>
          <a:ln w="12700">
            <a:solidFill>
              <a:srgbClr val="2878C8"/>
            </a:solidFill>
            <a:prstDash val="solid"/>
          </a:ln>
        </p:spPr>
      </p:sp>
      <p:sp>
        <p:nvSpPr>
          <p:cNvPr id="6" name="Text 4"/>
          <p:cNvSpPr/>
          <p:nvPr/>
        </p:nvSpPr>
        <p:spPr>
          <a:xfrm>
            <a:off x="457200" y="1207008"/>
            <a:ext cx="38404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932688" y="1316736"/>
            <a:ext cx="7680960" cy="438912"/>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LSB steganography effectively hides text messages in PNG images with imperceptible visual changes (PSNR &gt; 40 dB expected).</a:t>
            </a:r>
            <a:endParaRPr lang="en-US" sz="1250" dirty="0"/>
          </a:p>
        </p:txBody>
      </p:sp>
      <p:sp>
        <p:nvSpPr>
          <p:cNvPr id="8" name="Shape 6"/>
          <p:cNvSpPr/>
          <p:nvPr/>
        </p:nvSpPr>
        <p:spPr>
          <a:xfrm>
            <a:off x="457200" y="1956816"/>
            <a:ext cx="8321040" cy="658368"/>
          </a:xfrm>
          <a:prstGeom prst="rect">
            <a:avLst/>
          </a:prstGeom>
          <a:solidFill>
            <a:srgbClr val="FFFFFF"/>
          </a:solidFill>
          <a:ln w="12700">
            <a:solidFill>
              <a:srgbClr val="FFFFFF"/>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457200" y="1956816"/>
            <a:ext cx="384048" cy="658368"/>
          </a:xfrm>
          <a:prstGeom prst="rect">
            <a:avLst/>
          </a:prstGeom>
          <a:solidFill>
            <a:srgbClr val="2878C8"/>
          </a:solidFill>
          <a:ln w="12700">
            <a:solidFill>
              <a:srgbClr val="2878C8"/>
            </a:solidFill>
            <a:prstDash val="solid"/>
          </a:ln>
        </p:spPr>
      </p:sp>
      <p:sp>
        <p:nvSpPr>
          <p:cNvPr id="10" name="Text 8"/>
          <p:cNvSpPr/>
          <p:nvPr/>
        </p:nvSpPr>
        <p:spPr>
          <a:xfrm>
            <a:off x="457200" y="1956816"/>
            <a:ext cx="38404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Text 9"/>
          <p:cNvSpPr/>
          <p:nvPr/>
        </p:nvSpPr>
        <p:spPr>
          <a:xfrm>
            <a:off x="932688" y="2066544"/>
            <a:ext cx="7680960" cy="438912"/>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Python + Pillow + NumPy provides an accessible, clean implementation of both encoding and decoding modules.</a:t>
            </a:r>
            <a:endParaRPr lang="en-US" sz="1250" dirty="0"/>
          </a:p>
        </p:txBody>
      </p:sp>
      <p:sp>
        <p:nvSpPr>
          <p:cNvPr id="12" name="Shape 10"/>
          <p:cNvSpPr/>
          <p:nvPr/>
        </p:nvSpPr>
        <p:spPr>
          <a:xfrm>
            <a:off x="457200" y="2706624"/>
            <a:ext cx="8321040" cy="658368"/>
          </a:xfrm>
          <a:prstGeom prst="rect">
            <a:avLst/>
          </a:prstGeom>
          <a:solidFill>
            <a:srgbClr val="FFFFFF"/>
          </a:solidFill>
          <a:ln w="12700">
            <a:solidFill>
              <a:srgbClr val="FFFFFF"/>
            </a:solidFill>
            <a:prstDash val="solid"/>
          </a:ln>
          <a:effectLst>
            <a:outerShdw sx="100000" sy="100000" kx="0" ky="0" algn="bl" rotWithShape="0" blurRad="127000" dist="38100" dir="8100000">
              <a:srgbClr val="000000">
                <a:alpha val="10000"/>
              </a:srgbClr>
            </a:outerShdw>
          </a:effectLst>
        </p:spPr>
      </p:sp>
      <p:sp>
        <p:nvSpPr>
          <p:cNvPr id="13" name="Shape 11"/>
          <p:cNvSpPr/>
          <p:nvPr/>
        </p:nvSpPr>
        <p:spPr>
          <a:xfrm>
            <a:off x="457200" y="2706624"/>
            <a:ext cx="384048" cy="658368"/>
          </a:xfrm>
          <a:prstGeom prst="rect">
            <a:avLst/>
          </a:prstGeom>
          <a:solidFill>
            <a:srgbClr val="2878C8"/>
          </a:solidFill>
          <a:ln w="12700">
            <a:solidFill>
              <a:srgbClr val="2878C8"/>
            </a:solidFill>
            <a:prstDash val="solid"/>
          </a:ln>
        </p:spPr>
      </p:sp>
      <p:sp>
        <p:nvSpPr>
          <p:cNvPr id="14" name="Text 12"/>
          <p:cNvSpPr/>
          <p:nvPr/>
        </p:nvSpPr>
        <p:spPr>
          <a:xfrm>
            <a:off x="457200" y="2706624"/>
            <a:ext cx="38404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932688" y="2816352"/>
            <a:ext cx="7680960" cy="438912"/>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Embedding capacity is predictable: (W × H × 3) / 8 characters per image, supporting large messages.</a:t>
            </a:r>
            <a:endParaRPr lang="en-US" sz="1250" dirty="0"/>
          </a:p>
        </p:txBody>
      </p:sp>
      <p:sp>
        <p:nvSpPr>
          <p:cNvPr id="16" name="Shape 14"/>
          <p:cNvSpPr/>
          <p:nvPr/>
        </p:nvSpPr>
        <p:spPr>
          <a:xfrm>
            <a:off x="457200" y="3456432"/>
            <a:ext cx="8321040" cy="658368"/>
          </a:xfrm>
          <a:prstGeom prst="rect">
            <a:avLst/>
          </a:prstGeom>
          <a:solidFill>
            <a:srgbClr val="FFFFFF"/>
          </a:solidFill>
          <a:ln w="12700">
            <a:solidFill>
              <a:srgbClr val="FFFFFF"/>
            </a:solidFill>
            <a:prstDash val="solid"/>
          </a:ln>
          <a:effectLst>
            <a:outerShdw sx="100000" sy="100000" kx="0" ky="0" algn="bl" rotWithShape="0" blurRad="127000" dist="38100" dir="8100000">
              <a:srgbClr val="000000">
                <a:alpha val="10000"/>
              </a:srgbClr>
            </a:outerShdw>
          </a:effectLst>
        </p:spPr>
      </p:sp>
      <p:sp>
        <p:nvSpPr>
          <p:cNvPr id="17" name="Shape 15"/>
          <p:cNvSpPr/>
          <p:nvPr/>
        </p:nvSpPr>
        <p:spPr>
          <a:xfrm>
            <a:off x="457200" y="3456432"/>
            <a:ext cx="384048" cy="658368"/>
          </a:xfrm>
          <a:prstGeom prst="rect">
            <a:avLst/>
          </a:prstGeom>
          <a:solidFill>
            <a:srgbClr val="2878C8"/>
          </a:solidFill>
          <a:ln w="12700">
            <a:solidFill>
              <a:srgbClr val="2878C8"/>
            </a:solidFill>
            <a:prstDash val="solid"/>
          </a:ln>
        </p:spPr>
      </p:sp>
      <p:sp>
        <p:nvSpPr>
          <p:cNvPr id="18" name="Text 16"/>
          <p:cNvSpPr/>
          <p:nvPr/>
        </p:nvSpPr>
        <p:spPr>
          <a:xfrm>
            <a:off x="457200" y="3456432"/>
            <a:ext cx="38404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932688" y="3566160"/>
            <a:ext cx="7680960" cy="438912"/>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Key limitation: not robust against lossy compression. PNG format must be preserved end-to-end.</a:t>
            </a:r>
            <a:endParaRPr lang="en-US" sz="1250" dirty="0"/>
          </a:p>
        </p:txBody>
      </p:sp>
      <p:sp>
        <p:nvSpPr>
          <p:cNvPr id="20" name="Shape 18"/>
          <p:cNvSpPr/>
          <p:nvPr/>
        </p:nvSpPr>
        <p:spPr>
          <a:xfrm>
            <a:off x="457200" y="4206240"/>
            <a:ext cx="8321040" cy="658368"/>
          </a:xfrm>
          <a:prstGeom prst="rect">
            <a:avLst/>
          </a:prstGeom>
          <a:solidFill>
            <a:srgbClr val="FFFFFF"/>
          </a:solidFill>
          <a:ln w="12700">
            <a:solidFill>
              <a:srgbClr val="FFFFFF"/>
            </a:solidFill>
            <a:prstDash val="solid"/>
          </a:ln>
          <a:effectLst>
            <a:outerShdw sx="100000" sy="100000" kx="0" ky="0" algn="bl" rotWithShape="0" blurRad="127000" dist="38100" dir="8100000">
              <a:srgbClr val="000000">
                <a:alpha val="10000"/>
              </a:srgbClr>
            </a:outerShdw>
          </a:effectLst>
        </p:spPr>
      </p:sp>
      <p:sp>
        <p:nvSpPr>
          <p:cNvPr id="21" name="Shape 19"/>
          <p:cNvSpPr/>
          <p:nvPr/>
        </p:nvSpPr>
        <p:spPr>
          <a:xfrm>
            <a:off x="457200" y="4206240"/>
            <a:ext cx="384048" cy="658368"/>
          </a:xfrm>
          <a:prstGeom prst="rect">
            <a:avLst/>
          </a:prstGeom>
          <a:solidFill>
            <a:srgbClr val="2878C8"/>
          </a:solidFill>
          <a:ln w="12700">
            <a:solidFill>
              <a:srgbClr val="2878C8"/>
            </a:solidFill>
            <a:prstDash val="solid"/>
          </a:ln>
        </p:spPr>
      </p:sp>
      <p:sp>
        <p:nvSpPr>
          <p:cNvPr id="22" name="Text 20"/>
          <p:cNvSpPr/>
          <p:nvPr/>
        </p:nvSpPr>
        <p:spPr>
          <a:xfrm>
            <a:off x="457200" y="4206240"/>
            <a:ext cx="38404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932688" y="4315968"/>
            <a:ext cx="7680960" cy="438912"/>
          </a:xfrm>
          <a:prstGeom prst="rect">
            <a:avLst/>
          </a:prstGeom>
          <a:noFill/>
          <a:ln/>
        </p:spPr>
        <p:txBody>
          <a:bodyPr wrap="square" lIns="0" tIns="0" rIns="0" bIns="0" rtlCol="0" anchor="ctr"/>
          <a:lstStyle/>
          <a:p>
            <a:pPr indent="0" marL="0">
              <a:buNone/>
            </a:pPr>
            <a:r>
              <a:rPr lang="en-US" sz="1250" dirty="0">
                <a:solidFill>
                  <a:srgbClr val="1A2440"/>
                </a:solidFill>
                <a:latin typeface="Calibri" pitchFamily="34" charset="0"/>
                <a:ea typeface="Calibri" pitchFamily="34" charset="-122"/>
                <a:cs typeface="Calibri" pitchFamily="34" charset="-120"/>
              </a:rPr>
              <a:t>Future work: add AES encryption, randomized pixel selection, or frequency-domain methods (DCT/DWT) for better robustness.</a:t>
            </a:r>
            <a:endParaRPr lang="en-US" sz="1250" dirty="0"/>
          </a:p>
        </p:txBody>
      </p:sp>
      <p:sp>
        <p:nvSpPr>
          <p:cNvPr id="24" name="Text 22"/>
          <p:cNvSpPr/>
          <p:nvPr/>
        </p:nvSpPr>
        <p:spPr>
          <a:xfrm>
            <a:off x="457200" y="4773168"/>
            <a:ext cx="8321040" cy="274320"/>
          </a:xfrm>
          <a:prstGeom prst="rect">
            <a:avLst/>
          </a:prstGeom>
          <a:noFill/>
          <a:ln/>
        </p:spPr>
        <p:txBody>
          <a:bodyPr wrap="square" lIns="0" tIns="0" rIns="0" bIns="0" rtlCol="0" anchor="ctr"/>
          <a:lstStyle/>
          <a:p>
            <a:pPr algn="ctr" indent="0" marL="0">
              <a:buNone/>
            </a:pPr>
            <a:r>
              <a:rPr lang="en-US" sz="1300" dirty="0">
                <a:solidFill>
                  <a:srgbClr val="8AAFDD"/>
                </a:solidFill>
                <a:latin typeface="Calibri" pitchFamily="34" charset="0"/>
                <a:ea typeface="Calibri" pitchFamily="34" charset="-122"/>
                <a:cs typeface="Calibri" pitchFamily="34" charset="-120"/>
              </a:rPr>
              <a:t>Thank you  |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LSB Steganography – Python Implementation</dc:title>
  <dc:subject>PptxGenJS Presentation</dc:subject>
  <dc:creator>Research Presentation</dc:creator>
  <cp:lastModifiedBy>Research Presentation</cp:lastModifiedBy>
  <cp:revision>1</cp:revision>
  <dcterms:created xsi:type="dcterms:W3CDTF">2026-05-25T10:52:06Z</dcterms:created>
  <dcterms:modified xsi:type="dcterms:W3CDTF">2026-05-25T10:52:06Z</dcterms:modified>
</cp:coreProperties>
</file>