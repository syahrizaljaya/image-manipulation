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" y="18288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91056" y="18288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49424" y="18288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07792" y="18288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66160" y="18288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24528" y="18288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82896" y="18288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41264" y="18288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99632" y="18288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18288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16368" y="18288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74736" y="18288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33104" y="18288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100584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2688" y="100584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91056" y="100584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49424" y="100584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07792" y="100584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66160" y="100584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24528" y="100584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82896" y="100584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41264" y="100584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99632" y="100584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0" y="100584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16368" y="100584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74736" y="100584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33104" y="100584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182880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32688" y="182880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591056" y="182880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49424" y="182880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07792" y="182880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66160" y="182880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24528" y="182880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82896" y="182880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541264" y="182880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99632" y="182880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58000" y="182880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516368" y="182880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74736" y="182880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833104" y="182880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" y="265176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32688" y="265176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591056" y="265176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249424" y="265176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907792" y="265176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566160" y="265176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224528" y="265176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82896" y="265176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541264" y="265176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199632" y="265176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858000" y="265176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516368" y="265176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174736" y="265176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833104" y="265176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347472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32688" y="347472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591056" y="347472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249424" y="347472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907792" y="347472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566160" y="347472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224528" y="347472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882896" y="347472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541264" y="347472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199632" y="347472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858000" y="347472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516368" y="347472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174736" y="347472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833104" y="347472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74320" y="429768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32688" y="429768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591056" y="429768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249424" y="429768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907792" y="429768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566160" y="429768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224528" y="429768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882896" y="429768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541264" y="429768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199632" y="429768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858000" y="429768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516368" y="429768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174736" y="429768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833104" y="429768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40080" y="731520"/>
            <a:ext cx="7863840" cy="3840480"/>
          </a:xfrm>
          <a:prstGeom prst="rect">
            <a:avLst/>
          </a:prstGeom>
          <a:solidFill>
            <a:srgbClr val="0F2840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40000"/>
              </a:srgbClr>
            </a:outerShdw>
          </a:effectLst>
        </p:spPr>
      </p:sp>
      <p:sp>
        <p:nvSpPr>
          <p:cNvPr id="87" name="Text 85"/>
          <p:cNvSpPr/>
          <p:nvPr/>
        </p:nvSpPr>
        <p:spPr>
          <a:xfrm>
            <a:off x="91440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2EC4B6"/>
                </a:solidFill>
              </a:rPr>
              <a:t>RESEARCH PROPOSAL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914400" y="1234440"/>
            <a:ext cx="7315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Implementation of Digital Image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Steganography Using the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Least Significant Bit (LSB) Method</a:t>
            </a:r>
            <a:endParaRPr lang="en-US" sz="2400" dirty="0"/>
          </a:p>
        </p:txBody>
      </p:sp>
      <p:sp>
        <p:nvSpPr>
          <p:cNvPr id="89" name="Shape 87"/>
          <p:cNvSpPr/>
          <p:nvPr/>
        </p:nvSpPr>
        <p:spPr>
          <a:xfrm>
            <a:off x="3200400" y="2971800"/>
            <a:ext cx="2743200" cy="36576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914400" y="3063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EC4B6"/>
                </a:solidFill>
              </a:rPr>
              <a:t>For Python-Based Secret Message Hiding</a:t>
            </a:r>
            <a:endParaRPr lang="en-US" sz="1300" dirty="0"/>
          </a:p>
        </p:txBody>
      </p:sp>
      <p:sp>
        <p:nvSpPr>
          <p:cNvPr id="91" name="Text 89"/>
          <p:cNvSpPr/>
          <p:nvPr/>
        </p:nvSpPr>
        <p:spPr>
          <a:xfrm>
            <a:off x="914400" y="35204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Department of Informatics / Computer Science  ·  [Author Name]  ·  [Institution]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914400" y="382219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[City], [Year]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Presentation Outline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EC4B6"/>
                </a:solidFill>
              </a:rPr>
              <a:t>12–20 Minute Academic Proposal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9144000" cy="5029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411480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234440"/>
            <a:ext cx="411480" cy="7772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435608"/>
            <a:ext cx="374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28930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Background &amp; Motivation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600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Why steganography? Why LSB?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00600" y="1234440"/>
            <a:ext cx="411480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1234440"/>
            <a:ext cx="41148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8888" y="1435608"/>
            <a:ext cx="374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0" y="128930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Problem Statement &amp; Objectives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0" y="1600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Research questions and goals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2167128"/>
            <a:ext cx="411480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2167128"/>
            <a:ext cx="411480" cy="7772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2368296"/>
            <a:ext cx="374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22219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Literature Review &amp; Survey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25328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Prior work, methods, research gap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00600" y="2167128"/>
            <a:ext cx="411480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2167128"/>
            <a:ext cx="41148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18888" y="2368296"/>
            <a:ext cx="374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03520" y="22219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Spatial vs. Frequency Domain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0" y="25328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LSB, DCT, DWT comparison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3099816"/>
            <a:ext cx="411480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" y="3099816"/>
            <a:ext cx="411480" cy="7772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" y="3300984"/>
            <a:ext cx="374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4400" y="31546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System Design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14400" y="34655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Encoder / Decoder architecture &amp; flowchart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00600" y="3099816"/>
            <a:ext cx="411480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00600" y="3099816"/>
            <a:ext cx="41148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18888" y="3300984"/>
            <a:ext cx="374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03520" y="31546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Methodology &amp; Tools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03520" y="34655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Python, PIL/Pillow, NumPy workflow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11480" y="4032504"/>
            <a:ext cx="411480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1480" y="4032504"/>
            <a:ext cx="411480" cy="7772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9768" y="4233672"/>
            <a:ext cx="374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14400" y="40873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Testing &amp; Evaluation Plan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14400" y="43982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PSNR, MSE, steganalysis, robustness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00600" y="4032504"/>
            <a:ext cx="411480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00600" y="4032504"/>
            <a:ext cx="41148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18888" y="4233672"/>
            <a:ext cx="374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303520" y="40873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Expected Results &amp; Limitations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303520" y="43982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Outcomes, challenges, future work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11480" y="4800600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Speaker Notes: Briefly introduce each section. Total presentation ~15 min + Q&amp;A.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Background &amp; Motivation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EC4B6"/>
                </a:solidFill>
              </a:rPr>
              <a:t>Why Steganography? Why LSB?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9144000" cy="5029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The Security Challenge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41605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Information transmitted over public networks faces eavesdropping, theft, and manipulation.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Cryptography alone is detectable — an encrypted message signals that something secret exists.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Steganography hides the existence of the message itself, not just its content.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3154680"/>
            <a:ext cx="4160520" cy="8686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186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Key Distinction (Cheddad et al., 2010)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456432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Cryptography: hides message content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Steganography: hides message existence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→ Combined = layered security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0" y="12344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Why LSB Method?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1554480"/>
            <a:ext cx="3886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554480"/>
            <a:ext cx="54864" cy="7315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64592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CA8"/>
                </a:solidFill>
              </a:rPr>
              <a:t>High Capacity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83480" y="190195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Embeds data in every pixel channel — no visible limit for text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46320" y="2359152"/>
            <a:ext cx="3886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359152"/>
            <a:ext cx="54864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45059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Imperceptibility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2706624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Bit change ≤ 1/255 intensity — below human visual threshold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46320" y="3163824"/>
            <a:ext cx="3886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3163824"/>
            <a:ext cx="54864" cy="7315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325526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CA8"/>
                </a:solidFill>
              </a:rPr>
              <a:t>Simplicity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3511296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Ideal as an educational foundation for steganography research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46320" y="3968496"/>
            <a:ext cx="3886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3968496"/>
            <a:ext cx="54864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405993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Python-Native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4315968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PIL/Pillow &amp; NumPy provide direct pixel-level access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11480" y="4800600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Speaker Notes: Emphasize that combining steganography + cryptography is the modern gold standard. LSB is chosen here for implementation clarity and educational depth.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Problem Statement &amp; Research Objectives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EC4B6"/>
                </a:solidFill>
              </a:rPr>
              <a:t>Three Core Research Questions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9144000" cy="5029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8321040" cy="10241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234440"/>
            <a:ext cx="640080" cy="102412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554480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RQ1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3000" y="1307592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CA8"/>
                </a:solidFill>
              </a:rPr>
              <a:t>Design &amp; Implementation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1581912"/>
            <a:ext cx="7406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How can an LSB steganography system be designed and built in Python (PIL/Pillow + NumPy) to hide UTF-8 text inside PNG images?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2404872"/>
            <a:ext cx="8321040" cy="10241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404872"/>
            <a:ext cx="640080" cy="10241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2724912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RQ2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43000" y="2478024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Capacity &amp; Quality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3000" y="2752344"/>
            <a:ext cx="7406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What is the maximum text capacity embeddable without visually detectable degradation, measured via PSNR and MSE?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3575304"/>
            <a:ext cx="8321040" cy="10241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3575304"/>
            <a:ext cx="640080" cy="102412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3895344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RQ3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43000" y="3648456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</a:rPr>
              <a:t>Robustness &amp; Steganalysis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3922776"/>
            <a:ext cx="7406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How robust is the system against JPEG compression, and can LSB histogram analysis reveal hidden messages?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4681728"/>
            <a:ext cx="832104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70001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General Objective: Implement and evaluate an LSB steganography system in Python using standardized quality metrics.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Literature Review — Steganography: Definition &amp; History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EC4B6"/>
                </a:solidFill>
              </a:rPr>
              <a:t>Cox et al. (2007); Wayner (2009); Gonzalez &amp; Woods (2018)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9144000" cy="5029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Definition (Cox et al., 2007)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Steganography (Greek: steganos = hidden, graphein = to write) is the science of concealing secret information within a carrier medium (cover object) such that its existence is imperceptible to unauthorized parties. A complete system involves three components: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2121408"/>
            <a:ext cx="2651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121408"/>
            <a:ext cx="54864" cy="65836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128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CA8"/>
                </a:solidFill>
              </a:rPr>
              <a:t>Cover Object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46888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Original carrier medium (e.g., PNG image)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46120" y="2121408"/>
            <a:ext cx="2651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2121408"/>
            <a:ext cx="54864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22128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Secret Message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246888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Information to be hidden (e.g., UTF-8 text)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80760" y="2121408"/>
            <a:ext cx="2651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2121408"/>
            <a:ext cx="54864" cy="6583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22128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</a:rPr>
              <a:t>Stego Object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246888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Cover + embedded message; visually identical to cover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" y="28803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Historical Context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11480" y="3246120"/>
            <a:ext cx="164592" cy="16459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3776" y="3410712"/>
            <a:ext cx="0" cy="137160"/>
          </a:xfrm>
          <a:prstGeom prst="line">
            <a:avLst/>
          </a:prstGeom>
          <a:noFill/>
          <a:ln w="12700">
            <a:solidFill>
              <a:srgbClr val="2EC4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" y="32186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Ancient Greece: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94560" y="321868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Messages tattooed on shaved slave heads, concealed by regrown hair (Herodotus)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3547872"/>
            <a:ext cx="164592" cy="16459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3776" y="3712464"/>
            <a:ext cx="0" cy="137160"/>
          </a:xfrm>
          <a:prstGeom prst="line">
            <a:avLst/>
          </a:prstGeom>
          <a:noFill/>
          <a:ln w="12700">
            <a:solidFill>
              <a:srgbClr val="2EC4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" y="35204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WWII Era: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194560" y="352044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Invisible ink and microdot techniques used for military intelligence (Wayner, 2009)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11480" y="3849624"/>
            <a:ext cx="164592" cy="16459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3776" y="4014216"/>
            <a:ext cx="0" cy="137160"/>
          </a:xfrm>
          <a:prstGeom prst="line">
            <a:avLst/>
          </a:prstGeom>
          <a:noFill/>
          <a:ln w="12700">
            <a:solidFill>
              <a:srgbClr val="2EC4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" y="38221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1990s Digital: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194560" y="382219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Spatial-domain embedding in digital images — foundation of modern steganography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11480" y="4151376"/>
            <a:ext cx="164592" cy="16459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3776" y="4315968"/>
            <a:ext cx="0" cy="137160"/>
          </a:xfrm>
          <a:prstGeom prst="line">
            <a:avLst/>
          </a:prstGeom>
          <a:noFill/>
          <a:ln w="12700">
            <a:solidFill>
              <a:srgbClr val="2EC4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" y="412394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1999 Marvel et al.: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194560" y="412394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Spread spectrum image steganography — robust against steganalysis attacks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11480" y="4453128"/>
            <a:ext cx="164592" cy="16459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7512" y="442569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2000s–Present: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194560" y="442569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DCT/DWT frequency-domain methods; deep-learning steganalysis (Pevny et al., 2010)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Survey — Spatial Domain: LSB Method in Depth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EC4B6"/>
                </a:solidFill>
              </a:rPr>
              <a:t>Hussain et al. (2018) · Fridrich et al. (2001) · Subhedar &amp; Mankar (2014)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9144000" cy="5029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How LSB Works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5361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Original pixel value: 200  →  11001000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801368"/>
            <a:ext cx="420624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5623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2185416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2^7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923544" y="1801368"/>
            <a:ext cx="420624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3544" y="185623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23544" y="2185416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2^6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435608" y="1801368"/>
            <a:ext cx="420624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35608" y="185623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35608" y="2185416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2^5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1947672" y="1801368"/>
            <a:ext cx="420624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47672" y="185623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947672" y="2185416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2^4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459736" y="1801368"/>
            <a:ext cx="420624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59736" y="185623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459736" y="2185416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2^3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971800" y="1801368"/>
            <a:ext cx="420624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71800" y="185623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0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971800" y="2185416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2^2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483864" y="1801368"/>
            <a:ext cx="420624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83864" y="185623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0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483864" y="2185416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2^1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995928" y="1801368"/>
            <a:ext cx="420624" cy="384048"/>
          </a:xfrm>
          <a:prstGeom prst="rect">
            <a:avLst/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95928" y="185623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0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95928" y="2185416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2^0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11480" y="24505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6CA8"/>
                </a:solidFill>
              </a:rPr>
              <a:t>← MSB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566160" y="245059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LSB →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11480" y="2697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After embedding message bit '1':  →  11001001  (value: 201)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11480" y="2962656"/>
            <a:ext cx="420624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3008376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1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923544" y="2962656"/>
            <a:ext cx="420624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3544" y="3008376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1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1435608" y="2962656"/>
            <a:ext cx="420624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435608" y="3008376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0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1947672" y="2962656"/>
            <a:ext cx="420624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47672" y="3008376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0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2459736" y="2962656"/>
            <a:ext cx="420624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59736" y="3008376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1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2971800" y="2962656"/>
            <a:ext cx="420624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71800" y="3008376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0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3483864" y="2962656"/>
            <a:ext cx="420624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83864" y="3008376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0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3995928" y="2962656"/>
            <a:ext cx="420624" cy="347472"/>
          </a:xfrm>
          <a:prstGeom prst="rect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995928" y="3008376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1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411480" y="33832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Change: 200 → 201  =  &lt; 0.4% intensity shift (below human visual threshold)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846320" y="12344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Key Findings from Prior Studies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4846320" y="1554480"/>
            <a:ext cx="388620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846320" y="1554480"/>
            <a:ext cx="54864" cy="10515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56048" y="16093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6CA8"/>
                </a:solidFill>
              </a:rPr>
              <a:t>Hussain et al. (2018)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4956048" y="18013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Comprehensive survey of 80+ spatial-domain techniques. 1-bit LSB achieves PSNR &gt; 51 dB — well above the 40 dB acceptability threshold.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956048" y="225856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</a:rPr>
              <a:t>✓ Excellent imperceptibility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748272" y="22585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</a:rPr>
              <a:t>✗ Vulnerable to RS steganalysis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846320" y="2697480"/>
            <a:ext cx="388620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846320" y="2697480"/>
            <a:ext cx="54864" cy="10515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956048" y="27523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6CA8"/>
                </a:solidFill>
              </a:rPr>
              <a:t>Fridrich et al. (2001)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4956048" y="29443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Developed RS (Regular-Singular) steganalysis — first statistical attack able to detect LSB embedding reliably even at low fill ratios.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956048" y="340156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</a:rPr>
              <a:t>✓ Foundational detection method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6748272" y="34015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</a:rPr>
              <a:t>✗ Motivates need for randomization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846320" y="3840480"/>
            <a:ext cx="388620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846320" y="3840480"/>
            <a:ext cx="54864" cy="10515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956048" y="38953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6CA8"/>
                </a:solidFill>
              </a:rPr>
              <a:t>Subhedar &amp; Mankar (2014)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4956048" y="40873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Survey confirms 1-bit LSB on RGB PNG is the highest-capacity spatial method. Embedding capacity = (W × H × 3) / 8 bytes.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956048" y="454456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</a:rPr>
              <a:t>✓ Best capacity-to-complexity ratio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6748272" y="45445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</a:rPr>
              <a:t>✗ JPEG compression destroys message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411480" y="4800600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Speaker Notes: Emphasize Hussain et al. as the authoritative survey paper. Mention that this research validates their findings via implementation.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Survey — Frequency Domain Methods: DCT &amp; DWT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EC4B6"/>
                </a:solidFill>
              </a:rPr>
              <a:t>Kaur &amp; Kumar (2020) · Marvel et al. (1999) · Pevny et al. (2010)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9144000" cy="5029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Why study frequency-domain methods?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To understand the trade-off space that motivates our choice of LSB for this research.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737360"/>
            <a:ext cx="4023360" cy="2560320"/>
          </a:xfrm>
          <a:prstGeom prst="rect">
            <a:avLst/>
          </a:prstGeom>
          <a:solidFill>
            <a:srgbClr val="EFF6FF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105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CA8"/>
                </a:solidFill>
              </a:rPr>
              <a:t>DCT — Discrete Cosine Transform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06654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(used in JPEG; frequency-domain method)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2286000"/>
            <a:ext cx="3749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How it works: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Transforms 8×8 pixel blocks to frequency coefficients. Secret bits are embedded in mid-frequency AC coefficients (Kaur &amp; Kumar, 2020).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Advantages: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Survives JPEG compression (same domain)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More resistant to visual and statistical attacks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Widely used in JPEG steganography tools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Disadvantages: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Lower embedding capacity vs. LSB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Higher computational complexity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Coefficient rounding causes message loss at high compression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1737360"/>
            <a:ext cx="4023360" cy="256032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8105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DWT — Discrete Wavelet Transform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06654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(frequency sub-band decomposition)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46320" y="2286000"/>
            <a:ext cx="3749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How it works: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Decomposes image into LL, LH, HL, HH sub-bands. Bits are embedded in high-frequency sub-bands where changes are less perceptible.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Advantages: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Excellent balance of capacity, quality, and robustness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Multi-resolution analysis allows selective embedding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More difficult to detect than LSB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Disadvantages: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Highest computational complexity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Implementation significantly more complex than LSB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Requires specialized library support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4370832"/>
            <a:ext cx="8321040" cy="384048"/>
          </a:xfrm>
          <a:prstGeom prst="rect">
            <a:avLst/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41655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Marvel et al. (1999) — Spread Spectrum: A hybrid approach embedding data across the entire frequency spectrum for maximum robustness, at cost of very low capacity and high complexity. Not suitable for text-heavy applications.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Method Comparison: LSB vs DCT vs DWT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EC4B6"/>
                </a:solidFill>
              </a:rPr>
              <a:t>Synthesized from Hussain et al. (2018); Kaur &amp; Kumar (2020)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9144000" cy="5029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8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173736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6187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Criterion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0" y="1234440"/>
            <a:ext cx="1554480" cy="411480"/>
          </a:xfrm>
          <a:prstGeom prst="rect">
            <a:avLst/>
          </a:prstGeom>
          <a:solidFill>
            <a:srgbClr val="1B6CA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7400" y="126187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LSB (Spatial)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66160" y="1234440"/>
            <a:ext cx="1554480" cy="411480"/>
          </a:xfrm>
          <a:prstGeom prst="rect">
            <a:avLst/>
          </a:prstGeom>
          <a:solidFill>
            <a:srgbClr val="0F766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126187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DCT (Frequency)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20640" y="1234440"/>
            <a:ext cx="155448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66360" y="126187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DWT (Frequency)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75120" y="1234440"/>
            <a:ext cx="155448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126187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Spread Spectrum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1664208"/>
            <a:ext cx="1737360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" y="169164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Embedding Domain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011680" y="1664208"/>
            <a:ext cx="1554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48256" y="169164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Spatial (pixels)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566160" y="1664208"/>
            <a:ext cx="1554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02736" y="169164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Frequency (8×8 blocks)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64208"/>
            <a:ext cx="1554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57216" y="169164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Frequency (sub-bands)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675120" y="1664208"/>
            <a:ext cx="1554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11696" y="169164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Full spectrum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1997964"/>
            <a:ext cx="1737360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0896" y="2025396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Embedding Capacity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011680" y="1997964"/>
            <a:ext cx="15544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48256" y="202539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B981"/>
                </a:solidFill>
              </a:rPr>
              <a:t>HIGH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566160" y="1997964"/>
            <a:ext cx="15544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202539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9E0B"/>
                </a:solidFill>
              </a:rPr>
              <a:t>MEDIUM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120640" y="1997964"/>
            <a:ext cx="15544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57216" y="202539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9E0B"/>
                </a:solidFill>
              </a:rPr>
              <a:t>MEDIUM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675120" y="1997964"/>
            <a:ext cx="15544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11696" y="202539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F4444"/>
                </a:solidFill>
              </a:rPr>
              <a:t>VERY LOW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2331720"/>
            <a:ext cx="1737360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0896" y="235915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Imperceptibility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011680" y="2331720"/>
            <a:ext cx="1554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48256" y="235915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HIGH (&gt;51 dB)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566160" y="2331720"/>
            <a:ext cx="1554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02736" y="235915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B981"/>
                </a:solidFill>
              </a:rPr>
              <a:t>HIGH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120640" y="2331720"/>
            <a:ext cx="1554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57216" y="235915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B981"/>
                </a:solidFill>
              </a:rPr>
              <a:t>HIGH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675120" y="2331720"/>
            <a:ext cx="1554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11696" y="235915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9E0B"/>
                </a:solidFill>
              </a:rPr>
              <a:t>MEDIUM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74320" y="2665476"/>
            <a:ext cx="1737360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0896" y="269290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Robustness vs JPEG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011680" y="2665476"/>
            <a:ext cx="15544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048256" y="269290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F4444"/>
                </a:solidFill>
              </a:rPr>
              <a:t>NONE (fails)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566160" y="2665476"/>
            <a:ext cx="15544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02736" y="269290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B981"/>
                </a:solidFill>
              </a:rPr>
              <a:t>HIGH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120640" y="2665476"/>
            <a:ext cx="15544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57216" y="269290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9E0B"/>
                </a:solidFill>
              </a:rPr>
              <a:t>MEDIUM–HIGH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675120" y="2665476"/>
            <a:ext cx="15544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11696" y="269290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B981"/>
                </a:solidFill>
              </a:rPr>
              <a:t>VERY HIGH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74320" y="2999232"/>
            <a:ext cx="1737360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10896" y="3026664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Steganalysis Resistance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011680" y="2999232"/>
            <a:ext cx="1554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048256" y="302666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F4444"/>
                </a:solidFill>
              </a:rPr>
              <a:t>LOW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566160" y="2999232"/>
            <a:ext cx="1554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602736" y="302666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9E0B"/>
                </a:solidFill>
              </a:rPr>
              <a:t>MEDIUM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5120640" y="2999232"/>
            <a:ext cx="1554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157216" y="302666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9E0B"/>
                </a:solidFill>
              </a:rPr>
              <a:t>MEDIUM–HIGH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675120" y="2999232"/>
            <a:ext cx="1554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711696" y="302666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B981"/>
                </a:solidFill>
              </a:rPr>
              <a:t>HIGH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274320" y="3332988"/>
            <a:ext cx="1737360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10896" y="33604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Computational Complexity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2011680" y="3332988"/>
            <a:ext cx="15544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048256" y="336042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F4444"/>
                </a:solidFill>
              </a:rPr>
              <a:t>VERY LOW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3566160" y="3332988"/>
            <a:ext cx="15544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602736" y="336042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9E0B"/>
                </a:solidFill>
              </a:rPr>
              <a:t>MEDIUM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5120640" y="3332988"/>
            <a:ext cx="15544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157216" y="336042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B981"/>
                </a:solidFill>
              </a:rPr>
              <a:t>HIGH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6675120" y="3332988"/>
            <a:ext cx="15544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711696" y="336042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B981"/>
                </a:solidFill>
              </a:rPr>
              <a:t>VERY HIGH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274320" y="3666744"/>
            <a:ext cx="1737360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10896" y="3694176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Implementation Difficulty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011680" y="3666744"/>
            <a:ext cx="1554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048256" y="369417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B981"/>
                </a:solidFill>
              </a:rPr>
              <a:t>EASY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3566160" y="3666744"/>
            <a:ext cx="1554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602736" y="369417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9E0B"/>
                </a:solidFill>
              </a:rPr>
              <a:t>MODERATE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5120640" y="3666744"/>
            <a:ext cx="1554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157216" y="369417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F4444"/>
                </a:solidFill>
              </a:rPr>
              <a:t>COMPLEX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6675120" y="3666744"/>
            <a:ext cx="1554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711696" y="369417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F4444"/>
                </a:solidFill>
              </a:rPr>
              <a:t>VERY COMPLEX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274320" y="4000500"/>
            <a:ext cx="1737360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10896" y="402793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Best Use Case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2011680" y="4000500"/>
            <a:ext cx="15544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048256" y="402793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Lossless PNG, text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3566160" y="4000500"/>
            <a:ext cx="15544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602736" y="402793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JPEG images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5120640" y="4000500"/>
            <a:ext cx="15544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157216" y="402793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Mixed-format images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6675120" y="4000500"/>
            <a:ext cx="15544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711696" y="402793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Military/critical sec.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274320" y="4334256"/>
            <a:ext cx="1737360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10896" y="436168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This Research Selects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2011680" y="4334256"/>
            <a:ext cx="1554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2048256" y="436168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✓ YES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3566160" y="4334256"/>
            <a:ext cx="1554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602736" y="436168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–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5120640" y="4334256"/>
            <a:ext cx="1554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157216" y="436168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–</a:t>
            </a:r>
            <a:endParaRPr lang="en-US" sz="950" dirty="0"/>
          </a:p>
        </p:txBody>
      </p:sp>
      <p:sp>
        <p:nvSpPr>
          <p:cNvPr id="105" name="Shape 103"/>
          <p:cNvSpPr/>
          <p:nvPr/>
        </p:nvSpPr>
        <p:spPr>
          <a:xfrm>
            <a:off x="6675120" y="4334256"/>
            <a:ext cx="1554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711696" y="436168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–</a:t>
            </a:r>
            <a:endParaRPr lang="en-US" sz="950" dirty="0"/>
          </a:p>
        </p:txBody>
      </p:sp>
      <p:sp>
        <p:nvSpPr>
          <p:cNvPr id="107" name="Text 105"/>
          <p:cNvSpPr/>
          <p:nvPr/>
        </p:nvSpPr>
        <p:spPr>
          <a:xfrm>
            <a:off x="274320" y="480060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D1B2A"/>
                </a:solidFill>
              </a:rPr>
              <a:t>Conclusion: LSB is selected for its unmatched embedding capacity, minimal implementation complexity, and high imperceptibility on PNG images — making it ideal for this study.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Image Format Analysis: PNG vs JPEG for LSB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EC4B6"/>
                </a:solidFill>
              </a:rPr>
              <a:t>Gonzalez &amp; Woods (2018) — Critical Design Decision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9144000" cy="5029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3931920" cy="329184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234440"/>
            <a:ext cx="393192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80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JPEG — NOT Suitable for LSB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719072"/>
            <a:ext cx="365760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Compression Type: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Lossy (DCT-based)
</a:t>
            </a:r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Why it fails LSB: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DCT quantization actively modifies pixel values during save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LSB bits are overwritten upon every JPEG save operation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Message is irrecoverably corrupted
</a:t>
            </a:r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Test result (Section 9.4):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At 75% JPEG quality → significant message degradation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At 50% quality → complete message loss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At 25% quality → total corruption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1234440"/>
            <a:ext cx="3931920" cy="329184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1234440"/>
            <a:ext cx="393192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280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PNG — Recommended for LSB 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1719072"/>
            <a:ext cx="365760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Compression Type: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Lossless (DEFLATE)
</a:t>
            </a:r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Why it works: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Pixel values are preserved exactly after save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LSB bits remain intact — message is fully recoverable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Supports full 24-bit (RGB) and 32-bit (RGBA) color
</a:t>
            </a:r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vs. BMP: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BMP is also lossless but produces very large files.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PNG compresses to ~30–70% of BMP size with identical pixel fidelity — ideal balance of size and integrity.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25112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</a:rPr>
              <a:t>vs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11480" y="4617720"/>
            <a:ext cx="832104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64515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Design Decision: All experiments use PNG exclusively. JPEG robustness test is included to empirically confirm and quantify message destruction.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Research Gap &amp; Motivation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EC4B6"/>
                </a:solidFill>
              </a:rPr>
              <a:t>What This Study Contributes Beyond Existing Literature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9144000" cy="5029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CA8"/>
                </a:solidFill>
              </a:rPr>
              <a:t>What existing studies do well...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572768"/>
            <a:ext cx="164592" cy="164592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55448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Theoretical analysis of LSB capacity and PSNR bounds (Hussain et al., 2018)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1956816"/>
            <a:ext cx="164592" cy="164592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93852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Steganalysis detection algorithms (Fridrich et al., 2001; Pevny et al., 2010)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340864"/>
            <a:ext cx="164592" cy="164592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32257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Comparative surveys of steganography families (Subhedar &amp; Mankar, 2014)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724912"/>
            <a:ext cx="164592" cy="164592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70662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Frequency-domain method development (Kaur &amp; Kumar, 2020)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63440" y="12344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What is lacking / under-explored...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1572768"/>
            <a:ext cx="164592" cy="1645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1554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End-to-end Python implementation with standardized quality evaluation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1956816"/>
            <a:ext cx="164592" cy="1645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19385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Combined PSNR + MSE analysis across multiple image sizes and message lengths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2340864"/>
            <a:ext cx="164592" cy="1645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3225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Quantitative steganalysis using LSB histogram distribution (before vs after)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2724912"/>
            <a:ext cx="164592" cy="1645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27066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Practical usage guidelines for developers (capacity-per-resolution tables)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3200400"/>
            <a:ext cx="8321040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" y="3200400"/>
            <a:ext cx="109728" cy="128016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327355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</a:rPr>
              <a:t>This Study's Contribution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1792" y="3566160"/>
            <a:ext cx="79552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This research implements a complete, evaluated, and documented LSB steganography system in Python, providing:
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(1)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Empirical PSNR/MSE data at multiple resolutions and message sizes 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(2)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Visual steganalysis via histogram analysis 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(3)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Quantified robustness against JPEG compression — bridging the gap between theory and reproducible implementation.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" y="4800600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Speaker Notes: This slide justifies the research. The gap is not that LSB hasn't been studied — it has — but that reproducible, multi-metric Python implementations are rarely published in detail.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Scope &amp; Limitations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EC4B6"/>
                </a:solidFill>
              </a:rPr>
              <a:t>Defining the Boundaries of This Research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9144000" cy="5029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What IS in scope: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536192"/>
            <a:ext cx="4069080" cy="420624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5727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✓ Image Format: 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645920" y="15727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PNG only (lossless — preserves pixel integrity)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011680"/>
            <a:ext cx="4069080" cy="420624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0482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✓ Message Type: 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645920" y="20482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UTF-8 encoded text (standard ASCII and Unicode)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487168"/>
            <a:ext cx="4069080" cy="420624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5237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✓ LSB Method: 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645920" y="25237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1-bit LSB on RGB channels (3 bits per pixel)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2962656"/>
            <a:ext cx="4069080" cy="420624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9992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✓ Language: 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645920" y="29992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Python 3.x with PIL/Pillow + NumPy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3438144"/>
            <a:ext cx="4069080" cy="420624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4747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✓ Evaluation: 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645920" y="34747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PSNR and MSE quality metrics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3913632"/>
            <a:ext cx="4069080" cy="420624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39502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✓ Steganalysis: 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645920" y="39502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LSB histogram distribution analysis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00600" y="12344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What is NOT in scope: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00600" y="1536192"/>
            <a:ext cx="3931920" cy="420624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15727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✗ Alpha Channel: 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080760" y="15727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Only RGB — alpha channel embedding excluded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00600" y="2011680"/>
            <a:ext cx="3931920" cy="420624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20482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✗ Binary Files: 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080760" y="204825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No image, audio, or binary file embedding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00600" y="2487168"/>
            <a:ext cx="3931920" cy="420624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25237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✗ Cryptography: 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080760" y="252374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No pre-encryption before embedding (steganography only)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00600" y="2962656"/>
            <a:ext cx="3931920" cy="420624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9472" y="29992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✗ SSIM Metric: 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080760" y="29992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Perceptual quality metric excluded; PSNR+MSE only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00600" y="3438144"/>
            <a:ext cx="3931920" cy="420624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9472" y="34747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✗ ML Steganalysis: 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080760" y="34747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No AI/ML-based detection frameworks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800600" y="3913632"/>
            <a:ext cx="3931920" cy="420624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19472" y="39502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✗ Grayscale Images: 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080760" y="39502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Scope limited to 24-bit RGB color images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System Design — Encoder Pipeline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EC4B6"/>
                </a:solidFill>
              </a:rPr>
              <a:t>Embedding Secret Text into PNG Cover Image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9144000" cy="5029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2926080" cy="475488"/>
          </a:xfrm>
          <a:prstGeom prst="rect">
            <a:avLst/>
          </a:prstGeom>
          <a:solidFill>
            <a:srgbClr val="000000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27101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6CA8"/>
                </a:solidFill>
              </a:rPr>
              <a:t>INPUT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12710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Cover Image (PNG)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+ Text Message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828800" y="1709928"/>
            <a:ext cx="0" cy="128016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82496" y="178308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▼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847088"/>
            <a:ext cx="2926080" cy="475488"/>
          </a:xfrm>
          <a:prstGeom prst="rect">
            <a:avLst/>
          </a:prstGeom>
          <a:solidFill>
            <a:srgbClr val="000000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88366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CONVERT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298448" y="18836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Message → UTF-8 binary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+ append delimiter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828800" y="2322576"/>
            <a:ext cx="0" cy="128016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82496" y="2395728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▼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459736"/>
            <a:ext cx="2926080" cy="475488"/>
          </a:xfrm>
          <a:prstGeom prst="rect">
            <a:avLst/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49631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ITERATE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298448" y="24963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Read pixels row-by-row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(R, G, B channels)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828800" y="2935224"/>
            <a:ext cx="0" cy="128016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82496" y="3008376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▼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072384"/>
            <a:ext cx="2926080" cy="475488"/>
          </a:xfrm>
          <a:prstGeom prst="rect">
            <a:avLst/>
          </a:prstGeom>
          <a:solidFill>
            <a:srgbClr val="000000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1089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EMBED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298448" y="31089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new_px = (px &amp; 0xFE) | bit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Replace LSB with message bit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828800" y="3547872"/>
            <a:ext cx="0" cy="128016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82496" y="3621024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▼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3685032"/>
            <a:ext cx="2926080" cy="475488"/>
          </a:xfrm>
          <a:prstGeom prst="rect">
            <a:avLst/>
          </a:prstGeom>
          <a:solidFill>
            <a:srgbClr val="000000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372160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6CA8"/>
                </a:solidFill>
              </a:rPr>
              <a:t>SAVE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298448" y="37216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Write stego-image as PNG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(lossless — pixel values intact)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828800" y="4160520"/>
            <a:ext cx="0" cy="128016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82496" y="423367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▼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4297680"/>
            <a:ext cx="2926080" cy="475488"/>
          </a:xfrm>
          <a:prstGeom prst="rect">
            <a:avLst/>
          </a:prstGeom>
          <a:solidFill>
            <a:srgbClr val="00000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433425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OUTPUT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298448" y="433425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Stego-Image (PNG)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visually identical to cover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749040" y="12344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Technical Detail: Bit Manipulation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749040" y="1536192"/>
            <a:ext cx="4937760" cy="1463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0" y="1600200"/>
            <a:ext cx="47548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Core LSB embed operation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new_value = (pixel_value &amp; 0xFE) | message_bit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0xFE = 11111110 (clears LSB)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message_bit is 0 or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Change ≤ 1 in range 0–255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Delimiter: 16 zero-bits = end-of-message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749040" y="309067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Capacity Formula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749040" y="3337560"/>
            <a:ext cx="4937760" cy="731520"/>
          </a:xfrm>
          <a:prstGeom prst="rect">
            <a:avLst/>
          </a:prstGeom>
          <a:solidFill>
            <a:srgbClr val="EFF6FF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86200" y="34015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6CA8"/>
                </a:solidFill>
              </a:rPr>
              <a:t>C = (W × H × 3) / 8  bytes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3886200" y="370332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Example: 800×600 image → 180,000 bytes ≈ 175 KB of text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749040" y="39776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Image Dimensions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559552" y="39776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Max Capacity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141464" y="397764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Approx.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749040" y="4224528"/>
            <a:ext cx="493776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94760" y="42519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512×512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559552" y="42519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98,304 bytes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141464" y="42519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~96 KB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749040" y="4480560"/>
            <a:ext cx="49377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94760" y="45079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1024×768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559552" y="450799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294,912 bytes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141464" y="450799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~288 KB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749040" y="4736592"/>
            <a:ext cx="493776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794760" y="476402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1920×1080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559552" y="476402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777,600 bytes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141464" y="476402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~759 KB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System Design — Decoder Pipeline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EC4B6"/>
                </a:solidFill>
              </a:rPr>
              <a:t>Extracting Hidden Messages from Stego-Images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9144000" cy="5029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27101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6CA8"/>
                </a:solidFill>
              </a:rPr>
              <a:t>INPUT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362456" y="127101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Stego-Image (PNG)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(must be lossless)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691640" y="17373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▼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1847088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188366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READ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362456" y="188366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Read pixels row-by-row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Same scan order as encoder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691640" y="235000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▼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2459736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249631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EXTRACT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362456" y="24963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bit = pixel_value &amp; 0x01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Extract LSB per R, G, B channel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691640" y="296265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▼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3072384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" y="31089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ASSEMBLE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362456" y="31089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Group 8 bits → 1 byte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Convert byte → ASCII/Unicode char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691640" y="357530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▼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3685032"/>
            <a:ext cx="3017520" cy="475488"/>
          </a:xfrm>
          <a:prstGeom prst="rect">
            <a:avLst/>
          </a:prstGeom>
          <a:solidFill>
            <a:srgbClr val="FEFCE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" y="372160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362456" y="37216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Delimiter detected?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(16 zero-bits = null char)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691640" y="4187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▼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4297680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" y="433425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OUTPUT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362456" y="433425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Return extracted text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(without delimiter)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520440" y="37947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D1B2A"/>
                </a:solidFill>
              </a:rPr>
              <a:t>NO → continue reading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840480" y="12344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Security Note: Why the Delimiter Matters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840480" y="15087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Without a delimiter, the decoder would read all pixels and return garbage bits beyond the actual message. The 16-bit null character (\x00) serves as a reliable end-of-message marker.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840480" y="2148840"/>
            <a:ext cx="484632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31920" y="21945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Core LSB extract operation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 = pixel_value &amp; 0x01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bits.append(bit)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len(bits) == 8: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= chr(int(''.join(map(str, bits)), 2))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char == '\x00': break  # delimiter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840480" y="30632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Module Architecture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840480" y="3383280"/>
            <a:ext cx="48463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840480" y="3383280"/>
            <a:ext cx="54864" cy="3200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77640" y="3474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CA8"/>
                </a:solidFill>
              </a:rPr>
              <a:t>encoder.py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977640" y="3730752"/>
            <a:ext cx="4663440" cy="-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Text → binary → pixel LSB replacement → PNG save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840480" y="3749040"/>
            <a:ext cx="48463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840480" y="3749040"/>
            <a:ext cx="54864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77640" y="38404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decoder.py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977640" y="4096512"/>
            <a:ext cx="4663440" cy="-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PNG read → LSB extract → binary → text reconstruction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840480" y="4114800"/>
            <a:ext cx="48463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840480" y="4114800"/>
            <a:ext cx="54864" cy="3200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77640" y="42062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CA8"/>
                </a:solidFill>
              </a:rPr>
              <a:t>metrics.py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977640" y="4462272"/>
            <a:ext cx="4663440" cy="-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PSNR and MSE computation using NumPy arrays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840480" y="4480560"/>
            <a:ext cx="48463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840480" y="4480560"/>
            <a:ext cx="54864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977640" y="45720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utils.py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977640" y="4828032"/>
            <a:ext cx="4663440" cy="-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Shared helpers: binary conversion, delimiter handling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3840480" y="4846320"/>
            <a:ext cx="4846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Note: PEP 8 coding standards applied throughout. Code organized for readability and academic replication.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Research Methodology &amp; Tools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EC4B6"/>
                </a:solidFill>
              </a:rPr>
              <a:t>Computational Experimental Research Approach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9144000" cy="5029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Research Stages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609344"/>
            <a:ext cx="292608" cy="292608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09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157276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Literature Review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178308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Survey steganography papers; identify metrics and benchmarks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57784" y="1901952"/>
            <a:ext cx="0" cy="219456"/>
          </a:xfrm>
          <a:prstGeom prst="line">
            <a:avLst/>
          </a:prstGeom>
          <a:noFill/>
          <a:ln w="12700">
            <a:solidFill>
              <a:srgbClr val="1B6CA8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11480" y="2157984"/>
            <a:ext cx="292608" cy="292608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157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212140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Encoder Design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233172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Algorithm design, delimiter strategy, bit-manipulation logic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57784" y="2450592"/>
            <a:ext cx="0" cy="219456"/>
          </a:xfrm>
          <a:prstGeom prst="line">
            <a:avLst/>
          </a:prstGeom>
          <a:noFill/>
          <a:ln w="12700">
            <a:solidFill>
              <a:srgbClr val="1B6CA8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411480" y="2706624"/>
            <a:ext cx="292608" cy="292608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706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267004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Decoder Design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77240" y="288036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Reverse-extraction pipeline, efficiency optimization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57784" y="2999232"/>
            <a:ext cx="0" cy="219456"/>
          </a:xfrm>
          <a:prstGeom prst="line">
            <a:avLst/>
          </a:prstGeom>
          <a:noFill/>
          <a:ln w="12700">
            <a:solidFill>
              <a:srgbClr val="1B6CA8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411480" y="3255264"/>
            <a:ext cx="292608" cy="292608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255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" y="321868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Implementation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77240" y="342900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Python 3.x code in 4 modules (encoder, decoder, metrics, utils)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57784" y="3547872"/>
            <a:ext cx="0" cy="219456"/>
          </a:xfrm>
          <a:prstGeom prst="line">
            <a:avLst/>
          </a:prstGeom>
          <a:noFill/>
          <a:ln w="12700">
            <a:solidFill>
              <a:srgbClr val="1B6CA8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411480" y="3803904"/>
            <a:ext cx="292608" cy="292608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803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7240" y="376732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Testing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77240" y="397764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PSNR/MSE evaluation, capacity analysis, histogram steganalysis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57784" y="4096512"/>
            <a:ext cx="0" cy="219456"/>
          </a:xfrm>
          <a:prstGeom prst="line">
            <a:avLst/>
          </a:prstGeom>
          <a:noFill/>
          <a:ln w="12700">
            <a:solidFill>
              <a:srgbClr val="1B6CA8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411480" y="4352544"/>
            <a:ext cx="292608" cy="292608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4352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77240" y="431596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Analysis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77240" y="452628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Compare results to published thresholds; draw conclusions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663440" y="12344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Software Stack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663440" y="1536192"/>
            <a:ext cx="411480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73168" y="15727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6CA8"/>
                </a:solidFill>
              </a:rPr>
              <a:t>Python 3.x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773168" y="17830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Primary language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858000" y="16550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Python Software Foundation (2024)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663440" y="2084832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73168" y="212140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6CA8"/>
                </a:solidFill>
              </a:rPr>
              <a:t>PIL / Pillow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773168" y="23317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Image I/O &amp; pixel access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858000" y="22037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Clark et al. (2024)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663440" y="2633472"/>
            <a:ext cx="411480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73168" y="26700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6CA8"/>
                </a:solidFill>
              </a:rPr>
              <a:t>NumPy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773168" y="28803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Array ops &amp; bit manipulation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858000" y="27523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NumPy Community (2024)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663440" y="3182112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73168" y="32186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6CA8"/>
                </a:solidFill>
              </a:rPr>
              <a:t>Matplotlib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773168" y="34290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LSB histogram visualization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858000" y="33009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Matplotlib Dev Team (2024)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663440" y="3730752"/>
            <a:ext cx="411480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73168" y="376732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6CA8"/>
                </a:solidFill>
              </a:rPr>
              <a:t>Jupyter / VS Code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4773168" y="39776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IDE &amp; notebooks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858000" y="38496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Interactive development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663440" y="4279392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73168" y="43159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6CA8"/>
                </a:solidFill>
              </a:rPr>
              <a:t>Git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4773168" y="45262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Version control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858000" y="43982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Full source code tracking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Testing &amp; Evaluation — Image Quality Metrics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EC4B6"/>
                </a:solidFill>
              </a:rPr>
              <a:t>PSNR and MSE as Primary Evaluation Instruments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9144000" cy="5029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4023360" cy="2103120"/>
          </a:xfrm>
          <a:prstGeom prst="rect">
            <a:avLst/>
          </a:prstGeom>
          <a:solidFill>
            <a:srgbClr val="F1F5F9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234440"/>
            <a:ext cx="4023360" cy="3657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61872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PSNR — Peak Signal-to-Noise Ratio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" y="1664208"/>
            <a:ext cx="37947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Formula: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PSNR = 10 × log₁₀(MAX² / MSE)
</a:t>
            </a:r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Unit: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Decibels (dB)
</a:t>
            </a:r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Threshold: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≥ 40 dB = visually acceptable
</a:t>
            </a:r>
            <a:pPr indent="0" marL="0">
              <a:buNone/>
            </a:pPr>
            <a:r>
              <a:rPr lang="en-US" sz="850" i="1" dirty="0">
                <a:solidFill>
                  <a:srgbClr val="1E293B"/>
                </a:solidFill>
              </a:rPr>
              <a:t>(Based on Hussain et al. 2018 consensus)
</a:t>
            </a:r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Interpretation: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Higher PSNR = better quality. 1-bit LSB typically achieves 50–55 dB.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234440"/>
            <a:ext cx="4023360" cy="2103120"/>
          </a:xfrm>
          <a:prstGeom prst="rect">
            <a:avLst/>
          </a:prstGeom>
          <a:solidFill>
            <a:srgbClr val="F1F5F9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234440"/>
            <a:ext cx="402336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261872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MSE — Mean Squared Error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28032" y="1664208"/>
            <a:ext cx="37947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Formula: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MSE = (1/M×N) × Σ(I(i,j) − K(i,j))²
</a:t>
            </a:r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Where: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I = cover image, K = stego-image
</a:t>
            </a:r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Threshold: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→ 0 = stego-image identical to cover
</a:t>
            </a:r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Relationship: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PSNR and MSE are inversely proportional — both are required for complete evaluation.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4290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Experimental Test Matrix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3721608"/>
            <a:ext cx="146304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" y="3739896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Image Size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874520" y="3721608"/>
            <a:ext cx="1371600" cy="274320"/>
          </a:xfrm>
          <a:prstGeom prst="rect">
            <a:avLst/>
          </a:prstGeom>
          <a:solidFill>
            <a:srgbClr val="1B6CA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11096" y="3739896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100 chars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46120" y="3721608"/>
            <a:ext cx="1371600" cy="274320"/>
          </a:xfrm>
          <a:prstGeom prst="rect">
            <a:avLst/>
          </a:prstGeom>
          <a:solidFill>
            <a:srgbClr val="1B6CA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82696" y="3739896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500 chars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17720" y="3721608"/>
            <a:ext cx="1371600" cy="274320"/>
          </a:xfrm>
          <a:prstGeom prst="rect">
            <a:avLst/>
          </a:prstGeom>
          <a:solidFill>
            <a:srgbClr val="1B6CA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54296" y="3739896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1,000 chars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989320" y="3721608"/>
            <a:ext cx="1371600" cy="274320"/>
          </a:xfrm>
          <a:prstGeom prst="rect">
            <a:avLst/>
          </a:prstGeom>
          <a:solidFill>
            <a:srgbClr val="1B6CA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25896" y="3739896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5,000 chars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360920" y="3721608"/>
            <a:ext cx="1371600" cy="274320"/>
          </a:xfrm>
          <a:prstGeom prst="rect">
            <a:avLst/>
          </a:prstGeom>
          <a:solidFill>
            <a:srgbClr val="1B6CA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97496" y="3739896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10,000 chars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11480" y="4023360"/>
            <a:ext cx="1463040" cy="228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056" y="4041648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512×512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874520" y="4023360"/>
            <a:ext cx="1371600" cy="228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11096" y="404164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</a:rPr>
              <a:t>~&gt;51dB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46120" y="4023360"/>
            <a:ext cx="1371600" cy="228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82696" y="404164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</a:rPr>
              <a:t>~&gt;51dB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17720" y="4023360"/>
            <a:ext cx="1371600" cy="228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54296" y="404164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</a:rPr>
              <a:t>~&gt;51dB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989320" y="4023360"/>
            <a:ext cx="1371600" cy="228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25896" y="404164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</a:rPr>
              <a:t>~&gt;48dB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360920" y="4023360"/>
            <a:ext cx="1371600" cy="228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97496" y="404164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</a:rPr>
              <a:t>~&gt;40dB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11480" y="4279392"/>
            <a:ext cx="146304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8056" y="4297680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1024×768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874520" y="4279392"/>
            <a:ext cx="13716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11096" y="4297680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</a:rPr>
              <a:t>~&gt;51dB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246120" y="4279392"/>
            <a:ext cx="13716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82696" y="4297680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</a:rPr>
              <a:t>~&gt;51dB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617720" y="4279392"/>
            <a:ext cx="13716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54296" y="4297680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</a:rPr>
              <a:t>~&gt;51dB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989320" y="4279392"/>
            <a:ext cx="13716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25896" y="4297680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</a:rPr>
              <a:t>~&gt;51dB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360920" y="4279392"/>
            <a:ext cx="13716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97496" y="4297680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</a:rPr>
              <a:t>~&gt;51dB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11480" y="4535424"/>
            <a:ext cx="1463040" cy="228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8056" y="455371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1920×1080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1874520" y="4535424"/>
            <a:ext cx="1371600" cy="228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911096" y="4553712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</a:rPr>
              <a:t>~&gt;51dB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246120" y="4535424"/>
            <a:ext cx="1371600" cy="228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82696" y="4553712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</a:rPr>
              <a:t>~&gt;51dB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617720" y="4535424"/>
            <a:ext cx="1371600" cy="228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54296" y="4553712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</a:rPr>
              <a:t>~&gt;51dB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989320" y="4535424"/>
            <a:ext cx="1371600" cy="228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025896" y="4553712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</a:rPr>
              <a:t>~&gt;51dB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7360920" y="4535424"/>
            <a:ext cx="1371600" cy="228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397496" y="4553712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</a:rPr>
              <a:t>~&gt;51dB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411480" y="4818888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Expected PSNR values based on theoretical LSB analysis (Hussain et al., 2018). Actual values to be measured empirically.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Steganalysis &amp; Robustness Testing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EC4B6"/>
                </a:solidFill>
              </a:rPr>
              <a:t>Can the Hidden Message Be Detected or Destroyed?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9144000" cy="5029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3931920" cy="2743200"/>
          </a:xfrm>
          <a:prstGeom prst="rect">
            <a:avLst/>
          </a:prstGeom>
          <a:solidFill>
            <a:srgbClr val="F1F5F9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984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CA8"/>
                </a:solidFill>
              </a:rPr>
              <a:t>Steganalysis: LSB Histogram Analysis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1572768"/>
            <a:ext cx="3703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Natural image LSBs: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roughly equal count of 0s and 1s (balanced distribution)
</a:t>
            </a:r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After LSB embedding: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distribution shifts, especially near 0/1 boundaries — detectable via chi-square analysis (Fridrich et al., 2001)
</a:t>
            </a:r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This study will:
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1. Plot LSB histogram before embedding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2. Plot LSB histogram after embedding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3. Compare distributions visually and statistically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4. Determine whether the embedding is detectable at various fill ratios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4069080" cy="274320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2984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Robustness: JPEG Compression Attack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73168" y="160020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Test protocol:
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Stego-image saved as JPEG at 4 quality levels
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2084832"/>
            <a:ext cx="4069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EC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214884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25% Quality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0" y="21488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</a:rPr>
              <a:t>Near-total pixel destruction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2468880"/>
            <a:ext cx="4069080" cy="347472"/>
          </a:xfrm>
          <a:prstGeom prst="rect">
            <a:avLst/>
          </a:prstGeom>
          <a:solidFill>
            <a:srgbClr val="FFF1F2"/>
          </a:solidFill>
          <a:ln w="12700">
            <a:solidFill>
              <a:srgbClr val="FEC5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25328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50% Quality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43600" y="25328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</a:rPr>
              <a:t>Complete message loss expected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2852928"/>
            <a:ext cx="4069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EC5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291693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75% Quality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943600" y="29169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Significant degradation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3236976"/>
            <a:ext cx="4069080" cy="347472"/>
          </a:xfrm>
          <a:prstGeom prst="rect">
            <a:avLst/>
          </a:prstGeom>
          <a:solidFill>
            <a:srgbClr val="FFF1F2"/>
          </a:solidFill>
          <a:ln w="12700">
            <a:solidFill>
              <a:srgbClr val="FEC5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330098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100% Quality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943600" y="330098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Partial loss (JPEG still lossy)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73168" y="36393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Hypothesis: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LSB is NOT robust against any level of JPEG compression. This test provides quantitative evidence, confirming the PNG-only constraint.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4041648"/>
            <a:ext cx="8321040" cy="658368"/>
          </a:xfrm>
          <a:prstGeom prst="rect">
            <a:avLst/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0965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Scope Note on Steganalysis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429768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This study uses visual histogram comparison only. Advanced statistical attacks (RS analysis by Fridrich et al., 2001; SRM by Pevny et al., 2010) are reviewed in the literature but not implemented — identified as future work.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Expected Results &amp; Contributions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EC4B6"/>
                </a:solidFill>
              </a:rPr>
              <a:t>Anticipated Findings Based on Literature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9144000" cy="5029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406908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234440"/>
            <a:ext cx="64008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30759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R1 — Functional Encoder/Decoder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563624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 working Python system that successfully embeds and recovers UTF-8 text in PNG images without data loss, demonstrated on test images of 3 resolutions.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46320" y="1234440"/>
            <a:ext cx="406908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234440"/>
            <a:ext cx="64008" cy="10058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30759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CA8"/>
                </a:solidFill>
              </a:rPr>
              <a:t>R2 — PSNR &gt; 40 dB at Low-Medium Fill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1563624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At fill ratios ≤ 50%, stego-images should achieve PSNR well above the 40 dB threshold, confirming imperceptibility for practical use cases.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2377440"/>
            <a:ext cx="406908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377440"/>
            <a:ext cx="64008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45059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R3 — LSB Histogram Shift Detected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2706624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Histogram analysis will show statistical changes at high fill ratios (&gt;75%), validating the basic chi-square steganalysis principle from Fridrich et al. (2001).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46320" y="2377440"/>
            <a:ext cx="406908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2377440"/>
            <a:ext cx="64008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245059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R4 — JPEG Destroys LSB at All Quality Levels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2706624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Even 100% JPEG quality will introduce pixel errors. This empirically confirms the PNG-only constraint for LSB steganography implementations.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3566160"/>
            <a:ext cx="8321040" cy="804672"/>
          </a:xfrm>
          <a:prstGeom prst="rect">
            <a:avLst/>
          </a:prstGeom>
          <a:solidFill>
            <a:srgbClr val="F1F5F9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3566160"/>
            <a:ext cx="64008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61188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R5 — Practical Capacity Guidelines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" y="38587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 reference table mapping image resolution → max recommended message length (to maintain PSNR &gt; 40 dB) will be produced as a practitioner guide.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4818888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Speaker Notes: Frame these as hypotheses grounded in existing literature, not guarantees. This demonstrates scientific rigor.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Expected Challenges &amp; Limitations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EC4B6"/>
                </a:solidFill>
              </a:rPr>
              <a:t>Honest Assessment of Research Boundaries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9144000" cy="5029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18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4023360" cy="1051560"/>
          </a:xfrm>
          <a:prstGeom prst="rect">
            <a:avLst/>
          </a:prstGeom>
          <a:solidFill>
            <a:srgbClr val="FEFCE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1920" y="1307592"/>
            <a:ext cx="438912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0" y="1307592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MEDIUM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48640" y="13258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Steganalysis Scope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161848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This study uses histogram visual analysis only. Statistical attacks (RS analysis, SRM) require deeper ML expertise and are left for future work.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00600" y="1234440"/>
            <a:ext cx="4023360" cy="1051560"/>
          </a:xfrm>
          <a:prstGeom prst="rect">
            <a:avLst/>
          </a:prstGeom>
          <a:solidFill>
            <a:srgbClr val="FEFCE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0" y="1307592"/>
            <a:ext cx="438912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307592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MEDIUM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937760" y="13258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No Encryption Layer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161848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LSB alone does not encrypt. If the stego-image is found, the message is readable. Future work should combine with AES encryption (not in scope here).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2468880"/>
            <a:ext cx="4023360" cy="105156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31920" y="2542032"/>
            <a:ext cx="438912" cy="228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0" y="2542032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HIGH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48640" y="25603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JPEG Vulnerability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285292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The fundamental weakness of spatial-domain LSB — any lossy format destroys the message. PNG is the hard constraint.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00600" y="2468880"/>
            <a:ext cx="4023360" cy="105156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21040" y="2542032"/>
            <a:ext cx="438912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2542032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LOW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937760" y="25603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Single-Bit Only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285292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2-bit or 3-bit LSB variants offer higher capacity but reduced imperceptibility. This research validates 1-bit only, which limits capacity comparison.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1480" y="3703320"/>
            <a:ext cx="4023360" cy="105156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931920" y="3776472"/>
            <a:ext cx="438912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31920" y="3776472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LOW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48640" y="37947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No Perceptual Metric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408736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SSIM (Structural Similarity Index) is excluded from scope. PSNR/MSE alone may not fully capture perceptual quality in all image types.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00600" y="3703320"/>
            <a:ext cx="4023360" cy="1051560"/>
          </a:xfrm>
          <a:prstGeom prst="rect">
            <a:avLst/>
          </a:prstGeom>
          <a:solidFill>
            <a:srgbClr val="FEFCE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21040" y="3776472"/>
            <a:ext cx="438912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21040" y="3776472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MEDIUM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937760" y="37947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Test Dataset Size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37760" y="408736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Experiments use a limited set of standard test images. Generalizability across all image types (medical, satellite, text-heavy) is not claimed.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Future Work &amp; Extensions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EC4B6"/>
                </a:solidFill>
              </a:rPr>
              <a:t>Building on This Research Foundation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9144000" cy="5029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2697480" cy="3520440"/>
          </a:xfrm>
          <a:prstGeom prst="rect">
            <a:avLst/>
          </a:prstGeom>
          <a:solidFill>
            <a:srgbClr val="F1F5F9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234440"/>
            <a:ext cx="2697480" cy="3840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6187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Near-Term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764792"/>
            <a:ext cx="182880" cy="18288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1719072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Add AES-256 encryption layer before LSB embedding (steganography + cryptography)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2752344"/>
            <a:ext cx="182880" cy="18288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706624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Implement 2-bit and 3-bit LSB variants — evaluate capacity/quality trade-offs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3739896"/>
            <a:ext cx="182880" cy="18288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3694176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Extend PSNR/MSE with SSIM metric for fuller perceptual evaluation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337560" y="1234440"/>
            <a:ext cx="2697480" cy="3520440"/>
          </a:xfrm>
          <a:prstGeom prst="rect">
            <a:avLst/>
          </a:prstGeom>
          <a:solidFill>
            <a:srgbClr val="F1F5F9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37560" y="1234440"/>
            <a:ext cx="269748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126187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Mid-Term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764792"/>
            <a:ext cx="182880" cy="18288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30752" y="1719072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Implement adaptive LSB (embed in edge pixels only) for improved steganalysis resistance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74720" y="2752344"/>
            <a:ext cx="182880" cy="18288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30752" y="2706624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Port to DCT-domain embedding for JPEG-compatible steganography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74720" y="3739896"/>
            <a:ext cx="182880" cy="18288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30752" y="3694176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Develop RS steganalysis detector (Fridrich et al., 2001) as a testing tool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63640" y="1234440"/>
            <a:ext cx="2697480" cy="3520440"/>
          </a:xfrm>
          <a:prstGeom prst="rect">
            <a:avLst/>
          </a:prstGeom>
          <a:solidFill>
            <a:srgbClr val="F1F5F9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63640" y="1234440"/>
            <a:ext cx="2697480" cy="38404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126187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Long-Term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0" y="1764792"/>
            <a:ext cx="182880" cy="18288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56832" y="1719072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Apply CNN-based steganalysis models (SRM, Pevny et al., 2010) for deep detection testing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400800" y="2752344"/>
            <a:ext cx="182880" cy="18288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56832" y="2706624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Extend to audio and video steganography using the same Python framework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400800" y="3739896"/>
            <a:ext cx="182880" cy="18288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56832" y="3694176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Publish as open-source academic steganography toolkit with full documentation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11480" y="4800600"/>
            <a:ext cx="832104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82803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Speaker Notes: Future work shows academic awareness and that you see this as a research program, not a one-off project.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" y="18288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91056" y="18288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49424" y="18288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07792" y="18288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66160" y="18288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24528" y="18288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82896" y="18288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41264" y="18288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99632" y="18288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18288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16368" y="18288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74736" y="18288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33104" y="18288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100584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2688" y="100584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91056" y="100584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49424" y="100584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07792" y="100584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66160" y="100584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24528" y="100584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82896" y="100584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41264" y="100584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99632" y="100584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0" y="100584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16368" y="100584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74736" y="100584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33104" y="100584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182880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32688" y="182880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591056" y="182880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49424" y="182880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07792" y="182880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66160" y="182880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24528" y="182880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82896" y="182880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541264" y="182880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99632" y="182880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58000" y="182880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516368" y="182880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74736" y="182880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833104" y="182880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" y="265176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32688" y="265176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591056" y="265176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249424" y="265176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907792" y="265176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566160" y="265176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224528" y="265176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82896" y="265176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541264" y="265176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199632" y="265176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858000" y="265176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516368" y="265176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174736" y="265176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833104" y="265176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347472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32688" y="347472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591056" y="347472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249424" y="347472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907792" y="347472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566160" y="347472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224528" y="347472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882896" y="347472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541264" y="347472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199632" y="347472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858000" y="347472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516368" y="347472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174736" y="347472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833104" y="347472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74320" y="429768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32688" y="429768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591056" y="429768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249424" y="429768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907792" y="429768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566160" y="429768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224528" y="429768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882896" y="429768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541264" y="429768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199632" y="429768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858000" y="429768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516368" y="429768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174736" y="429768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833104" y="4297680"/>
            <a:ext cx="54864" cy="54864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40080" y="777240"/>
            <a:ext cx="7863840" cy="3611880"/>
          </a:xfrm>
          <a:prstGeom prst="rect">
            <a:avLst/>
          </a:prstGeom>
          <a:solidFill>
            <a:srgbClr val="0F2840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40000"/>
              </a:srgbClr>
            </a:outerShdw>
          </a:effectLst>
        </p:spPr>
      </p:sp>
      <p:sp>
        <p:nvSpPr>
          <p:cNvPr id="87" name="Text 85"/>
          <p:cNvSpPr/>
          <p:nvPr/>
        </p:nvSpPr>
        <p:spPr>
          <a:xfrm>
            <a:off x="914400" y="96012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Thank You</a:t>
            </a:r>
            <a:endParaRPr lang="en-US" sz="4000" dirty="0"/>
          </a:p>
        </p:txBody>
      </p:sp>
      <p:sp>
        <p:nvSpPr>
          <p:cNvPr id="88" name="Shape 86"/>
          <p:cNvSpPr/>
          <p:nvPr/>
        </p:nvSpPr>
        <p:spPr>
          <a:xfrm>
            <a:off x="3200400" y="1737360"/>
            <a:ext cx="2743200" cy="457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914400" y="187452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EC4B6"/>
                </a:solidFill>
              </a:rPr>
              <a:t>Open for Questions &amp; Discussion</a:t>
            </a:r>
            <a:endParaRPr lang="en-US" sz="1600" dirty="0"/>
          </a:p>
        </p:txBody>
      </p:sp>
      <p:sp>
        <p:nvSpPr>
          <p:cNvPr id="90" name="Text 88"/>
          <p:cNvSpPr/>
          <p:nvPr/>
        </p:nvSpPr>
        <p:spPr>
          <a:xfrm>
            <a:off x="914400" y="233172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</a:rPr>
              <a:t>Research Summary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914400" y="26060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Implementation of Digital Image Steganography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Using the Least Significant Bit (LSB) Method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for Python-Based Secret Message Hiding</a:t>
            </a:r>
            <a:endParaRPr lang="en-US" sz="1300" dirty="0"/>
          </a:p>
        </p:txBody>
      </p:sp>
      <p:sp>
        <p:nvSpPr>
          <p:cNvPr id="92" name="Text 90"/>
          <p:cNvSpPr/>
          <p:nvPr/>
        </p:nvSpPr>
        <p:spPr>
          <a:xfrm>
            <a:off x="914400" y="3703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[Author Name]  ·  [Student ID]  ·  [Institution]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Key References: Hussain et al. (2018) · Fridrich et al. (2001) · Kaur &amp; Kumar (2020) · Gonzalez &amp; Woods (2018) · Cox et al. (2007) · Marvel et al. (1999)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Implementation of Digital Image Steganography Using LSB Method</dc:title>
  <dc:subject>PptxGenJS Presentation</dc:subject>
  <dc:creator>Research Proposal</dc:creator>
  <cp:lastModifiedBy>Research Proposal</cp:lastModifiedBy>
  <cp:revision>1</cp:revision>
  <dcterms:created xsi:type="dcterms:W3CDTF">2026-05-25T11:14:23Z</dcterms:created>
  <dcterms:modified xsi:type="dcterms:W3CDTF">2026-05-25T11:14:23Z</dcterms:modified>
</cp:coreProperties>
</file>